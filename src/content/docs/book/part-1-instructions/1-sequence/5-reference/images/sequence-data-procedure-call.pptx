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7556500" cy="50292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1" name="Shape 10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566976" y="824885"/>
            <a:ext cx="6425725" cy="1754777"/>
          </a:xfrm>
          <a:prstGeom prst="rect">
            <a:avLst/>
          </a:prstGeom>
        </p:spPr>
        <p:txBody>
          <a:bodyPr anchor="b"/>
          <a:lstStyle>
            <a:lvl1pPr algn="ctr">
              <a:defRPr sz="44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944959" y="2647331"/>
            <a:ext cx="5669757" cy="121691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700"/>
            </a:lvl1pPr>
            <a:lvl2pPr marL="0" indent="336041" algn="ctr">
              <a:buSzTx/>
              <a:buFontTx/>
              <a:buNone/>
              <a:defRPr sz="1700"/>
            </a:lvl2pPr>
            <a:lvl3pPr marL="0" indent="672083" algn="ctr">
              <a:buSzTx/>
              <a:buFontTx/>
              <a:buNone/>
              <a:defRPr sz="1700"/>
            </a:lvl3pPr>
            <a:lvl4pPr marL="0" indent="1008125" algn="ctr">
              <a:buSzTx/>
              <a:buFontTx/>
              <a:buNone/>
              <a:defRPr sz="1700"/>
            </a:lvl4pPr>
            <a:lvl5pPr marL="0" indent="1344167" algn="ctr">
              <a:buSzTx/>
              <a:buFontTx/>
              <a:buNone/>
              <a:defRPr sz="1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515790" y="1256579"/>
            <a:ext cx="6520221" cy="2096630"/>
          </a:xfrm>
          <a:prstGeom prst="rect">
            <a:avLst/>
          </a:prstGeom>
        </p:spPr>
        <p:txBody>
          <a:bodyPr anchor="b"/>
          <a:lstStyle>
            <a:lvl1pPr>
              <a:defRPr sz="44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515790" y="3373044"/>
            <a:ext cx="6520221" cy="110256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700"/>
            </a:lvl1pPr>
            <a:lvl2pPr marL="0" indent="336041">
              <a:buSzTx/>
              <a:buFontTx/>
              <a:buNone/>
              <a:defRPr sz="1700"/>
            </a:lvl2pPr>
            <a:lvl3pPr marL="0" indent="672083">
              <a:buSzTx/>
              <a:buFontTx/>
              <a:buNone/>
              <a:defRPr sz="1700"/>
            </a:lvl3pPr>
            <a:lvl4pPr marL="0" indent="1008125">
              <a:buSzTx/>
              <a:buFontTx/>
              <a:buNone/>
              <a:defRPr sz="1700"/>
            </a:lvl4pPr>
            <a:lvl5pPr marL="0" indent="1344167">
              <a:buSzTx/>
              <a:buFontTx/>
              <a:buNone/>
              <a:defRPr sz="1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519728" y="1341749"/>
            <a:ext cx="3212863" cy="319803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520712" y="268350"/>
            <a:ext cx="6520220" cy="97423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520712" y="1235577"/>
            <a:ext cx="3198098" cy="605538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1700"/>
            </a:lvl1pPr>
            <a:lvl2pPr marL="0" indent="336041">
              <a:buSzTx/>
              <a:buFontTx/>
              <a:buNone/>
              <a:defRPr b="1" sz="1700"/>
            </a:lvl2pPr>
            <a:lvl3pPr marL="0" indent="672083">
              <a:buSzTx/>
              <a:buFontTx/>
              <a:buNone/>
              <a:defRPr b="1" sz="1700"/>
            </a:lvl3pPr>
            <a:lvl4pPr marL="0" indent="1008125">
              <a:buSzTx/>
              <a:buFontTx/>
              <a:buNone/>
              <a:defRPr b="1" sz="1700"/>
            </a:lvl4pPr>
            <a:lvl5pPr marL="0" indent="1344167">
              <a:buSzTx/>
              <a:buFontTx/>
              <a:buNone/>
              <a:defRPr b="1" sz="1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3827086" y="1235577"/>
            <a:ext cx="3213848" cy="605538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17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520712" y="336021"/>
            <a:ext cx="2438193" cy="1176073"/>
          </a:xfrm>
          <a:prstGeom prst="rect">
            <a:avLst/>
          </a:prstGeom>
        </p:spPr>
        <p:txBody>
          <a:bodyPr anchor="b"/>
          <a:lstStyle>
            <a:lvl1pPr>
              <a:defRPr sz="23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213847" y="725713"/>
            <a:ext cx="3827086" cy="3581890"/>
          </a:xfrm>
          <a:prstGeom prst="rect">
            <a:avLst/>
          </a:prstGeom>
        </p:spPr>
        <p:txBody>
          <a:bodyPr/>
          <a:lstStyle>
            <a:lvl1pPr>
              <a:defRPr sz="2300"/>
            </a:lvl1pPr>
            <a:lvl2pPr marL="529266" indent="-193224">
              <a:defRPr sz="2300"/>
            </a:lvl2pPr>
            <a:lvl3pPr marL="899406" indent="-227322">
              <a:defRPr sz="2300"/>
            </a:lvl3pPr>
            <a:lvl4pPr marL="1284160" indent="-276034">
              <a:defRPr sz="2300"/>
            </a:lvl4pPr>
            <a:lvl5pPr marL="1620202" indent="-276034">
              <a:defRPr sz="23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520711" y="1512094"/>
            <a:ext cx="2438194" cy="280134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1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520712" y="336021"/>
            <a:ext cx="2438193" cy="1176073"/>
          </a:xfrm>
          <a:prstGeom prst="rect">
            <a:avLst/>
          </a:prstGeom>
        </p:spPr>
        <p:txBody>
          <a:bodyPr anchor="b"/>
          <a:lstStyle>
            <a:lvl1pPr>
              <a:defRPr sz="23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3213847" y="725713"/>
            <a:ext cx="3827086" cy="358189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520712" y="1512094"/>
            <a:ext cx="2438193" cy="2801342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100"/>
            </a:lvl1pPr>
            <a:lvl2pPr marL="0" indent="336041">
              <a:buSzTx/>
              <a:buFontTx/>
              <a:buNone/>
              <a:defRPr sz="1100"/>
            </a:lvl2pPr>
            <a:lvl3pPr marL="0" indent="672083">
              <a:buSzTx/>
              <a:buFontTx/>
              <a:buNone/>
              <a:defRPr sz="1100"/>
            </a:lvl3pPr>
            <a:lvl4pPr marL="0" indent="1008125">
              <a:buSzTx/>
              <a:buFontTx/>
              <a:buNone/>
              <a:defRPr sz="1100"/>
            </a:lvl4pPr>
            <a:lvl5pPr marL="0" indent="1344167">
              <a:buSzTx/>
              <a:buFontTx/>
              <a:buNone/>
              <a:defRPr sz="1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 Text"/>
          <p:cNvSpPr txBox="1"/>
          <p:nvPr>
            <p:ph type="title"/>
          </p:nvPr>
        </p:nvSpPr>
        <p:spPr>
          <a:xfrm>
            <a:off x="1064175" y="1086502"/>
            <a:ext cx="5430834" cy="1483086"/>
          </a:xfrm>
          <a:prstGeom prst="rect">
            <a:avLst/>
          </a:prstGeom>
        </p:spPr>
        <p:txBody>
          <a:bodyPr lIns="38641" tIns="38641" rIns="38641" bIns="38641" anchor="b"/>
          <a:lstStyle>
            <a:lvl1pPr algn="ctr">
              <a:defRPr sz="4200"/>
            </a:lvl1pPr>
          </a:lstStyle>
          <a:p>
            <a:pPr/>
            <a:r>
              <a:t>Title Text</a:t>
            </a:r>
          </a:p>
        </p:txBody>
      </p:sp>
      <p:sp>
        <p:nvSpPr>
          <p:cNvPr id="93" name="Body Level One…"/>
          <p:cNvSpPr txBox="1"/>
          <p:nvPr>
            <p:ph type="body" sz="quarter" idx="1"/>
          </p:nvPr>
        </p:nvSpPr>
        <p:spPr>
          <a:xfrm>
            <a:off x="1383636" y="2626780"/>
            <a:ext cx="4791912" cy="1028496"/>
          </a:xfrm>
          <a:prstGeom prst="rect">
            <a:avLst/>
          </a:prstGeom>
        </p:spPr>
        <p:txBody>
          <a:bodyPr lIns="38641" tIns="38641" rIns="38641" bIns="38641"/>
          <a:lstStyle>
            <a:lvl1pPr marL="0" indent="0" algn="ctr">
              <a:buSzTx/>
              <a:buFontTx/>
              <a:buNone/>
              <a:defRPr sz="1600"/>
            </a:lvl1pPr>
            <a:lvl2pPr marL="0" indent="336041" algn="ctr">
              <a:buSzTx/>
              <a:buFontTx/>
              <a:buNone/>
              <a:defRPr sz="1600"/>
            </a:lvl2pPr>
            <a:lvl3pPr marL="0" indent="672083" algn="ctr">
              <a:buSzTx/>
              <a:buFontTx/>
              <a:buNone/>
              <a:defRPr sz="1600"/>
            </a:lvl3pPr>
            <a:lvl4pPr marL="0" indent="1008125" algn="ctr">
              <a:buSzTx/>
              <a:buFontTx/>
              <a:buNone/>
              <a:defRPr sz="1600"/>
            </a:lvl4pPr>
            <a:lvl5pPr marL="0" indent="1344167" algn="ctr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xfrm>
            <a:off x="6354842" y="4365073"/>
            <a:ext cx="180099" cy="171963"/>
          </a:xfrm>
          <a:prstGeom prst="rect">
            <a:avLst/>
          </a:prstGeom>
        </p:spPr>
        <p:txBody>
          <a:bodyPr lIns="38641" tIns="38641" rIns="38641" bIns="38641"/>
          <a:lstStyle>
            <a:lvl1pPr>
              <a:defRPr sz="7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519728" y="268350"/>
            <a:ext cx="6520220" cy="974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519728" y="1341749"/>
            <a:ext cx="6520220" cy="3198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832817" y="4707791"/>
            <a:ext cx="207131" cy="19601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8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 xmlns:p14="http://schemas.microsoft.com/office/powerpoint/2010/main" spd="med" advClick="1"/>
  <p:txStyles>
    <p:titleStyle>
      <a:lvl1pPr marL="0" marR="0" indent="0" algn="l" defTabSz="67208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67208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67208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67208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67208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67208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67208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67208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67208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168020" marR="0" indent="-168020" algn="l" defTabSz="672083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533713" marR="0" indent="-197671" algn="l" defTabSz="672083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912113" marR="0" indent="-240029" algn="l" defTabSz="672083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266619" marR="0" indent="-258493" algn="l" defTabSz="672083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1602661" marR="0" indent="-258493" algn="l" defTabSz="672083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1938703" marR="0" indent="-258493" algn="l" defTabSz="672083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2274745" marR="0" indent="-258493" algn="l" defTabSz="672083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2610787" marR="0" indent="-258493" algn="l" defTabSz="672083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2946829" marR="0" indent="-258493" algn="l" defTabSz="672083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roup"/>
          <p:cNvGrpSpPr/>
          <p:nvPr/>
        </p:nvGrpSpPr>
        <p:grpSpPr>
          <a:xfrm>
            <a:off x="247760" y="196442"/>
            <a:ext cx="7060981" cy="4636316"/>
            <a:chOff x="0" y="0"/>
            <a:chExt cx="7060979" cy="4636315"/>
          </a:xfrm>
        </p:grpSpPr>
        <p:grpSp>
          <p:nvGrpSpPr>
            <p:cNvPr id="119" name="Group 11"/>
            <p:cNvGrpSpPr/>
            <p:nvPr/>
          </p:nvGrpSpPr>
          <p:grpSpPr>
            <a:xfrm>
              <a:off x="0" y="-1"/>
              <a:ext cx="7060980" cy="4636317"/>
              <a:chOff x="0" y="0"/>
              <a:chExt cx="7060979" cy="4636315"/>
            </a:xfrm>
          </p:grpSpPr>
          <p:grpSp>
            <p:nvGrpSpPr>
              <p:cNvPr id="105" name="Group 36"/>
              <p:cNvGrpSpPr/>
              <p:nvPr/>
            </p:nvGrpSpPr>
            <p:grpSpPr>
              <a:xfrm>
                <a:off x="140071" y="3804714"/>
                <a:ext cx="550794" cy="781276"/>
                <a:chOff x="0" y="0"/>
                <a:chExt cx="550793" cy="781275"/>
              </a:xfrm>
            </p:grpSpPr>
            <p:pic>
              <p:nvPicPr>
                <p:cNvPr id="103" name="Picture 12" descr="Picture 12"/>
                <p:cNvPicPr>
                  <a:picLocks noChangeAspect="1"/>
                </p:cNvPicPr>
                <p:nvPr/>
              </p:nvPicPr>
              <p:blipFill>
                <a:blip r:embed="rId3">
                  <a:extLst/>
                </a:blip>
                <a:stretch>
                  <a:fillRect/>
                </a:stretch>
              </p:blipFill>
              <p:spPr>
                <a:xfrm>
                  <a:off x="0" y="0"/>
                  <a:ext cx="550794" cy="505961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104" name="TextBox 17"/>
                <p:cNvSpPr txBox="1"/>
                <p:nvPr/>
              </p:nvSpPr>
              <p:spPr>
                <a:xfrm>
                  <a:off x="33408" y="451902"/>
                  <a:ext cx="489129" cy="32937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641" tIns="38641" rIns="38641" bIns="38641" numCol="1" anchor="t">
                  <a:noAutofit/>
                </a:bodyPr>
                <a:lstStyle>
                  <a:lvl1pPr>
                    <a:defRPr sz="1600">
                      <a:latin typeface="Gaegu Regular"/>
                      <a:ea typeface="Gaegu Regular"/>
                      <a:cs typeface="Gaegu Regular"/>
                      <a:sym typeface="Gaegu Regular"/>
                    </a:defRPr>
                  </a:lvl1pPr>
                </a:lstStyle>
                <a:p>
                  <a:pPr/>
                  <a:r>
                    <a:t>CPU</a:t>
                  </a:r>
                </a:p>
              </p:txBody>
            </p:sp>
          </p:grpSp>
          <p:grpSp>
            <p:nvGrpSpPr>
              <p:cNvPr id="108" name="Group 51"/>
              <p:cNvGrpSpPr/>
              <p:nvPr/>
            </p:nvGrpSpPr>
            <p:grpSpPr>
              <a:xfrm>
                <a:off x="0" y="339003"/>
                <a:ext cx="7060980" cy="2623780"/>
                <a:chOff x="0" y="0"/>
                <a:chExt cx="7060979" cy="2623778"/>
              </a:xfrm>
            </p:grpSpPr>
            <p:sp>
              <p:nvSpPr>
                <p:cNvPr id="106" name="Straight Connector 4"/>
                <p:cNvSpPr/>
                <p:nvPr/>
              </p:nvSpPr>
              <p:spPr>
                <a:xfrm flipH="1">
                  <a:off x="1971848" y="34746"/>
                  <a:ext cx="1" cy="2582935"/>
                </a:xfrm>
                <a:prstGeom prst="line">
                  <a:avLst/>
                </a:prstGeom>
                <a:noFill/>
                <a:ln w="3175" cap="flat">
                  <a:solidFill>
                    <a:srgbClr val="808080"/>
                  </a:solidFill>
                  <a:prstDash val="dashDot"/>
                  <a:miter lim="800000"/>
                </a:ln>
                <a:effectLst/>
              </p:spPr>
              <p:txBody>
                <a:bodyPr wrap="square" lIns="38641" tIns="38641" rIns="38641" bIns="38641" numCol="1" anchor="t">
                  <a:noAutofit/>
                </a:bodyPr>
                <a:lstStyle/>
                <a:p>
                  <a:pPr>
                    <a:defRPr sz="1600"/>
                  </a:pPr>
                </a:p>
              </p:txBody>
            </p:sp>
            <p:sp>
              <p:nvSpPr>
                <p:cNvPr id="107" name="Rectangle 20"/>
                <p:cNvSpPr/>
                <p:nvPr/>
              </p:nvSpPr>
              <p:spPr>
                <a:xfrm>
                  <a:off x="0" y="0"/>
                  <a:ext cx="7060981" cy="262377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88" h="21487" fill="norm" stroke="1" extrusionOk="0">
                      <a:moveTo>
                        <a:pt x="53" y="31"/>
                      </a:moveTo>
                      <a:cubicBezTo>
                        <a:pt x="688" y="97"/>
                        <a:pt x="1302" y="95"/>
                        <a:pt x="1784" y="31"/>
                      </a:cubicBezTo>
                      <a:cubicBezTo>
                        <a:pt x="2266" y="-34"/>
                        <a:pt x="2447" y="33"/>
                        <a:pt x="3086" y="31"/>
                      </a:cubicBezTo>
                      <a:cubicBezTo>
                        <a:pt x="3726" y="29"/>
                        <a:pt x="4933" y="61"/>
                        <a:pt x="5458" y="31"/>
                      </a:cubicBezTo>
                      <a:cubicBezTo>
                        <a:pt x="5984" y="0"/>
                        <a:pt x="6833" y="45"/>
                        <a:pt x="7189" y="31"/>
                      </a:cubicBezTo>
                      <a:cubicBezTo>
                        <a:pt x="7544" y="16"/>
                        <a:pt x="8314" y="-30"/>
                        <a:pt x="8919" y="31"/>
                      </a:cubicBezTo>
                      <a:cubicBezTo>
                        <a:pt x="9524" y="92"/>
                        <a:pt x="10434" y="-58"/>
                        <a:pt x="11291" y="31"/>
                      </a:cubicBezTo>
                      <a:cubicBezTo>
                        <a:pt x="12149" y="119"/>
                        <a:pt x="12221" y="35"/>
                        <a:pt x="12808" y="31"/>
                      </a:cubicBezTo>
                      <a:cubicBezTo>
                        <a:pt x="13394" y="26"/>
                        <a:pt x="14112" y="71"/>
                        <a:pt x="15180" y="31"/>
                      </a:cubicBezTo>
                      <a:cubicBezTo>
                        <a:pt x="16248" y="-10"/>
                        <a:pt x="16841" y="20"/>
                        <a:pt x="17552" y="31"/>
                      </a:cubicBezTo>
                      <a:cubicBezTo>
                        <a:pt x="18263" y="41"/>
                        <a:pt x="19031" y="-24"/>
                        <a:pt x="19496" y="31"/>
                      </a:cubicBezTo>
                      <a:cubicBezTo>
                        <a:pt x="19962" y="85"/>
                        <a:pt x="20676" y="92"/>
                        <a:pt x="21440" y="31"/>
                      </a:cubicBezTo>
                      <a:cubicBezTo>
                        <a:pt x="21458" y="623"/>
                        <a:pt x="21354" y="1055"/>
                        <a:pt x="21440" y="1763"/>
                      </a:cubicBezTo>
                      <a:cubicBezTo>
                        <a:pt x="21527" y="2471"/>
                        <a:pt x="21434" y="2599"/>
                        <a:pt x="21440" y="3067"/>
                      </a:cubicBezTo>
                      <a:cubicBezTo>
                        <a:pt x="21447" y="3535"/>
                        <a:pt x="21411" y="4258"/>
                        <a:pt x="21440" y="5013"/>
                      </a:cubicBezTo>
                      <a:cubicBezTo>
                        <a:pt x="21470" y="5767"/>
                        <a:pt x="21385" y="6136"/>
                        <a:pt x="21440" y="6959"/>
                      </a:cubicBezTo>
                      <a:cubicBezTo>
                        <a:pt x="21496" y="7782"/>
                        <a:pt x="21469" y="8275"/>
                        <a:pt x="21440" y="8905"/>
                      </a:cubicBezTo>
                      <a:cubicBezTo>
                        <a:pt x="21412" y="9535"/>
                        <a:pt x="21397" y="10422"/>
                        <a:pt x="21440" y="11065"/>
                      </a:cubicBezTo>
                      <a:cubicBezTo>
                        <a:pt x="21484" y="11708"/>
                        <a:pt x="21503" y="12309"/>
                        <a:pt x="21440" y="13225"/>
                      </a:cubicBezTo>
                      <a:cubicBezTo>
                        <a:pt x="21378" y="14141"/>
                        <a:pt x="21334" y="14310"/>
                        <a:pt x="21440" y="15385"/>
                      </a:cubicBezTo>
                      <a:cubicBezTo>
                        <a:pt x="21547" y="16460"/>
                        <a:pt x="21441" y="16261"/>
                        <a:pt x="21440" y="16689"/>
                      </a:cubicBezTo>
                      <a:cubicBezTo>
                        <a:pt x="21440" y="17117"/>
                        <a:pt x="21399" y="17724"/>
                        <a:pt x="21440" y="18207"/>
                      </a:cubicBezTo>
                      <a:cubicBezTo>
                        <a:pt x="21482" y="18689"/>
                        <a:pt x="21521" y="19893"/>
                        <a:pt x="21440" y="21437"/>
                      </a:cubicBezTo>
                      <a:cubicBezTo>
                        <a:pt x="21059" y="21419"/>
                        <a:pt x="20529" y="21383"/>
                        <a:pt x="19710" y="21437"/>
                      </a:cubicBezTo>
                      <a:cubicBezTo>
                        <a:pt x="18891" y="21492"/>
                        <a:pt x="18254" y="21487"/>
                        <a:pt x="17766" y="21437"/>
                      </a:cubicBezTo>
                      <a:cubicBezTo>
                        <a:pt x="17277" y="21387"/>
                        <a:pt x="16821" y="21499"/>
                        <a:pt x="16463" y="21437"/>
                      </a:cubicBezTo>
                      <a:cubicBezTo>
                        <a:pt x="16105" y="21376"/>
                        <a:pt x="15599" y="21441"/>
                        <a:pt x="15160" y="21437"/>
                      </a:cubicBezTo>
                      <a:cubicBezTo>
                        <a:pt x="14722" y="21434"/>
                        <a:pt x="14040" y="21430"/>
                        <a:pt x="13216" y="21437"/>
                      </a:cubicBezTo>
                      <a:cubicBezTo>
                        <a:pt x="12392" y="21444"/>
                        <a:pt x="12035" y="21479"/>
                        <a:pt x="11700" y="21437"/>
                      </a:cubicBezTo>
                      <a:cubicBezTo>
                        <a:pt x="11364" y="21396"/>
                        <a:pt x="10480" y="21450"/>
                        <a:pt x="9541" y="21437"/>
                      </a:cubicBezTo>
                      <a:cubicBezTo>
                        <a:pt x="8602" y="21425"/>
                        <a:pt x="8447" y="21422"/>
                        <a:pt x="8025" y="21437"/>
                      </a:cubicBezTo>
                      <a:cubicBezTo>
                        <a:pt x="7602" y="21453"/>
                        <a:pt x="6619" y="21333"/>
                        <a:pt x="5867" y="21437"/>
                      </a:cubicBezTo>
                      <a:cubicBezTo>
                        <a:pt x="5115" y="21542"/>
                        <a:pt x="5089" y="21452"/>
                        <a:pt x="4564" y="21437"/>
                      </a:cubicBezTo>
                      <a:cubicBezTo>
                        <a:pt x="4039" y="21423"/>
                        <a:pt x="2859" y="21541"/>
                        <a:pt x="2406" y="21437"/>
                      </a:cubicBezTo>
                      <a:cubicBezTo>
                        <a:pt x="1953" y="21334"/>
                        <a:pt x="604" y="21432"/>
                        <a:pt x="53" y="21437"/>
                      </a:cubicBezTo>
                      <a:cubicBezTo>
                        <a:pt x="106" y="20923"/>
                        <a:pt x="112" y="20560"/>
                        <a:pt x="53" y="20134"/>
                      </a:cubicBezTo>
                      <a:cubicBezTo>
                        <a:pt x="-5" y="19707"/>
                        <a:pt x="-30" y="19043"/>
                        <a:pt x="53" y="18402"/>
                      </a:cubicBezTo>
                      <a:cubicBezTo>
                        <a:pt x="136" y="17760"/>
                        <a:pt x="157" y="16858"/>
                        <a:pt x="53" y="16027"/>
                      </a:cubicBezTo>
                      <a:cubicBezTo>
                        <a:pt x="-51" y="15196"/>
                        <a:pt x="121" y="15079"/>
                        <a:pt x="53" y="14509"/>
                      </a:cubicBezTo>
                      <a:cubicBezTo>
                        <a:pt x="-14" y="13940"/>
                        <a:pt x="25" y="13783"/>
                        <a:pt x="53" y="13206"/>
                      </a:cubicBezTo>
                      <a:cubicBezTo>
                        <a:pt x="81" y="12628"/>
                        <a:pt x="90" y="12222"/>
                        <a:pt x="53" y="11902"/>
                      </a:cubicBezTo>
                      <a:cubicBezTo>
                        <a:pt x="17" y="11581"/>
                        <a:pt x="47" y="10240"/>
                        <a:pt x="53" y="9742"/>
                      </a:cubicBezTo>
                      <a:cubicBezTo>
                        <a:pt x="60" y="9243"/>
                        <a:pt x="36" y="8963"/>
                        <a:pt x="53" y="8438"/>
                      </a:cubicBezTo>
                      <a:cubicBezTo>
                        <a:pt x="70" y="7912"/>
                        <a:pt x="-34" y="6906"/>
                        <a:pt x="53" y="6492"/>
                      </a:cubicBezTo>
                      <a:cubicBezTo>
                        <a:pt x="140" y="6077"/>
                        <a:pt x="46" y="5326"/>
                        <a:pt x="53" y="4974"/>
                      </a:cubicBezTo>
                      <a:cubicBezTo>
                        <a:pt x="61" y="4621"/>
                        <a:pt x="38" y="3703"/>
                        <a:pt x="53" y="3028"/>
                      </a:cubicBezTo>
                      <a:cubicBezTo>
                        <a:pt x="69" y="2352"/>
                        <a:pt x="-53" y="922"/>
                        <a:pt x="53" y="31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  <p:grpSp>
            <p:nvGrpSpPr>
              <p:cNvPr id="112" name="Group 43"/>
              <p:cNvGrpSpPr/>
              <p:nvPr/>
            </p:nvGrpSpPr>
            <p:grpSpPr>
              <a:xfrm>
                <a:off x="3082022" y="3047656"/>
                <a:ext cx="3975781" cy="1582566"/>
                <a:chOff x="0" y="0"/>
                <a:chExt cx="3975780" cy="1582564"/>
              </a:xfrm>
            </p:grpSpPr>
            <p:sp>
              <p:nvSpPr>
                <p:cNvPr id="109" name="Rectangle 2"/>
                <p:cNvSpPr/>
                <p:nvPr/>
              </p:nvSpPr>
              <p:spPr>
                <a:xfrm>
                  <a:off x="0" y="40079"/>
                  <a:ext cx="3972961" cy="154248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29" h="21324" fill="norm" stroke="1" extrusionOk="0">
                      <a:moveTo>
                        <a:pt x="52" y="128"/>
                      </a:moveTo>
                      <a:cubicBezTo>
                        <a:pt x="686" y="189"/>
                        <a:pt x="1311" y="-176"/>
                        <a:pt x="1981" y="128"/>
                      </a:cubicBezTo>
                      <a:cubicBezTo>
                        <a:pt x="2651" y="433"/>
                        <a:pt x="3152" y="353"/>
                        <a:pt x="3481" y="128"/>
                      </a:cubicBezTo>
                      <a:cubicBezTo>
                        <a:pt x="3809" y="-96"/>
                        <a:pt x="4799" y="423"/>
                        <a:pt x="6052" y="128"/>
                      </a:cubicBezTo>
                      <a:cubicBezTo>
                        <a:pt x="7305" y="-166"/>
                        <a:pt x="7346" y="239"/>
                        <a:pt x="7981" y="128"/>
                      </a:cubicBezTo>
                      <a:cubicBezTo>
                        <a:pt x="8615" y="18"/>
                        <a:pt x="9153" y="-11"/>
                        <a:pt x="9909" y="128"/>
                      </a:cubicBezTo>
                      <a:cubicBezTo>
                        <a:pt x="10665" y="268"/>
                        <a:pt x="11479" y="282"/>
                        <a:pt x="12480" y="128"/>
                      </a:cubicBezTo>
                      <a:cubicBezTo>
                        <a:pt x="13482" y="-25"/>
                        <a:pt x="13747" y="362"/>
                        <a:pt x="14195" y="128"/>
                      </a:cubicBezTo>
                      <a:cubicBezTo>
                        <a:pt x="14642" y="-105"/>
                        <a:pt x="16007" y="281"/>
                        <a:pt x="16766" y="128"/>
                      </a:cubicBezTo>
                      <a:cubicBezTo>
                        <a:pt x="17525" y="-24"/>
                        <a:pt x="18070" y="197"/>
                        <a:pt x="19337" y="128"/>
                      </a:cubicBezTo>
                      <a:cubicBezTo>
                        <a:pt x="20605" y="60"/>
                        <a:pt x="20463" y="-123"/>
                        <a:pt x="21480" y="128"/>
                      </a:cubicBezTo>
                      <a:cubicBezTo>
                        <a:pt x="21519" y="3504"/>
                        <a:pt x="21520" y="5518"/>
                        <a:pt x="21480" y="7574"/>
                      </a:cubicBezTo>
                      <a:cubicBezTo>
                        <a:pt x="21441" y="9630"/>
                        <a:pt x="21394" y="12321"/>
                        <a:pt x="21480" y="14809"/>
                      </a:cubicBezTo>
                      <a:cubicBezTo>
                        <a:pt x="21566" y="17297"/>
                        <a:pt x="21523" y="19895"/>
                        <a:pt x="21480" y="21201"/>
                      </a:cubicBezTo>
                      <a:cubicBezTo>
                        <a:pt x="20987" y="21326"/>
                        <a:pt x="20111" y="21320"/>
                        <a:pt x="19337" y="21201"/>
                      </a:cubicBezTo>
                      <a:cubicBezTo>
                        <a:pt x="18564" y="21081"/>
                        <a:pt x="18116" y="21123"/>
                        <a:pt x="17623" y="21201"/>
                      </a:cubicBezTo>
                      <a:cubicBezTo>
                        <a:pt x="17131" y="21278"/>
                        <a:pt x="15980" y="21008"/>
                        <a:pt x="15480" y="21201"/>
                      </a:cubicBezTo>
                      <a:cubicBezTo>
                        <a:pt x="14980" y="21393"/>
                        <a:pt x="13762" y="21002"/>
                        <a:pt x="12909" y="21201"/>
                      </a:cubicBezTo>
                      <a:cubicBezTo>
                        <a:pt x="12056" y="21399"/>
                        <a:pt x="11283" y="21014"/>
                        <a:pt x="10766" y="21201"/>
                      </a:cubicBezTo>
                      <a:cubicBezTo>
                        <a:pt x="10250" y="21387"/>
                        <a:pt x="9963" y="21074"/>
                        <a:pt x="9266" y="21201"/>
                      </a:cubicBezTo>
                      <a:cubicBezTo>
                        <a:pt x="8569" y="21327"/>
                        <a:pt x="8233" y="21144"/>
                        <a:pt x="7552" y="21201"/>
                      </a:cubicBezTo>
                      <a:cubicBezTo>
                        <a:pt x="6871" y="21258"/>
                        <a:pt x="5903" y="21109"/>
                        <a:pt x="4981" y="21201"/>
                      </a:cubicBezTo>
                      <a:cubicBezTo>
                        <a:pt x="4058" y="21292"/>
                        <a:pt x="3537" y="21424"/>
                        <a:pt x="2838" y="21201"/>
                      </a:cubicBezTo>
                      <a:cubicBezTo>
                        <a:pt x="2139" y="20978"/>
                        <a:pt x="890" y="21294"/>
                        <a:pt x="52" y="21201"/>
                      </a:cubicBezTo>
                      <a:cubicBezTo>
                        <a:pt x="-34" y="19084"/>
                        <a:pt x="2" y="16536"/>
                        <a:pt x="52" y="14177"/>
                      </a:cubicBezTo>
                      <a:cubicBezTo>
                        <a:pt x="102" y="11817"/>
                        <a:pt x="70" y="10520"/>
                        <a:pt x="52" y="7785"/>
                      </a:cubicBezTo>
                      <a:cubicBezTo>
                        <a:pt x="35" y="5049"/>
                        <a:pt x="120" y="2341"/>
                        <a:pt x="52" y="128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A6A6A6"/>
                      </a:solidFill>
                    </a:defRPr>
                  </a:pPr>
                </a:p>
              </p:txBody>
            </p:sp>
            <p:sp>
              <p:nvSpPr>
                <p:cNvPr id="110" name="Straight Connector 25"/>
                <p:cNvSpPr/>
                <p:nvPr/>
              </p:nvSpPr>
              <p:spPr>
                <a:xfrm flipH="1">
                  <a:off x="9574" y="299980"/>
                  <a:ext cx="3966207" cy="1434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t">
                  <a:noAutofit/>
                </a:bodyPr>
                <a:lstStyle/>
                <a:p>
                  <a:pPr>
                    <a:defRPr sz="1600"/>
                  </a:pPr>
                </a:p>
              </p:txBody>
            </p:sp>
            <p:sp>
              <p:nvSpPr>
                <p:cNvPr id="111" name="TextBox 30"/>
                <p:cNvSpPr txBox="1"/>
                <p:nvPr/>
              </p:nvSpPr>
              <p:spPr>
                <a:xfrm>
                  <a:off x="550025" y="0"/>
                  <a:ext cx="956823" cy="32937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641" tIns="38641" rIns="38641" bIns="38641" numCol="1" anchor="t">
                  <a:noAutofit/>
                </a:bodyPr>
                <a:lstStyle>
                  <a:lvl1pPr>
                    <a:defRPr sz="1600">
                      <a:latin typeface="Gaegu Regular"/>
                      <a:ea typeface="Gaegu Regular"/>
                      <a:cs typeface="Gaegu Regular"/>
                      <a:sym typeface="Gaegu Regular"/>
                    </a:defRPr>
                  </a:lvl1pPr>
                </a:lstStyle>
                <a:p>
                  <a:pPr/>
                  <a:r>
                    <a:t>Terminal</a:t>
                  </a:r>
                </a:p>
              </p:txBody>
            </p:sp>
          </p:grpSp>
          <p:grpSp>
            <p:nvGrpSpPr>
              <p:cNvPr id="115" name="Group 13"/>
              <p:cNvGrpSpPr/>
              <p:nvPr/>
            </p:nvGrpSpPr>
            <p:grpSpPr>
              <a:xfrm>
                <a:off x="76593" y="3115137"/>
                <a:ext cx="1568018" cy="498667"/>
                <a:chOff x="0" y="0"/>
                <a:chExt cx="1568017" cy="498666"/>
              </a:xfrm>
            </p:grpSpPr>
            <p:sp>
              <p:nvSpPr>
                <p:cNvPr id="113" name="TextBox 14"/>
                <p:cNvSpPr txBox="1"/>
                <p:nvPr/>
              </p:nvSpPr>
              <p:spPr>
                <a:xfrm>
                  <a:off x="0" y="0"/>
                  <a:ext cx="723654" cy="49866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641" tIns="38641" rIns="38641" bIns="38641" numCol="1" anchor="t">
                  <a:noAutofit/>
                </a:bodyPr>
                <a:lstStyle/>
                <a:p>
                  <a:pPr>
                    <a:defRPr sz="1200"/>
                  </a:pPr>
                  <a:r>
                    <a:t>Program</a:t>
                  </a:r>
                </a:p>
                <a:p>
                  <a:pPr>
                    <a:defRPr sz="1200"/>
                  </a:pPr>
                  <a:r>
                    <a:t>Counter</a:t>
                  </a:r>
                </a:p>
              </p:txBody>
            </p:sp>
            <p:sp>
              <p:nvSpPr>
                <p:cNvPr id="114" name="Rectangle 16"/>
                <p:cNvSpPr/>
                <p:nvPr/>
              </p:nvSpPr>
              <p:spPr>
                <a:xfrm>
                  <a:off x="717666" y="102981"/>
                  <a:ext cx="850352" cy="31845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38" h="20789" fill="norm" stroke="1" extrusionOk="0">
                      <a:moveTo>
                        <a:pt x="62" y="468"/>
                      </a:moveTo>
                      <a:cubicBezTo>
                        <a:pt x="4396" y="730"/>
                        <a:pt x="7646" y="1130"/>
                        <a:pt x="10536" y="468"/>
                      </a:cubicBezTo>
                      <a:cubicBezTo>
                        <a:pt x="13427" y="-194"/>
                        <a:pt x="18140" y="-118"/>
                        <a:pt x="21438" y="468"/>
                      </a:cubicBezTo>
                      <a:cubicBezTo>
                        <a:pt x="21167" y="4501"/>
                        <a:pt x="21162" y="14670"/>
                        <a:pt x="21438" y="20409"/>
                      </a:cubicBezTo>
                      <a:cubicBezTo>
                        <a:pt x="19153" y="20087"/>
                        <a:pt x="14888" y="21406"/>
                        <a:pt x="10750" y="20409"/>
                      </a:cubicBezTo>
                      <a:cubicBezTo>
                        <a:pt x="6612" y="19413"/>
                        <a:pt x="3395" y="21240"/>
                        <a:pt x="62" y="20409"/>
                      </a:cubicBezTo>
                      <a:cubicBezTo>
                        <a:pt x="309" y="11565"/>
                        <a:pt x="-162" y="4735"/>
                        <a:pt x="62" y="468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ctr">
                  <a:noAutofit/>
                </a:bodyPr>
                <a:lstStyle/>
                <a:p>
                  <a:pPr algn="ctr">
                    <a:defRPr sz="1600"/>
                  </a:pPr>
                </a:p>
              </p:txBody>
            </p:sp>
          </p:grpSp>
          <p:sp>
            <p:nvSpPr>
              <p:cNvPr id="116" name="Rectangle 37"/>
              <p:cNvSpPr/>
              <p:nvPr/>
            </p:nvSpPr>
            <p:spPr>
              <a:xfrm>
                <a:off x="8457" y="3107721"/>
                <a:ext cx="3002921" cy="15285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61" h="21229" fill="norm" stroke="1" extrusionOk="0">
                    <a:moveTo>
                      <a:pt x="93" y="147"/>
                    </a:moveTo>
                    <a:cubicBezTo>
                      <a:pt x="1527" y="156"/>
                      <a:pt x="2742" y="-188"/>
                      <a:pt x="4144" y="147"/>
                    </a:cubicBezTo>
                    <a:cubicBezTo>
                      <a:pt x="5546" y="482"/>
                      <a:pt x="6786" y="220"/>
                      <a:pt x="7768" y="147"/>
                    </a:cubicBezTo>
                    <a:cubicBezTo>
                      <a:pt x="8751" y="75"/>
                      <a:pt x="11208" y="173"/>
                      <a:pt x="12459" y="147"/>
                    </a:cubicBezTo>
                    <a:cubicBezTo>
                      <a:pt x="13710" y="121"/>
                      <a:pt x="14966" y="-109"/>
                      <a:pt x="16510" y="147"/>
                    </a:cubicBezTo>
                    <a:cubicBezTo>
                      <a:pt x="18054" y="403"/>
                      <a:pt x="19766" y="-280"/>
                      <a:pt x="21414" y="147"/>
                    </a:cubicBezTo>
                    <a:cubicBezTo>
                      <a:pt x="21354" y="3318"/>
                      <a:pt x="21384" y="4316"/>
                      <a:pt x="21414" y="7523"/>
                    </a:cubicBezTo>
                    <a:cubicBezTo>
                      <a:pt x="21444" y="10729"/>
                      <a:pt x="21419" y="12620"/>
                      <a:pt x="21414" y="14481"/>
                    </a:cubicBezTo>
                    <a:cubicBezTo>
                      <a:pt x="21409" y="16341"/>
                      <a:pt x="21522" y="17780"/>
                      <a:pt x="21414" y="21021"/>
                    </a:cubicBezTo>
                    <a:cubicBezTo>
                      <a:pt x="20240" y="21193"/>
                      <a:pt x="18564" y="21099"/>
                      <a:pt x="17576" y="21021"/>
                    </a:cubicBezTo>
                    <a:cubicBezTo>
                      <a:pt x="16588" y="20944"/>
                      <a:pt x="14967" y="20968"/>
                      <a:pt x="13312" y="21021"/>
                    </a:cubicBezTo>
                    <a:cubicBezTo>
                      <a:pt x="11657" y="21075"/>
                      <a:pt x="10619" y="20797"/>
                      <a:pt x="9048" y="21021"/>
                    </a:cubicBezTo>
                    <a:cubicBezTo>
                      <a:pt x="7477" y="21246"/>
                      <a:pt x="6607" y="20723"/>
                      <a:pt x="4997" y="21021"/>
                    </a:cubicBezTo>
                    <a:cubicBezTo>
                      <a:pt x="3387" y="21320"/>
                      <a:pt x="2263" y="21277"/>
                      <a:pt x="93" y="21021"/>
                    </a:cubicBezTo>
                    <a:cubicBezTo>
                      <a:pt x="19" y="19440"/>
                      <a:pt x="-73" y="16863"/>
                      <a:pt x="93" y="13646"/>
                    </a:cubicBezTo>
                    <a:cubicBezTo>
                      <a:pt x="259" y="10429"/>
                      <a:pt x="264" y="7833"/>
                      <a:pt x="93" y="6270"/>
                    </a:cubicBezTo>
                    <a:cubicBezTo>
                      <a:pt x="-78" y="4708"/>
                      <a:pt x="221" y="3023"/>
                      <a:pt x="93" y="147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38641" tIns="38641" rIns="38641" bIns="38641" numCol="1" anchor="ctr">
                <a:noAutofit/>
              </a:bodyPr>
              <a:lstStyle/>
              <a:p>
                <a:pPr algn="ctr">
                  <a:defRPr sz="2000">
                    <a:solidFill>
                      <a:srgbClr val="FFFFFF"/>
                    </a:solidFill>
                  </a:defRPr>
                </a:pPr>
              </a:p>
            </p:txBody>
          </p:sp>
          <p:pic>
            <p:nvPicPr>
              <p:cNvPr id="117" name="Picture 62" descr="Picture 62"/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3186345" y="3160765"/>
                <a:ext cx="422817" cy="15125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18" name="TextBox 10"/>
              <p:cNvSpPr txBox="1"/>
              <p:nvPr/>
            </p:nvSpPr>
            <p:spPr>
              <a:xfrm>
                <a:off x="6098803" y="0"/>
                <a:ext cx="868295" cy="32937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641" tIns="38641" rIns="38641" bIns="38641" numCol="1" anchor="t">
                <a:noAutofit/>
              </a:bodyPr>
              <a:lstStyle>
                <a:lvl1pPr>
                  <a:defRPr sz="1600">
                    <a:latin typeface="Gaegu Regular"/>
                    <a:ea typeface="Gaegu Regular"/>
                    <a:cs typeface="Gaegu Regular"/>
                    <a:sym typeface="Gaegu Regular"/>
                  </a:defRPr>
                </a:lvl1pPr>
              </a:lstStyle>
              <a:p>
                <a:pPr/>
                <a:r>
                  <a:t>Memory</a:t>
                </a:r>
              </a:p>
            </p:txBody>
          </p:sp>
        </p:grpSp>
        <p:sp>
          <p:nvSpPr>
            <p:cNvPr id="120" name="Straight Connector 40"/>
            <p:cNvSpPr/>
            <p:nvPr/>
          </p:nvSpPr>
          <p:spPr>
            <a:xfrm flipV="1">
              <a:off x="3165928" y="3687623"/>
              <a:ext cx="1" cy="18942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t">
              <a:noAutofit/>
            </a:bodyPr>
            <a:lstStyle/>
            <a:p>
              <a:pPr>
                <a:defRPr sz="1600"/>
              </a:pPr>
            </a:p>
          </p:txBody>
        </p:sp>
        <p:grpSp>
          <p:nvGrpSpPr>
            <p:cNvPr id="123" name="Group 19"/>
            <p:cNvGrpSpPr/>
            <p:nvPr/>
          </p:nvGrpSpPr>
          <p:grpSpPr>
            <a:xfrm>
              <a:off x="713992" y="3616323"/>
              <a:ext cx="2224453" cy="274962"/>
              <a:chOff x="-6161" y="0"/>
              <a:chExt cx="2224451" cy="274960"/>
            </a:xfrm>
          </p:grpSpPr>
          <p:sp>
            <p:nvSpPr>
              <p:cNvPr id="121" name="TextBox 21"/>
              <p:cNvSpPr txBox="1"/>
              <p:nvPr/>
            </p:nvSpPr>
            <p:spPr>
              <a:xfrm>
                <a:off x="-6162" y="0"/>
                <a:ext cx="822661" cy="27496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641" tIns="38641" rIns="38641" bIns="38641" numCol="1" anchor="t">
                <a:noAutofit/>
              </a:bodyPr>
              <a:lstStyle>
                <a:lvl1pPr algn="ctr">
                  <a:defRPr sz="1200"/>
                </a:lvl1pPr>
              </a:lstStyle>
              <a:p>
                <a:pPr/>
                <a:r>
                  <a:t>Register 0</a:t>
                </a:r>
              </a:p>
            </p:txBody>
          </p:sp>
          <p:sp>
            <p:nvSpPr>
              <p:cNvPr id="122" name="Rectangle 22"/>
              <p:cNvSpPr/>
              <p:nvPr/>
            </p:nvSpPr>
            <p:spPr>
              <a:xfrm>
                <a:off x="855295" y="26428"/>
                <a:ext cx="1362995" cy="2467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99" h="20332" fill="norm" stroke="1" extrusionOk="0">
                    <a:moveTo>
                      <a:pt x="31" y="364"/>
                    </a:moveTo>
                    <a:cubicBezTo>
                      <a:pt x="2762" y="1659"/>
                      <a:pt x="4299" y="-408"/>
                      <a:pt x="6965" y="364"/>
                    </a:cubicBezTo>
                    <a:cubicBezTo>
                      <a:pt x="9630" y="1136"/>
                      <a:pt x="11326" y="-756"/>
                      <a:pt x="13470" y="364"/>
                    </a:cubicBezTo>
                    <a:cubicBezTo>
                      <a:pt x="15613" y="1484"/>
                      <a:pt x="19369" y="1304"/>
                      <a:pt x="21476" y="364"/>
                    </a:cubicBezTo>
                    <a:cubicBezTo>
                      <a:pt x="21549" y="8786"/>
                      <a:pt x="21420" y="12756"/>
                      <a:pt x="21476" y="19711"/>
                    </a:cubicBezTo>
                    <a:cubicBezTo>
                      <a:pt x="19782" y="20844"/>
                      <a:pt x="16772" y="20167"/>
                      <a:pt x="14757" y="19711"/>
                    </a:cubicBezTo>
                    <a:cubicBezTo>
                      <a:pt x="12742" y="19256"/>
                      <a:pt x="10818" y="20654"/>
                      <a:pt x="7179" y="19711"/>
                    </a:cubicBezTo>
                    <a:cubicBezTo>
                      <a:pt x="3541" y="18768"/>
                      <a:pt x="2819" y="20729"/>
                      <a:pt x="31" y="19711"/>
                    </a:cubicBezTo>
                    <a:cubicBezTo>
                      <a:pt x="-51" y="11606"/>
                      <a:pt x="57" y="5355"/>
                      <a:pt x="31" y="364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38641" tIns="38641" rIns="38641" bIns="38641" numCol="1" anchor="ctr">
                <a:noAutofit/>
              </a:bodyPr>
              <a:lstStyle/>
              <a:p>
                <a:pPr algn="ctr">
                  <a:defRPr sz="1600"/>
                </a:pPr>
              </a:p>
            </p:txBody>
          </p:sp>
        </p:grpSp>
        <p:sp>
          <p:nvSpPr>
            <p:cNvPr id="124" name="TextBox 33"/>
            <p:cNvSpPr txBox="1"/>
            <p:nvPr/>
          </p:nvSpPr>
          <p:spPr>
            <a:xfrm>
              <a:off x="722636" y="3924310"/>
              <a:ext cx="822662" cy="2749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200"/>
              </a:lvl1pPr>
            </a:lstStyle>
            <a:p>
              <a:pPr/>
              <a:r>
                <a:t>Register 1</a:t>
              </a:r>
            </a:p>
          </p:txBody>
        </p:sp>
        <p:sp>
          <p:nvSpPr>
            <p:cNvPr id="125" name="Rectangle 38"/>
            <p:cNvSpPr/>
            <p:nvPr/>
          </p:nvSpPr>
          <p:spPr>
            <a:xfrm>
              <a:off x="1576658" y="3953399"/>
              <a:ext cx="1360466" cy="2632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5" h="20012" fill="norm" stroke="1" extrusionOk="0">
                  <a:moveTo>
                    <a:pt x="12" y="791"/>
                  </a:moveTo>
                  <a:cubicBezTo>
                    <a:pt x="3241" y="407"/>
                    <a:pt x="7659" y="781"/>
                    <a:pt x="10557" y="791"/>
                  </a:cubicBezTo>
                  <a:cubicBezTo>
                    <a:pt x="13455" y="800"/>
                    <a:pt x="16772" y="-994"/>
                    <a:pt x="21533" y="791"/>
                  </a:cubicBezTo>
                  <a:cubicBezTo>
                    <a:pt x="21557" y="8082"/>
                    <a:pt x="21370" y="11661"/>
                    <a:pt x="21533" y="18637"/>
                  </a:cubicBezTo>
                  <a:cubicBezTo>
                    <a:pt x="16322" y="19573"/>
                    <a:pt x="13444" y="16668"/>
                    <a:pt x="10772" y="18637"/>
                  </a:cubicBezTo>
                  <a:cubicBezTo>
                    <a:pt x="8100" y="20606"/>
                    <a:pt x="3639" y="20327"/>
                    <a:pt x="12" y="18637"/>
                  </a:cubicBezTo>
                  <a:cubicBezTo>
                    <a:pt x="-43" y="13404"/>
                    <a:pt x="111" y="8672"/>
                    <a:pt x="12" y="791"/>
                  </a:cubicBezTo>
                  <a:close/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126" name="TextBox 39"/>
            <p:cNvSpPr txBox="1"/>
            <p:nvPr/>
          </p:nvSpPr>
          <p:spPr>
            <a:xfrm>
              <a:off x="719310" y="4251468"/>
              <a:ext cx="822662" cy="2749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200"/>
              </a:lvl1pPr>
            </a:lstStyle>
            <a:p>
              <a:pPr/>
              <a:r>
                <a:t>Register 2</a:t>
              </a:r>
            </a:p>
          </p:txBody>
        </p:sp>
        <p:sp>
          <p:nvSpPr>
            <p:cNvPr id="127" name="Rectangle 42"/>
            <p:cNvSpPr/>
            <p:nvPr/>
          </p:nvSpPr>
          <p:spPr>
            <a:xfrm>
              <a:off x="1564689" y="4271913"/>
              <a:ext cx="1360466" cy="2632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5" h="20012" fill="norm" stroke="1" extrusionOk="0">
                  <a:moveTo>
                    <a:pt x="12" y="791"/>
                  </a:moveTo>
                  <a:cubicBezTo>
                    <a:pt x="3241" y="407"/>
                    <a:pt x="7659" y="781"/>
                    <a:pt x="10557" y="791"/>
                  </a:cubicBezTo>
                  <a:cubicBezTo>
                    <a:pt x="13455" y="800"/>
                    <a:pt x="16772" y="-994"/>
                    <a:pt x="21533" y="791"/>
                  </a:cubicBezTo>
                  <a:cubicBezTo>
                    <a:pt x="21557" y="8082"/>
                    <a:pt x="21370" y="11661"/>
                    <a:pt x="21533" y="18637"/>
                  </a:cubicBezTo>
                  <a:cubicBezTo>
                    <a:pt x="16322" y="19573"/>
                    <a:pt x="13444" y="16668"/>
                    <a:pt x="10772" y="18637"/>
                  </a:cubicBezTo>
                  <a:cubicBezTo>
                    <a:pt x="8100" y="20606"/>
                    <a:pt x="3639" y="20327"/>
                    <a:pt x="12" y="18637"/>
                  </a:cubicBezTo>
                  <a:cubicBezTo>
                    <a:pt x="-43" y="13404"/>
                    <a:pt x="111" y="8672"/>
                    <a:pt x="12" y="791"/>
                  </a:cubicBezTo>
                  <a:close/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128" name="TextBox 46"/>
            <p:cNvSpPr txBox="1"/>
            <p:nvPr/>
          </p:nvSpPr>
          <p:spPr>
            <a:xfrm>
              <a:off x="3093399" y="3332877"/>
              <a:ext cx="1330339" cy="3363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>
                <a:defRPr sz="1600"/>
              </a:lvl1pPr>
            </a:lstStyle>
            <a:p>
              <a:pPr/>
              <a:r>
                <a:t>./screen-test</a:t>
              </a:r>
            </a:p>
          </p:txBody>
        </p:sp>
        <p:sp>
          <p:nvSpPr>
            <p:cNvPr id="129" name="Straight Arrow Connector 55"/>
            <p:cNvSpPr/>
            <p:nvPr/>
          </p:nvSpPr>
          <p:spPr>
            <a:xfrm rot="16200000">
              <a:off x="436324" y="1538437"/>
              <a:ext cx="2441047" cy="8843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21462" y="21600"/>
                  </a:lnTo>
                </a:path>
              </a:pathLst>
            </a:custGeom>
            <a:noFill/>
            <a:ln w="12700" cap="flat">
              <a:solidFill>
                <a:srgbClr val="000000"/>
              </a:solidFill>
              <a:custDash>
                <a:ds d="300000" sp="400000"/>
              </a:custDash>
              <a:round/>
              <a:tailEnd type="triangle" w="med" len="med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130" name="TextBox 50"/>
            <p:cNvSpPr txBox="1"/>
            <p:nvPr/>
          </p:nvSpPr>
          <p:spPr>
            <a:xfrm>
              <a:off x="847679" y="3189623"/>
              <a:ext cx="739568" cy="3363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600"/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31" name="TextBox 3"/>
            <p:cNvSpPr txBox="1"/>
            <p:nvPr/>
          </p:nvSpPr>
          <p:spPr>
            <a:xfrm>
              <a:off x="3330977" y="355590"/>
              <a:ext cx="3003711" cy="3363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>
                <a:defRPr sz="1600">
                  <a:solidFill>
                    <a:srgbClr val="A6A6A6"/>
                  </a:solidFill>
                </a:defRPr>
              </a:lvl1pPr>
            </a:lstStyle>
            <a:p>
              <a:pPr/>
              <a:r>
                <a:t>d            a          b     c</a:t>
              </a:r>
            </a:p>
          </p:txBody>
        </p:sp>
        <p:sp>
          <p:nvSpPr>
            <p:cNvPr id="132" name="TextBox 45"/>
            <p:cNvSpPr txBox="1"/>
            <p:nvPr/>
          </p:nvSpPr>
          <p:spPr>
            <a:xfrm>
              <a:off x="2066425" y="571163"/>
              <a:ext cx="4533096" cy="11184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/>
            <a:p>
              <a:pPr marL="300037" indent="-300037">
                <a:buSzPct val="100000"/>
                <a:buAutoNum type="arabicPeriod" startAt="1"/>
                <a:defRPr sz="1400"/>
              </a:pPr>
              <a:r>
                <a:t>open_window(“Test Color", 800, 600);</a:t>
              </a:r>
            </a:p>
            <a:p>
              <a:pPr marL="300037" indent="-300037">
                <a:buSzPct val="100000"/>
                <a:buAutoNum type="arabicPeriod" startAt="1"/>
                <a:defRPr sz="1400">
                  <a:solidFill>
                    <a:srgbClr val="A6A6A6"/>
                  </a:solidFill>
                </a:defRPr>
              </a:pPr>
              <a:r>
                <a:t>clear_screen(COLOR_BLUE);</a:t>
              </a:r>
            </a:p>
            <a:p>
              <a:pPr marL="300037" indent="-300037">
                <a:buSzPct val="100000"/>
                <a:buAutoNum type="arabicPeriod" startAt="1"/>
                <a:defRPr sz="1400">
                  <a:solidFill>
                    <a:srgbClr val="A6A6A6"/>
                  </a:solidFill>
                </a:defRPr>
              </a:pPr>
              <a:r>
                <a:t>refresh_screen();</a:t>
              </a:r>
            </a:p>
            <a:p>
              <a:pPr marL="300037" indent="-300037">
                <a:buSzPct val="100000"/>
                <a:buAutoNum type="arabicPeriod" startAt="1"/>
                <a:defRPr sz="1400">
                  <a:solidFill>
                    <a:srgbClr val="A6A6A6"/>
                  </a:solidFill>
                </a:defRPr>
              </a:pPr>
              <a:r>
                <a:t>delay(5000);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roup"/>
          <p:cNvGrpSpPr/>
          <p:nvPr/>
        </p:nvGrpSpPr>
        <p:grpSpPr>
          <a:xfrm>
            <a:off x="247650" y="196370"/>
            <a:ext cx="7061201" cy="4636460"/>
            <a:chOff x="0" y="0"/>
            <a:chExt cx="7061200" cy="4636458"/>
          </a:xfrm>
        </p:grpSpPr>
        <p:grpSp>
          <p:nvGrpSpPr>
            <p:cNvPr id="151" name="Group 11"/>
            <p:cNvGrpSpPr/>
            <p:nvPr/>
          </p:nvGrpSpPr>
          <p:grpSpPr>
            <a:xfrm>
              <a:off x="0" y="0"/>
              <a:ext cx="7061201" cy="4636459"/>
              <a:chOff x="0" y="0"/>
              <a:chExt cx="7061200" cy="4636459"/>
            </a:xfrm>
          </p:grpSpPr>
          <p:grpSp>
            <p:nvGrpSpPr>
              <p:cNvPr id="137" name="Group 36"/>
              <p:cNvGrpSpPr/>
              <p:nvPr/>
            </p:nvGrpSpPr>
            <p:grpSpPr>
              <a:xfrm>
                <a:off x="140075" y="3804832"/>
                <a:ext cx="550812" cy="781301"/>
                <a:chOff x="0" y="0"/>
                <a:chExt cx="550810" cy="781299"/>
              </a:xfrm>
            </p:grpSpPr>
            <p:pic>
              <p:nvPicPr>
                <p:cNvPr id="135" name="Picture 12" descr="Picture 12"/>
                <p:cNvPicPr>
                  <a:picLocks noChangeAspect="1"/>
                </p:cNvPicPr>
                <p:nvPr/>
              </p:nvPicPr>
              <p:blipFill>
                <a:blip r:embed="rId3">
                  <a:extLst/>
                </a:blip>
                <a:stretch>
                  <a:fillRect/>
                </a:stretch>
              </p:blipFill>
              <p:spPr>
                <a:xfrm>
                  <a:off x="0" y="0"/>
                  <a:ext cx="550811" cy="50597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136" name="TextBox 17"/>
                <p:cNvSpPr txBox="1"/>
                <p:nvPr/>
              </p:nvSpPr>
              <p:spPr>
                <a:xfrm>
                  <a:off x="33409" y="451916"/>
                  <a:ext cx="489144" cy="32938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641" tIns="38641" rIns="38641" bIns="38641" numCol="1" anchor="t">
                  <a:noAutofit/>
                </a:bodyPr>
                <a:lstStyle>
                  <a:lvl1pPr>
                    <a:defRPr sz="1600">
                      <a:latin typeface="Gaegu Regular"/>
                      <a:ea typeface="Gaegu Regular"/>
                      <a:cs typeface="Gaegu Regular"/>
                      <a:sym typeface="Gaegu Regular"/>
                    </a:defRPr>
                  </a:lvl1pPr>
                </a:lstStyle>
                <a:p>
                  <a:pPr/>
                  <a:r>
                    <a:t>CPU</a:t>
                  </a:r>
                </a:p>
              </p:txBody>
            </p:sp>
          </p:grpSp>
          <p:grpSp>
            <p:nvGrpSpPr>
              <p:cNvPr id="140" name="Group 51"/>
              <p:cNvGrpSpPr/>
              <p:nvPr/>
            </p:nvGrpSpPr>
            <p:grpSpPr>
              <a:xfrm>
                <a:off x="0" y="339014"/>
                <a:ext cx="7061201" cy="2623861"/>
                <a:chOff x="0" y="0"/>
                <a:chExt cx="7061200" cy="2623860"/>
              </a:xfrm>
            </p:grpSpPr>
            <p:sp>
              <p:nvSpPr>
                <p:cNvPr id="138" name="Straight Connector 4"/>
                <p:cNvSpPr/>
                <p:nvPr/>
              </p:nvSpPr>
              <p:spPr>
                <a:xfrm flipH="1">
                  <a:off x="1971910" y="34747"/>
                  <a:ext cx="1" cy="2583015"/>
                </a:xfrm>
                <a:prstGeom prst="line">
                  <a:avLst/>
                </a:prstGeom>
                <a:noFill/>
                <a:ln w="3175" cap="flat">
                  <a:solidFill>
                    <a:srgbClr val="808080"/>
                  </a:solidFill>
                  <a:prstDash val="dashDot"/>
                  <a:miter lim="800000"/>
                </a:ln>
                <a:effectLst/>
              </p:spPr>
              <p:txBody>
                <a:bodyPr wrap="square" lIns="38641" tIns="38641" rIns="38641" bIns="38641" numCol="1" anchor="t">
                  <a:noAutofit/>
                </a:bodyPr>
                <a:lstStyle/>
                <a:p>
                  <a:pPr>
                    <a:defRPr sz="1600"/>
                  </a:pPr>
                </a:p>
              </p:txBody>
            </p:sp>
            <p:sp>
              <p:nvSpPr>
                <p:cNvPr id="139" name="Rectangle 20"/>
                <p:cNvSpPr/>
                <p:nvPr/>
              </p:nvSpPr>
              <p:spPr>
                <a:xfrm>
                  <a:off x="0" y="0"/>
                  <a:ext cx="7061201" cy="262386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88" h="21487" fill="norm" stroke="1" extrusionOk="0">
                      <a:moveTo>
                        <a:pt x="53" y="31"/>
                      </a:moveTo>
                      <a:cubicBezTo>
                        <a:pt x="688" y="97"/>
                        <a:pt x="1302" y="95"/>
                        <a:pt x="1784" y="31"/>
                      </a:cubicBezTo>
                      <a:cubicBezTo>
                        <a:pt x="2266" y="-34"/>
                        <a:pt x="2447" y="33"/>
                        <a:pt x="3086" y="31"/>
                      </a:cubicBezTo>
                      <a:cubicBezTo>
                        <a:pt x="3726" y="29"/>
                        <a:pt x="4933" y="61"/>
                        <a:pt x="5458" y="31"/>
                      </a:cubicBezTo>
                      <a:cubicBezTo>
                        <a:pt x="5984" y="0"/>
                        <a:pt x="6833" y="45"/>
                        <a:pt x="7189" y="31"/>
                      </a:cubicBezTo>
                      <a:cubicBezTo>
                        <a:pt x="7544" y="16"/>
                        <a:pt x="8314" y="-30"/>
                        <a:pt x="8919" y="31"/>
                      </a:cubicBezTo>
                      <a:cubicBezTo>
                        <a:pt x="9524" y="92"/>
                        <a:pt x="10434" y="-58"/>
                        <a:pt x="11291" y="31"/>
                      </a:cubicBezTo>
                      <a:cubicBezTo>
                        <a:pt x="12149" y="119"/>
                        <a:pt x="12221" y="35"/>
                        <a:pt x="12808" y="31"/>
                      </a:cubicBezTo>
                      <a:cubicBezTo>
                        <a:pt x="13394" y="26"/>
                        <a:pt x="14112" y="71"/>
                        <a:pt x="15180" y="31"/>
                      </a:cubicBezTo>
                      <a:cubicBezTo>
                        <a:pt x="16248" y="-10"/>
                        <a:pt x="16841" y="20"/>
                        <a:pt x="17552" y="31"/>
                      </a:cubicBezTo>
                      <a:cubicBezTo>
                        <a:pt x="18263" y="41"/>
                        <a:pt x="19031" y="-24"/>
                        <a:pt x="19496" y="31"/>
                      </a:cubicBezTo>
                      <a:cubicBezTo>
                        <a:pt x="19962" y="85"/>
                        <a:pt x="20676" y="92"/>
                        <a:pt x="21440" y="31"/>
                      </a:cubicBezTo>
                      <a:cubicBezTo>
                        <a:pt x="21458" y="623"/>
                        <a:pt x="21354" y="1055"/>
                        <a:pt x="21440" y="1763"/>
                      </a:cubicBezTo>
                      <a:cubicBezTo>
                        <a:pt x="21527" y="2471"/>
                        <a:pt x="21434" y="2599"/>
                        <a:pt x="21440" y="3067"/>
                      </a:cubicBezTo>
                      <a:cubicBezTo>
                        <a:pt x="21447" y="3535"/>
                        <a:pt x="21411" y="4258"/>
                        <a:pt x="21440" y="5013"/>
                      </a:cubicBezTo>
                      <a:cubicBezTo>
                        <a:pt x="21470" y="5767"/>
                        <a:pt x="21385" y="6136"/>
                        <a:pt x="21440" y="6959"/>
                      </a:cubicBezTo>
                      <a:cubicBezTo>
                        <a:pt x="21496" y="7782"/>
                        <a:pt x="21469" y="8275"/>
                        <a:pt x="21440" y="8905"/>
                      </a:cubicBezTo>
                      <a:cubicBezTo>
                        <a:pt x="21412" y="9535"/>
                        <a:pt x="21397" y="10422"/>
                        <a:pt x="21440" y="11065"/>
                      </a:cubicBezTo>
                      <a:cubicBezTo>
                        <a:pt x="21484" y="11708"/>
                        <a:pt x="21503" y="12309"/>
                        <a:pt x="21440" y="13225"/>
                      </a:cubicBezTo>
                      <a:cubicBezTo>
                        <a:pt x="21378" y="14141"/>
                        <a:pt x="21334" y="14310"/>
                        <a:pt x="21440" y="15385"/>
                      </a:cubicBezTo>
                      <a:cubicBezTo>
                        <a:pt x="21547" y="16460"/>
                        <a:pt x="21441" y="16261"/>
                        <a:pt x="21440" y="16689"/>
                      </a:cubicBezTo>
                      <a:cubicBezTo>
                        <a:pt x="21440" y="17117"/>
                        <a:pt x="21399" y="17724"/>
                        <a:pt x="21440" y="18207"/>
                      </a:cubicBezTo>
                      <a:cubicBezTo>
                        <a:pt x="21482" y="18689"/>
                        <a:pt x="21521" y="19893"/>
                        <a:pt x="21440" y="21437"/>
                      </a:cubicBezTo>
                      <a:cubicBezTo>
                        <a:pt x="21059" y="21419"/>
                        <a:pt x="20529" y="21383"/>
                        <a:pt x="19710" y="21437"/>
                      </a:cubicBezTo>
                      <a:cubicBezTo>
                        <a:pt x="18891" y="21492"/>
                        <a:pt x="18254" y="21487"/>
                        <a:pt x="17766" y="21437"/>
                      </a:cubicBezTo>
                      <a:cubicBezTo>
                        <a:pt x="17277" y="21387"/>
                        <a:pt x="16821" y="21499"/>
                        <a:pt x="16463" y="21437"/>
                      </a:cubicBezTo>
                      <a:cubicBezTo>
                        <a:pt x="16105" y="21376"/>
                        <a:pt x="15599" y="21441"/>
                        <a:pt x="15160" y="21437"/>
                      </a:cubicBezTo>
                      <a:cubicBezTo>
                        <a:pt x="14722" y="21434"/>
                        <a:pt x="14040" y="21430"/>
                        <a:pt x="13216" y="21437"/>
                      </a:cubicBezTo>
                      <a:cubicBezTo>
                        <a:pt x="12392" y="21444"/>
                        <a:pt x="12035" y="21479"/>
                        <a:pt x="11700" y="21437"/>
                      </a:cubicBezTo>
                      <a:cubicBezTo>
                        <a:pt x="11364" y="21396"/>
                        <a:pt x="10480" y="21450"/>
                        <a:pt x="9541" y="21437"/>
                      </a:cubicBezTo>
                      <a:cubicBezTo>
                        <a:pt x="8602" y="21425"/>
                        <a:pt x="8447" y="21422"/>
                        <a:pt x="8025" y="21437"/>
                      </a:cubicBezTo>
                      <a:cubicBezTo>
                        <a:pt x="7602" y="21453"/>
                        <a:pt x="6619" y="21333"/>
                        <a:pt x="5867" y="21437"/>
                      </a:cubicBezTo>
                      <a:cubicBezTo>
                        <a:pt x="5115" y="21542"/>
                        <a:pt x="5089" y="21452"/>
                        <a:pt x="4564" y="21437"/>
                      </a:cubicBezTo>
                      <a:cubicBezTo>
                        <a:pt x="4039" y="21423"/>
                        <a:pt x="2859" y="21541"/>
                        <a:pt x="2406" y="21437"/>
                      </a:cubicBezTo>
                      <a:cubicBezTo>
                        <a:pt x="1953" y="21334"/>
                        <a:pt x="604" y="21432"/>
                        <a:pt x="53" y="21437"/>
                      </a:cubicBezTo>
                      <a:cubicBezTo>
                        <a:pt x="106" y="20923"/>
                        <a:pt x="112" y="20560"/>
                        <a:pt x="53" y="20134"/>
                      </a:cubicBezTo>
                      <a:cubicBezTo>
                        <a:pt x="-5" y="19707"/>
                        <a:pt x="-30" y="19043"/>
                        <a:pt x="53" y="18402"/>
                      </a:cubicBezTo>
                      <a:cubicBezTo>
                        <a:pt x="136" y="17760"/>
                        <a:pt x="157" y="16858"/>
                        <a:pt x="53" y="16027"/>
                      </a:cubicBezTo>
                      <a:cubicBezTo>
                        <a:pt x="-51" y="15196"/>
                        <a:pt x="121" y="15079"/>
                        <a:pt x="53" y="14509"/>
                      </a:cubicBezTo>
                      <a:cubicBezTo>
                        <a:pt x="-14" y="13940"/>
                        <a:pt x="25" y="13783"/>
                        <a:pt x="53" y="13206"/>
                      </a:cubicBezTo>
                      <a:cubicBezTo>
                        <a:pt x="81" y="12628"/>
                        <a:pt x="90" y="12222"/>
                        <a:pt x="53" y="11902"/>
                      </a:cubicBezTo>
                      <a:cubicBezTo>
                        <a:pt x="17" y="11581"/>
                        <a:pt x="47" y="10240"/>
                        <a:pt x="53" y="9742"/>
                      </a:cubicBezTo>
                      <a:cubicBezTo>
                        <a:pt x="60" y="9243"/>
                        <a:pt x="36" y="8963"/>
                        <a:pt x="53" y="8438"/>
                      </a:cubicBezTo>
                      <a:cubicBezTo>
                        <a:pt x="70" y="7912"/>
                        <a:pt x="-34" y="6906"/>
                        <a:pt x="53" y="6492"/>
                      </a:cubicBezTo>
                      <a:cubicBezTo>
                        <a:pt x="140" y="6077"/>
                        <a:pt x="46" y="5326"/>
                        <a:pt x="53" y="4974"/>
                      </a:cubicBezTo>
                      <a:cubicBezTo>
                        <a:pt x="61" y="4621"/>
                        <a:pt x="38" y="3703"/>
                        <a:pt x="53" y="3028"/>
                      </a:cubicBezTo>
                      <a:cubicBezTo>
                        <a:pt x="69" y="2352"/>
                        <a:pt x="-53" y="922"/>
                        <a:pt x="53" y="31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  <p:grpSp>
            <p:nvGrpSpPr>
              <p:cNvPr id="144" name="Group 43"/>
              <p:cNvGrpSpPr/>
              <p:nvPr/>
            </p:nvGrpSpPr>
            <p:grpSpPr>
              <a:xfrm>
                <a:off x="3082118" y="3047751"/>
                <a:ext cx="3975905" cy="1582614"/>
                <a:chOff x="0" y="0"/>
                <a:chExt cx="3975904" cy="1582613"/>
              </a:xfrm>
            </p:grpSpPr>
            <p:sp>
              <p:nvSpPr>
                <p:cNvPr id="141" name="Rectangle 2"/>
                <p:cNvSpPr/>
                <p:nvPr/>
              </p:nvSpPr>
              <p:spPr>
                <a:xfrm>
                  <a:off x="0" y="40080"/>
                  <a:ext cx="3973085" cy="154253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29" h="21324" fill="norm" stroke="1" extrusionOk="0">
                      <a:moveTo>
                        <a:pt x="52" y="128"/>
                      </a:moveTo>
                      <a:cubicBezTo>
                        <a:pt x="686" y="189"/>
                        <a:pt x="1311" y="-176"/>
                        <a:pt x="1981" y="128"/>
                      </a:cubicBezTo>
                      <a:cubicBezTo>
                        <a:pt x="2651" y="433"/>
                        <a:pt x="3152" y="353"/>
                        <a:pt x="3481" y="128"/>
                      </a:cubicBezTo>
                      <a:cubicBezTo>
                        <a:pt x="3809" y="-96"/>
                        <a:pt x="4799" y="423"/>
                        <a:pt x="6052" y="128"/>
                      </a:cubicBezTo>
                      <a:cubicBezTo>
                        <a:pt x="7305" y="-166"/>
                        <a:pt x="7346" y="239"/>
                        <a:pt x="7981" y="128"/>
                      </a:cubicBezTo>
                      <a:cubicBezTo>
                        <a:pt x="8615" y="18"/>
                        <a:pt x="9153" y="-11"/>
                        <a:pt x="9909" y="128"/>
                      </a:cubicBezTo>
                      <a:cubicBezTo>
                        <a:pt x="10665" y="268"/>
                        <a:pt x="11479" y="282"/>
                        <a:pt x="12480" y="128"/>
                      </a:cubicBezTo>
                      <a:cubicBezTo>
                        <a:pt x="13482" y="-25"/>
                        <a:pt x="13747" y="362"/>
                        <a:pt x="14195" y="128"/>
                      </a:cubicBezTo>
                      <a:cubicBezTo>
                        <a:pt x="14642" y="-105"/>
                        <a:pt x="16007" y="281"/>
                        <a:pt x="16766" y="128"/>
                      </a:cubicBezTo>
                      <a:cubicBezTo>
                        <a:pt x="17525" y="-24"/>
                        <a:pt x="18070" y="197"/>
                        <a:pt x="19337" y="128"/>
                      </a:cubicBezTo>
                      <a:cubicBezTo>
                        <a:pt x="20605" y="60"/>
                        <a:pt x="20463" y="-123"/>
                        <a:pt x="21480" y="128"/>
                      </a:cubicBezTo>
                      <a:cubicBezTo>
                        <a:pt x="21519" y="3504"/>
                        <a:pt x="21520" y="5518"/>
                        <a:pt x="21480" y="7574"/>
                      </a:cubicBezTo>
                      <a:cubicBezTo>
                        <a:pt x="21441" y="9630"/>
                        <a:pt x="21394" y="12321"/>
                        <a:pt x="21480" y="14809"/>
                      </a:cubicBezTo>
                      <a:cubicBezTo>
                        <a:pt x="21566" y="17297"/>
                        <a:pt x="21523" y="19895"/>
                        <a:pt x="21480" y="21201"/>
                      </a:cubicBezTo>
                      <a:cubicBezTo>
                        <a:pt x="20987" y="21326"/>
                        <a:pt x="20111" y="21320"/>
                        <a:pt x="19337" y="21201"/>
                      </a:cubicBezTo>
                      <a:cubicBezTo>
                        <a:pt x="18564" y="21081"/>
                        <a:pt x="18116" y="21123"/>
                        <a:pt x="17623" y="21201"/>
                      </a:cubicBezTo>
                      <a:cubicBezTo>
                        <a:pt x="17131" y="21278"/>
                        <a:pt x="15980" y="21008"/>
                        <a:pt x="15480" y="21201"/>
                      </a:cubicBezTo>
                      <a:cubicBezTo>
                        <a:pt x="14980" y="21393"/>
                        <a:pt x="13762" y="21002"/>
                        <a:pt x="12909" y="21201"/>
                      </a:cubicBezTo>
                      <a:cubicBezTo>
                        <a:pt x="12056" y="21399"/>
                        <a:pt x="11283" y="21014"/>
                        <a:pt x="10766" y="21201"/>
                      </a:cubicBezTo>
                      <a:cubicBezTo>
                        <a:pt x="10250" y="21387"/>
                        <a:pt x="9963" y="21074"/>
                        <a:pt x="9266" y="21201"/>
                      </a:cubicBezTo>
                      <a:cubicBezTo>
                        <a:pt x="8569" y="21327"/>
                        <a:pt x="8233" y="21144"/>
                        <a:pt x="7552" y="21201"/>
                      </a:cubicBezTo>
                      <a:cubicBezTo>
                        <a:pt x="6871" y="21258"/>
                        <a:pt x="5903" y="21109"/>
                        <a:pt x="4981" y="21201"/>
                      </a:cubicBezTo>
                      <a:cubicBezTo>
                        <a:pt x="4058" y="21292"/>
                        <a:pt x="3537" y="21424"/>
                        <a:pt x="2838" y="21201"/>
                      </a:cubicBezTo>
                      <a:cubicBezTo>
                        <a:pt x="2139" y="20978"/>
                        <a:pt x="890" y="21294"/>
                        <a:pt x="52" y="21201"/>
                      </a:cubicBezTo>
                      <a:cubicBezTo>
                        <a:pt x="-34" y="19084"/>
                        <a:pt x="2" y="16536"/>
                        <a:pt x="52" y="14177"/>
                      </a:cubicBezTo>
                      <a:cubicBezTo>
                        <a:pt x="102" y="11817"/>
                        <a:pt x="70" y="10520"/>
                        <a:pt x="52" y="7785"/>
                      </a:cubicBezTo>
                      <a:cubicBezTo>
                        <a:pt x="35" y="5049"/>
                        <a:pt x="120" y="2341"/>
                        <a:pt x="52" y="128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A6A6A6"/>
                      </a:solidFill>
                    </a:defRPr>
                  </a:pPr>
                </a:p>
              </p:txBody>
            </p:sp>
            <p:sp>
              <p:nvSpPr>
                <p:cNvPr id="142" name="Straight Connector 25"/>
                <p:cNvSpPr/>
                <p:nvPr/>
              </p:nvSpPr>
              <p:spPr>
                <a:xfrm flipH="1">
                  <a:off x="9574" y="299990"/>
                  <a:ext cx="3966331" cy="1434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t">
                  <a:noAutofit/>
                </a:bodyPr>
                <a:lstStyle/>
                <a:p>
                  <a:pPr>
                    <a:defRPr sz="1600"/>
                  </a:pPr>
                </a:p>
              </p:txBody>
            </p:sp>
            <p:sp>
              <p:nvSpPr>
                <p:cNvPr id="143" name="TextBox 30"/>
                <p:cNvSpPr txBox="1"/>
                <p:nvPr/>
              </p:nvSpPr>
              <p:spPr>
                <a:xfrm>
                  <a:off x="550042" y="0"/>
                  <a:ext cx="956853" cy="32938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641" tIns="38641" rIns="38641" bIns="38641" numCol="1" anchor="t">
                  <a:noAutofit/>
                </a:bodyPr>
                <a:lstStyle>
                  <a:lvl1pPr>
                    <a:defRPr sz="1600">
                      <a:latin typeface="Gaegu Regular"/>
                      <a:ea typeface="Gaegu Regular"/>
                      <a:cs typeface="Gaegu Regular"/>
                      <a:sym typeface="Gaegu Regular"/>
                    </a:defRPr>
                  </a:lvl1pPr>
                </a:lstStyle>
                <a:p>
                  <a:pPr/>
                  <a:r>
                    <a:t>Terminal</a:t>
                  </a:r>
                </a:p>
              </p:txBody>
            </p:sp>
          </p:grpSp>
          <p:grpSp>
            <p:nvGrpSpPr>
              <p:cNvPr id="147" name="Group 13"/>
              <p:cNvGrpSpPr/>
              <p:nvPr/>
            </p:nvGrpSpPr>
            <p:grpSpPr>
              <a:xfrm>
                <a:off x="76596" y="3115233"/>
                <a:ext cx="1568067" cy="498683"/>
                <a:chOff x="0" y="0"/>
                <a:chExt cx="1568066" cy="498682"/>
              </a:xfrm>
            </p:grpSpPr>
            <p:sp>
              <p:nvSpPr>
                <p:cNvPr id="145" name="TextBox 14"/>
                <p:cNvSpPr txBox="1"/>
                <p:nvPr/>
              </p:nvSpPr>
              <p:spPr>
                <a:xfrm>
                  <a:off x="0" y="0"/>
                  <a:ext cx="723677" cy="49868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641" tIns="38641" rIns="38641" bIns="38641" numCol="1" anchor="t">
                  <a:noAutofit/>
                </a:bodyPr>
                <a:lstStyle/>
                <a:p>
                  <a:pPr>
                    <a:defRPr sz="1200"/>
                  </a:pPr>
                  <a:r>
                    <a:t>Program</a:t>
                  </a:r>
                </a:p>
                <a:p>
                  <a:pPr>
                    <a:defRPr sz="1200"/>
                  </a:pPr>
                  <a:r>
                    <a:t>Counter</a:t>
                  </a:r>
                </a:p>
              </p:txBody>
            </p:sp>
            <p:sp>
              <p:nvSpPr>
                <p:cNvPr id="146" name="Rectangle 16"/>
                <p:cNvSpPr/>
                <p:nvPr/>
              </p:nvSpPr>
              <p:spPr>
                <a:xfrm>
                  <a:off x="717688" y="102984"/>
                  <a:ext cx="850379" cy="31846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38" h="20789" fill="norm" stroke="1" extrusionOk="0">
                      <a:moveTo>
                        <a:pt x="62" y="468"/>
                      </a:moveTo>
                      <a:cubicBezTo>
                        <a:pt x="4396" y="730"/>
                        <a:pt x="7646" y="1130"/>
                        <a:pt x="10536" y="468"/>
                      </a:cubicBezTo>
                      <a:cubicBezTo>
                        <a:pt x="13427" y="-194"/>
                        <a:pt x="18140" y="-118"/>
                        <a:pt x="21438" y="468"/>
                      </a:cubicBezTo>
                      <a:cubicBezTo>
                        <a:pt x="21167" y="4501"/>
                        <a:pt x="21162" y="14670"/>
                        <a:pt x="21438" y="20409"/>
                      </a:cubicBezTo>
                      <a:cubicBezTo>
                        <a:pt x="19153" y="20087"/>
                        <a:pt x="14888" y="21406"/>
                        <a:pt x="10750" y="20409"/>
                      </a:cubicBezTo>
                      <a:cubicBezTo>
                        <a:pt x="6612" y="19413"/>
                        <a:pt x="3395" y="21240"/>
                        <a:pt x="62" y="20409"/>
                      </a:cubicBezTo>
                      <a:cubicBezTo>
                        <a:pt x="309" y="11565"/>
                        <a:pt x="-162" y="4735"/>
                        <a:pt x="62" y="468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ctr">
                  <a:noAutofit/>
                </a:bodyPr>
                <a:lstStyle/>
                <a:p>
                  <a:pPr algn="ctr">
                    <a:defRPr sz="1600"/>
                  </a:pPr>
                </a:p>
              </p:txBody>
            </p:sp>
          </p:grpSp>
          <p:sp>
            <p:nvSpPr>
              <p:cNvPr id="148" name="Rectangle 37"/>
              <p:cNvSpPr/>
              <p:nvPr/>
            </p:nvSpPr>
            <p:spPr>
              <a:xfrm>
                <a:off x="8457" y="3107818"/>
                <a:ext cx="3003015" cy="15286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61" h="21229" fill="norm" stroke="1" extrusionOk="0">
                    <a:moveTo>
                      <a:pt x="93" y="147"/>
                    </a:moveTo>
                    <a:cubicBezTo>
                      <a:pt x="1527" y="156"/>
                      <a:pt x="2742" y="-188"/>
                      <a:pt x="4144" y="147"/>
                    </a:cubicBezTo>
                    <a:cubicBezTo>
                      <a:pt x="5546" y="482"/>
                      <a:pt x="6786" y="220"/>
                      <a:pt x="7768" y="147"/>
                    </a:cubicBezTo>
                    <a:cubicBezTo>
                      <a:pt x="8751" y="75"/>
                      <a:pt x="11208" y="173"/>
                      <a:pt x="12459" y="147"/>
                    </a:cubicBezTo>
                    <a:cubicBezTo>
                      <a:pt x="13710" y="121"/>
                      <a:pt x="14966" y="-109"/>
                      <a:pt x="16510" y="147"/>
                    </a:cubicBezTo>
                    <a:cubicBezTo>
                      <a:pt x="18054" y="403"/>
                      <a:pt x="19766" y="-280"/>
                      <a:pt x="21414" y="147"/>
                    </a:cubicBezTo>
                    <a:cubicBezTo>
                      <a:pt x="21354" y="3318"/>
                      <a:pt x="21384" y="4316"/>
                      <a:pt x="21414" y="7523"/>
                    </a:cubicBezTo>
                    <a:cubicBezTo>
                      <a:pt x="21444" y="10729"/>
                      <a:pt x="21419" y="12620"/>
                      <a:pt x="21414" y="14481"/>
                    </a:cubicBezTo>
                    <a:cubicBezTo>
                      <a:pt x="21409" y="16341"/>
                      <a:pt x="21522" y="17780"/>
                      <a:pt x="21414" y="21021"/>
                    </a:cubicBezTo>
                    <a:cubicBezTo>
                      <a:pt x="20240" y="21193"/>
                      <a:pt x="18564" y="21099"/>
                      <a:pt x="17576" y="21021"/>
                    </a:cubicBezTo>
                    <a:cubicBezTo>
                      <a:pt x="16588" y="20944"/>
                      <a:pt x="14967" y="20968"/>
                      <a:pt x="13312" y="21021"/>
                    </a:cubicBezTo>
                    <a:cubicBezTo>
                      <a:pt x="11657" y="21075"/>
                      <a:pt x="10619" y="20797"/>
                      <a:pt x="9048" y="21021"/>
                    </a:cubicBezTo>
                    <a:cubicBezTo>
                      <a:pt x="7477" y="21246"/>
                      <a:pt x="6607" y="20723"/>
                      <a:pt x="4997" y="21021"/>
                    </a:cubicBezTo>
                    <a:cubicBezTo>
                      <a:pt x="3387" y="21320"/>
                      <a:pt x="2263" y="21277"/>
                      <a:pt x="93" y="21021"/>
                    </a:cubicBezTo>
                    <a:cubicBezTo>
                      <a:pt x="19" y="19440"/>
                      <a:pt x="-73" y="16863"/>
                      <a:pt x="93" y="13646"/>
                    </a:cubicBezTo>
                    <a:cubicBezTo>
                      <a:pt x="259" y="10429"/>
                      <a:pt x="264" y="7833"/>
                      <a:pt x="93" y="6270"/>
                    </a:cubicBezTo>
                    <a:cubicBezTo>
                      <a:pt x="-78" y="4708"/>
                      <a:pt x="221" y="3023"/>
                      <a:pt x="93" y="147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38641" tIns="38641" rIns="38641" bIns="38641" numCol="1" anchor="ctr">
                <a:noAutofit/>
              </a:bodyPr>
              <a:lstStyle/>
              <a:p>
                <a:pPr algn="ctr">
                  <a:defRPr sz="2000">
                    <a:solidFill>
                      <a:srgbClr val="FFFFFF"/>
                    </a:solidFill>
                  </a:defRPr>
                </a:pPr>
              </a:p>
            </p:txBody>
          </p:sp>
          <p:pic>
            <p:nvPicPr>
              <p:cNvPr id="149" name="Picture 62" descr="Picture 62"/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3186444" y="3160863"/>
                <a:ext cx="422831" cy="15126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50" name="TextBox 10"/>
              <p:cNvSpPr txBox="1"/>
              <p:nvPr/>
            </p:nvSpPr>
            <p:spPr>
              <a:xfrm>
                <a:off x="6098993" y="0"/>
                <a:ext cx="868322" cy="32938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641" tIns="38641" rIns="38641" bIns="38641" numCol="1" anchor="t">
                <a:noAutofit/>
              </a:bodyPr>
              <a:lstStyle>
                <a:lvl1pPr>
                  <a:defRPr sz="1600">
                    <a:latin typeface="Gaegu Regular"/>
                    <a:ea typeface="Gaegu Regular"/>
                    <a:cs typeface="Gaegu Regular"/>
                    <a:sym typeface="Gaegu Regular"/>
                  </a:defRPr>
                </a:lvl1pPr>
              </a:lstStyle>
              <a:p>
                <a:pPr/>
                <a:r>
                  <a:t>Memory</a:t>
                </a:r>
              </a:p>
            </p:txBody>
          </p:sp>
        </p:grpSp>
        <p:sp>
          <p:nvSpPr>
            <p:cNvPr id="152" name="Straight Connector 40"/>
            <p:cNvSpPr/>
            <p:nvPr/>
          </p:nvSpPr>
          <p:spPr>
            <a:xfrm flipV="1">
              <a:off x="3166026" y="3687737"/>
              <a:ext cx="1" cy="18943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t">
              <a:noAutofit/>
            </a:bodyPr>
            <a:lstStyle/>
            <a:p>
              <a:pPr>
                <a:defRPr sz="1600"/>
              </a:pPr>
            </a:p>
          </p:txBody>
        </p:sp>
        <p:grpSp>
          <p:nvGrpSpPr>
            <p:cNvPr id="155" name="Group 19"/>
            <p:cNvGrpSpPr/>
            <p:nvPr/>
          </p:nvGrpSpPr>
          <p:grpSpPr>
            <a:xfrm>
              <a:off x="714015" y="3616436"/>
              <a:ext cx="2224521" cy="274970"/>
              <a:chOff x="-6162" y="0"/>
              <a:chExt cx="2224520" cy="274969"/>
            </a:xfrm>
          </p:grpSpPr>
          <p:sp>
            <p:nvSpPr>
              <p:cNvPr id="153" name="TextBox 21"/>
              <p:cNvSpPr txBox="1"/>
              <p:nvPr/>
            </p:nvSpPr>
            <p:spPr>
              <a:xfrm>
                <a:off x="-6163" y="0"/>
                <a:ext cx="822688" cy="2749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641" tIns="38641" rIns="38641" bIns="38641" numCol="1" anchor="t">
                <a:noAutofit/>
              </a:bodyPr>
              <a:lstStyle>
                <a:lvl1pPr algn="ctr">
                  <a:defRPr sz="1200"/>
                </a:lvl1pPr>
              </a:lstStyle>
              <a:p>
                <a:pPr/>
                <a:r>
                  <a:t>Register 0</a:t>
                </a:r>
              </a:p>
            </p:txBody>
          </p:sp>
          <p:sp>
            <p:nvSpPr>
              <p:cNvPr id="154" name="Rectangle 22"/>
              <p:cNvSpPr/>
              <p:nvPr/>
            </p:nvSpPr>
            <p:spPr>
              <a:xfrm>
                <a:off x="855322" y="26429"/>
                <a:ext cx="1363037" cy="2467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99" h="20332" fill="norm" stroke="1" extrusionOk="0">
                    <a:moveTo>
                      <a:pt x="31" y="364"/>
                    </a:moveTo>
                    <a:cubicBezTo>
                      <a:pt x="2762" y="1659"/>
                      <a:pt x="4299" y="-408"/>
                      <a:pt x="6965" y="364"/>
                    </a:cubicBezTo>
                    <a:cubicBezTo>
                      <a:pt x="9630" y="1136"/>
                      <a:pt x="11326" y="-756"/>
                      <a:pt x="13470" y="364"/>
                    </a:cubicBezTo>
                    <a:cubicBezTo>
                      <a:pt x="15613" y="1484"/>
                      <a:pt x="19369" y="1304"/>
                      <a:pt x="21476" y="364"/>
                    </a:cubicBezTo>
                    <a:cubicBezTo>
                      <a:pt x="21549" y="8786"/>
                      <a:pt x="21420" y="12756"/>
                      <a:pt x="21476" y="19711"/>
                    </a:cubicBezTo>
                    <a:cubicBezTo>
                      <a:pt x="19782" y="20844"/>
                      <a:pt x="16772" y="20167"/>
                      <a:pt x="14757" y="19711"/>
                    </a:cubicBezTo>
                    <a:cubicBezTo>
                      <a:pt x="12742" y="19256"/>
                      <a:pt x="10818" y="20654"/>
                      <a:pt x="7179" y="19711"/>
                    </a:cubicBezTo>
                    <a:cubicBezTo>
                      <a:pt x="3541" y="18768"/>
                      <a:pt x="2819" y="20729"/>
                      <a:pt x="31" y="19711"/>
                    </a:cubicBezTo>
                    <a:cubicBezTo>
                      <a:pt x="-51" y="11606"/>
                      <a:pt x="57" y="5355"/>
                      <a:pt x="31" y="364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38641" tIns="38641" rIns="38641" bIns="38641" numCol="1" anchor="ctr">
                <a:noAutofit/>
              </a:bodyPr>
              <a:lstStyle/>
              <a:p>
                <a:pPr algn="ctr">
                  <a:defRPr sz="1600"/>
                </a:pPr>
              </a:p>
            </p:txBody>
          </p:sp>
        </p:grpSp>
        <p:sp>
          <p:nvSpPr>
            <p:cNvPr id="156" name="TextBox 33"/>
            <p:cNvSpPr txBox="1"/>
            <p:nvPr/>
          </p:nvSpPr>
          <p:spPr>
            <a:xfrm>
              <a:off x="722658" y="3924432"/>
              <a:ext cx="822688" cy="2749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200"/>
              </a:lvl1pPr>
            </a:lstStyle>
            <a:p>
              <a:pPr/>
              <a:r>
                <a:t>Register 1</a:t>
              </a:r>
            </a:p>
          </p:txBody>
        </p:sp>
        <p:sp>
          <p:nvSpPr>
            <p:cNvPr id="157" name="Rectangle 38"/>
            <p:cNvSpPr/>
            <p:nvPr/>
          </p:nvSpPr>
          <p:spPr>
            <a:xfrm>
              <a:off x="1576707" y="3953521"/>
              <a:ext cx="1360509" cy="263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5" h="20012" fill="norm" stroke="1" extrusionOk="0">
                  <a:moveTo>
                    <a:pt x="12" y="791"/>
                  </a:moveTo>
                  <a:cubicBezTo>
                    <a:pt x="3241" y="407"/>
                    <a:pt x="7659" y="781"/>
                    <a:pt x="10557" y="791"/>
                  </a:cubicBezTo>
                  <a:cubicBezTo>
                    <a:pt x="13455" y="800"/>
                    <a:pt x="16772" y="-994"/>
                    <a:pt x="21533" y="791"/>
                  </a:cubicBezTo>
                  <a:cubicBezTo>
                    <a:pt x="21557" y="8082"/>
                    <a:pt x="21370" y="11661"/>
                    <a:pt x="21533" y="18637"/>
                  </a:cubicBezTo>
                  <a:cubicBezTo>
                    <a:pt x="16322" y="19573"/>
                    <a:pt x="13444" y="16668"/>
                    <a:pt x="10772" y="18637"/>
                  </a:cubicBezTo>
                  <a:cubicBezTo>
                    <a:pt x="8100" y="20606"/>
                    <a:pt x="3639" y="20327"/>
                    <a:pt x="12" y="18637"/>
                  </a:cubicBezTo>
                  <a:cubicBezTo>
                    <a:pt x="-43" y="13404"/>
                    <a:pt x="111" y="8672"/>
                    <a:pt x="12" y="791"/>
                  </a:cubicBezTo>
                  <a:close/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158" name="TextBox 39"/>
            <p:cNvSpPr txBox="1"/>
            <p:nvPr/>
          </p:nvSpPr>
          <p:spPr>
            <a:xfrm>
              <a:off x="719332" y="4251600"/>
              <a:ext cx="822688" cy="2749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200"/>
              </a:lvl1pPr>
            </a:lstStyle>
            <a:p>
              <a:pPr/>
              <a:r>
                <a:t>Register 2</a:t>
              </a:r>
            </a:p>
          </p:txBody>
        </p:sp>
        <p:sp>
          <p:nvSpPr>
            <p:cNvPr id="159" name="Rectangle 42"/>
            <p:cNvSpPr/>
            <p:nvPr/>
          </p:nvSpPr>
          <p:spPr>
            <a:xfrm>
              <a:off x="1564737" y="4272046"/>
              <a:ext cx="1360509" cy="263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5" h="20012" fill="norm" stroke="1" extrusionOk="0">
                  <a:moveTo>
                    <a:pt x="12" y="791"/>
                  </a:moveTo>
                  <a:cubicBezTo>
                    <a:pt x="3241" y="407"/>
                    <a:pt x="7659" y="781"/>
                    <a:pt x="10557" y="791"/>
                  </a:cubicBezTo>
                  <a:cubicBezTo>
                    <a:pt x="13455" y="800"/>
                    <a:pt x="16772" y="-994"/>
                    <a:pt x="21533" y="791"/>
                  </a:cubicBezTo>
                  <a:cubicBezTo>
                    <a:pt x="21557" y="8082"/>
                    <a:pt x="21370" y="11661"/>
                    <a:pt x="21533" y="18637"/>
                  </a:cubicBezTo>
                  <a:cubicBezTo>
                    <a:pt x="16322" y="19573"/>
                    <a:pt x="13444" y="16668"/>
                    <a:pt x="10772" y="18637"/>
                  </a:cubicBezTo>
                  <a:cubicBezTo>
                    <a:pt x="8100" y="20606"/>
                    <a:pt x="3639" y="20327"/>
                    <a:pt x="12" y="18637"/>
                  </a:cubicBezTo>
                  <a:cubicBezTo>
                    <a:pt x="-43" y="13404"/>
                    <a:pt x="111" y="8672"/>
                    <a:pt x="12" y="791"/>
                  </a:cubicBezTo>
                  <a:close/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160" name="TextBox 45"/>
            <p:cNvSpPr txBox="1"/>
            <p:nvPr/>
          </p:nvSpPr>
          <p:spPr>
            <a:xfrm>
              <a:off x="2066489" y="571180"/>
              <a:ext cx="4533238" cy="11184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/>
            <a:p>
              <a:pPr marL="300037" indent="-300037">
                <a:buSzPct val="100000"/>
                <a:buAutoNum type="arabicPeriod" startAt="1"/>
                <a:defRPr sz="1400"/>
              </a:pPr>
              <a:r>
                <a:t>open_window(“Test Color", 800, 600);</a:t>
              </a:r>
            </a:p>
            <a:p>
              <a:pPr marL="300037" indent="-300037">
                <a:buSzPct val="100000"/>
                <a:buAutoNum type="arabicPeriod" startAt="1"/>
                <a:defRPr sz="1400">
                  <a:solidFill>
                    <a:srgbClr val="A6A6A6"/>
                  </a:solidFill>
                </a:defRPr>
              </a:pPr>
              <a:r>
                <a:t>clear_screen(COLOR_BLUE);</a:t>
              </a:r>
            </a:p>
            <a:p>
              <a:pPr marL="300037" indent="-300037">
                <a:buSzPct val="100000"/>
                <a:buAutoNum type="arabicPeriod" startAt="1"/>
                <a:defRPr sz="1400">
                  <a:solidFill>
                    <a:srgbClr val="A6A6A6"/>
                  </a:solidFill>
                </a:defRPr>
              </a:pPr>
              <a:r>
                <a:t>refresh_screen();</a:t>
              </a:r>
            </a:p>
            <a:p>
              <a:pPr marL="300037" indent="-300037">
                <a:buSzPct val="100000"/>
                <a:buAutoNum type="arabicPeriod" startAt="1"/>
                <a:defRPr sz="1400">
                  <a:solidFill>
                    <a:srgbClr val="A6A6A6"/>
                  </a:solidFill>
                </a:defRPr>
              </a:pPr>
              <a:r>
                <a:t>delay(5000);</a:t>
              </a:r>
            </a:p>
          </p:txBody>
        </p:sp>
        <p:sp>
          <p:nvSpPr>
            <p:cNvPr id="161" name="TextBox 46"/>
            <p:cNvSpPr txBox="1"/>
            <p:nvPr/>
          </p:nvSpPr>
          <p:spPr>
            <a:xfrm>
              <a:off x="3093495" y="3332980"/>
              <a:ext cx="1330381" cy="336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>
                <a:defRPr sz="1600"/>
              </a:lvl1pPr>
            </a:lstStyle>
            <a:p>
              <a:pPr/>
              <a:r>
                <a:t>./screen-test</a:t>
              </a:r>
            </a:p>
          </p:txBody>
        </p:sp>
        <p:sp>
          <p:nvSpPr>
            <p:cNvPr id="162" name="TextBox 50"/>
            <p:cNvSpPr txBox="1"/>
            <p:nvPr/>
          </p:nvSpPr>
          <p:spPr>
            <a:xfrm>
              <a:off x="847706" y="3189722"/>
              <a:ext cx="739591" cy="336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600"/>
              </a:lvl1pPr>
            </a:lstStyle>
            <a:p>
              <a:pPr/>
              <a:r>
                <a:t>1a </a:t>
              </a:r>
            </a:p>
          </p:txBody>
        </p:sp>
        <p:sp>
          <p:nvSpPr>
            <p:cNvPr id="163" name="TextBox 52"/>
            <p:cNvSpPr txBox="1"/>
            <p:nvPr/>
          </p:nvSpPr>
          <p:spPr>
            <a:xfrm>
              <a:off x="3331081" y="355601"/>
              <a:ext cx="3003805" cy="336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/>
            <a:p>
              <a:pPr>
                <a:defRPr sz="1600">
                  <a:solidFill>
                    <a:srgbClr val="A6A6A6"/>
                  </a:solidFill>
                </a:defRPr>
              </a:pPr>
              <a:r>
                <a:t>d</a:t>
              </a:r>
              <a:r>
                <a:rPr>
                  <a:solidFill>
                    <a:srgbClr val="C55A11"/>
                  </a:solidFill>
                </a:rPr>
                <a:t>            a          </a:t>
              </a:r>
              <a:r>
                <a:t>b     c</a:t>
              </a:r>
            </a:p>
          </p:txBody>
        </p:sp>
        <p:sp>
          <p:nvSpPr>
            <p:cNvPr id="164" name="Curved Connector 3"/>
            <p:cNvSpPr/>
            <p:nvPr/>
          </p:nvSpPr>
          <p:spPr>
            <a:xfrm rot="5400000">
              <a:off x="2170352" y="1646019"/>
              <a:ext cx="2885804" cy="1352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0800" y="0"/>
                    <a:pt x="21600" y="10800"/>
                    <a:pt x="21600" y="21600"/>
                  </a:cubicBezTo>
                </a:path>
              </a:pathLst>
            </a:custGeom>
            <a:noFill/>
            <a:ln w="25400" cap="flat">
              <a:solidFill>
                <a:srgbClr val="C55A11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165" name="TextBox 6"/>
            <p:cNvSpPr txBox="1"/>
            <p:nvPr/>
          </p:nvSpPr>
          <p:spPr>
            <a:xfrm>
              <a:off x="1615063" y="3612361"/>
              <a:ext cx="1276634" cy="2749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>
                <a:defRPr sz="1200"/>
              </a:lvl1pPr>
            </a:lstStyle>
            <a:p>
              <a:pPr/>
              <a:r>
                <a:t>"Test Color"</a:t>
              </a:r>
            </a:p>
          </p:txBody>
        </p:sp>
        <p:sp>
          <p:nvSpPr>
            <p:cNvPr id="166" name="Straight Arrow Connector 18"/>
            <p:cNvSpPr/>
            <p:nvPr/>
          </p:nvSpPr>
          <p:spPr>
            <a:xfrm>
              <a:off x="1684158" y="3372906"/>
              <a:ext cx="340919" cy="12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5400" y="0"/>
                    <a:pt x="10800" y="5400"/>
                    <a:pt x="10800" y="10800"/>
                  </a:cubicBezTo>
                  <a:cubicBezTo>
                    <a:pt x="10800" y="16200"/>
                    <a:pt x="16200" y="21600"/>
                    <a:pt x="21600" y="21600"/>
                  </a:cubicBezTo>
                </a:path>
              </a:pathLst>
            </a:custGeom>
            <a:noFill/>
            <a:ln w="25400" cap="flat">
              <a:solidFill>
                <a:schemeClr val="accent2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167" name="TextBox 32"/>
            <p:cNvSpPr txBox="1"/>
            <p:nvPr/>
          </p:nvSpPr>
          <p:spPr>
            <a:xfrm>
              <a:off x="1969689" y="3181344"/>
              <a:ext cx="978791" cy="336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>
                <a:defRPr sz="1600"/>
              </a:lvl1pPr>
            </a:lstStyle>
            <a:p>
              <a:pPr/>
              <a:r>
                <a:t>1b</a:t>
              </a:r>
            </a:p>
          </p:txBody>
        </p:sp>
        <p:sp>
          <p:nvSpPr>
            <p:cNvPr id="168" name="Straight Arrow Connector 55"/>
            <p:cNvSpPr/>
            <p:nvPr/>
          </p:nvSpPr>
          <p:spPr>
            <a:xfrm rot="16200000">
              <a:off x="436338" y="1538485"/>
              <a:ext cx="2441123" cy="8843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21462" y="21600"/>
                  </a:lnTo>
                </a:path>
              </a:pathLst>
            </a:custGeom>
            <a:noFill/>
            <a:ln w="12700" cap="flat">
              <a:solidFill>
                <a:srgbClr val="000000"/>
              </a:solidFill>
              <a:custDash>
                <a:ds d="300000" sp="400000"/>
              </a:custDash>
              <a:round/>
              <a:tailEnd type="triangle" w="med" len="med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>
                <a:defRPr sz="1600"/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roup"/>
          <p:cNvGrpSpPr/>
          <p:nvPr/>
        </p:nvGrpSpPr>
        <p:grpSpPr>
          <a:xfrm>
            <a:off x="247650" y="196370"/>
            <a:ext cx="7061201" cy="4636460"/>
            <a:chOff x="0" y="0"/>
            <a:chExt cx="7061200" cy="4636458"/>
          </a:xfrm>
        </p:grpSpPr>
        <p:grpSp>
          <p:nvGrpSpPr>
            <p:cNvPr id="187" name="Group 11"/>
            <p:cNvGrpSpPr/>
            <p:nvPr/>
          </p:nvGrpSpPr>
          <p:grpSpPr>
            <a:xfrm>
              <a:off x="0" y="0"/>
              <a:ext cx="7061201" cy="4636459"/>
              <a:chOff x="0" y="0"/>
              <a:chExt cx="7061200" cy="4636459"/>
            </a:xfrm>
          </p:grpSpPr>
          <p:grpSp>
            <p:nvGrpSpPr>
              <p:cNvPr id="173" name="Group 36"/>
              <p:cNvGrpSpPr/>
              <p:nvPr/>
            </p:nvGrpSpPr>
            <p:grpSpPr>
              <a:xfrm>
                <a:off x="140075" y="3804832"/>
                <a:ext cx="550812" cy="781301"/>
                <a:chOff x="0" y="0"/>
                <a:chExt cx="550810" cy="781299"/>
              </a:xfrm>
            </p:grpSpPr>
            <p:pic>
              <p:nvPicPr>
                <p:cNvPr id="171" name="Picture 12" descr="Picture 12"/>
                <p:cNvPicPr>
                  <a:picLocks noChangeAspect="1"/>
                </p:cNvPicPr>
                <p:nvPr/>
              </p:nvPicPr>
              <p:blipFill>
                <a:blip r:embed="rId3">
                  <a:extLst/>
                </a:blip>
                <a:stretch>
                  <a:fillRect/>
                </a:stretch>
              </p:blipFill>
              <p:spPr>
                <a:xfrm>
                  <a:off x="0" y="0"/>
                  <a:ext cx="550811" cy="50597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172" name="TextBox 17"/>
                <p:cNvSpPr txBox="1"/>
                <p:nvPr/>
              </p:nvSpPr>
              <p:spPr>
                <a:xfrm>
                  <a:off x="33409" y="451916"/>
                  <a:ext cx="489144" cy="32938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641" tIns="38641" rIns="38641" bIns="38641" numCol="1" anchor="t">
                  <a:noAutofit/>
                </a:bodyPr>
                <a:lstStyle>
                  <a:lvl1pPr>
                    <a:defRPr sz="1600">
                      <a:latin typeface="Gaegu Regular"/>
                      <a:ea typeface="Gaegu Regular"/>
                      <a:cs typeface="Gaegu Regular"/>
                      <a:sym typeface="Gaegu Regular"/>
                    </a:defRPr>
                  </a:lvl1pPr>
                </a:lstStyle>
                <a:p>
                  <a:pPr/>
                  <a:r>
                    <a:t>CPU</a:t>
                  </a:r>
                </a:p>
              </p:txBody>
            </p:sp>
          </p:grpSp>
          <p:grpSp>
            <p:nvGrpSpPr>
              <p:cNvPr id="176" name="Group 51"/>
              <p:cNvGrpSpPr/>
              <p:nvPr/>
            </p:nvGrpSpPr>
            <p:grpSpPr>
              <a:xfrm>
                <a:off x="0" y="339014"/>
                <a:ext cx="7061201" cy="2623861"/>
                <a:chOff x="0" y="0"/>
                <a:chExt cx="7061200" cy="2623860"/>
              </a:xfrm>
            </p:grpSpPr>
            <p:sp>
              <p:nvSpPr>
                <p:cNvPr id="174" name="Straight Connector 4"/>
                <p:cNvSpPr/>
                <p:nvPr/>
              </p:nvSpPr>
              <p:spPr>
                <a:xfrm flipH="1">
                  <a:off x="1971910" y="34747"/>
                  <a:ext cx="1" cy="2583015"/>
                </a:xfrm>
                <a:prstGeom prst="line">
                  <a:avLst/>
                </a:prstGeom>
                <a:noFill/>
                <a:ln w="3175" cap="flat">
                  <a:solidFill>
                    <a:srgbClr val="808080"/>
                  </a:solidFill>
                  <a:prstDash val="dashDot"/>
                  <a:miter lim="800000"/>
                </a:ln>
                <a:effectLst/>
              </p:spPr>
              <p:txBody>
                <a:bodyPr wrap="square" lIns="38641" tIns="38641" rIns="38641" bIns="38641" numCol="1" anchor="t">
                  <a:noAutofit/>
                </a:bodyPr>
                <a:lstStyle/>
                <a:p>
                  <a:pPr>
                    <a:defRPr sz="1600"/>
                  </a:pPr>
                </a:p>
              </p:txBody>
            </p:sp>
            <p:sp>
              <p:nvSpPr>
                <p:cNvPr id="175" name="Rectangle 20"/>
                <p:cNvSpPr/>
                <p:nvPr/>
              </p:nvSpPr>
              <p:spPr>
                <a:xfrm>
                  <a:off x="0" y="0"/>
                  <a:ext cx="7061201" cy="262386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88" h="21487" fill="norm" stroke="1" extrusionOk="0">
                      <a:moveTo>
                        <a:pt x="53" y="31"/>
                      </a:moveTo>
                      <a:cubicBezTo>
                        <a:pt x="688" y="97"/>
                        <a:pt x="1302" y="95"/>
                        <a:pt x="1784" y="31"/>
                      </a:cubicBezTo>
                      <a:cubicBezTo>
                        <a:pt x="2266" y="-34"/>
                        <a:pt x="2447" y="33"/>
                        <a:pt x="3086" y="31"/>
                      </a:cubicBezTo>
                      <a:cubicBezTo>
                        <a:pt x="3726" y="29"/>
                        <a:pt x="4933" y="61"/>
                        <a:pt x="5458" y="31"/>
                      </a:cubicBezTo>
                      <a:cubicBezTo>
                        <a:pt x="5984" y="0"/>
                        <a:pt x="6833" y="45"/>
                        <a:pt x="7189" y="31"/>
                      </a:cubicBezTo>
                      <a:cubicBezTo>
                        <a:pt x="7544" y="16"/>
                        <a:pt x="8314" y="-30"/>
                        <a:pt x="8919" y="31"/>
                      </a:cubicBezTo>
                      <a:cubicBezTo>
                        <a:pt x="9524" y="92"/>
                        <a:pt x="10434" y="-58"/>
                        <a:pt x="11291" y="31"/>
                      </a:cubicBezTo>
                      <a:cubicBezTo>
                        <a:pt x="12149" y="119"/>
                        <a:pt x="12221" y="35"/>
                        <a:pt x="12808" y="31"/>
                      </a:cubicBezTo>
                      <a:cubicBezTo>
                        <a:pt x="13394" y="26"/>
                        <a:pt x="14112" y="71"/>
                        <a:pt x="15180" y="31"/>
                      </a:cubicBezTo>
                      <a:cubicBezTo>
                        <a:pt x="16248" y="-10"/>
                        <a:pt x="16841" y="20"/>
                        <a:pt x="17552" y="31"/>
                      </a:cubicBezTo>
                      <a:cubicBezTo>
                        <a:pt x="18263" y="41"/>
                        <a:pt x="19031" y="-24"/>
                        <a:pt x="19496" y="31"/>
                      </a:cubicBezTo>
                      <a:cubicBezTo>
                        <a:pt x="19962" y="85"/>
                        <a:pt x="20676" y="92"/>
                        <a:pt x="21440" y="31"/>
                      </a:cubicBezTo>
                      <a:cubicBezTo>
                        <a:pt x="21458" y="623"/>
                        <a:pt x="21354" y="1055"/>
                        <a:pt x="21440" y="1763"/>
                      </a:cubicBezTo>
                      <a:cubicBezTo>
                        <a:pt x="21527" y="2471"/>
                        <a:pt x="21434" y="2599"/>
                        <a:pt x="21440" y="3067"/>
                      </a:cubicBezTo>
                      <a:cubicBezTo>
                        <a:pt x="21447" y="3535"/>
                        <a:pt x="21411" y="4258"/>
                        <a:pt x="21440" y="5013"/>
                      </a:cubicBezTo>
                      <a:cubicBezTo>
                        <a:pt x="21470" y="5767"/>
                        <a:pt x="21385" y="6136"/>
                        <a:pt x="21440" y="6959"/>
                      </a:cubicBezTo>
                      <a:cubicBezTo>
                        <a:pt x="21496" y="7782"/>
                        <a:pt x="21469" y="8275"/>
                        <a:pt x="21440" y="8905"/>
                      </a:cubicBezTo>
                      <a:cubicBezTo>
                        <a:pt x="21412" y="9535"/>
                        <a:pt x="21397" y="10422"/>
                        <a:pt x="21440" y="11065"/>
                      </a:cubicBezTo>
                      <a:cubicBezTo>
                        <a:pt x="21484" y="11708"/>
                        <a:pt x="21503" y="12309"/>
                        <a:pt x="21440" y="13225"/>
                      </a:cubicBezTo>
                      <a:cubicBezTo>
                        <a:pt x="21378" y="14141"/>
                        <a:pt x="21334" y="14310"/>
                        <a:pt x="21440" y="15385"/>
                      </a:cubicBezTo>
                      <a:cubicBezTo>
                        <a:pt x="21547" y="16460"/>
                        <a:pt x="21441" y="16261"/>
                        <a:pt x="21440" y="16689"/>
                      </a:cubicBezTo>
                      <a:cubicBezTo>
                        <a:pt x="21440" y="17117"/>
                        <a:pt x="21399" y="17724"/>
                        <a:pt x="21440" y="18207"/>
                      </a:cubicBezTo>
                      <a:cubicBezTo>
                        <a:pt x="21482" y="18689"/>
                        <a:pt x="21521" y="19893"/>
                        <a:pt x="21440" y="21437"/>
                      </a:cubicBezTo>
                      <a:cubicBezTo>
                        <a:pt x="21059" y="21419"/>
                        <a:pt x="20529" y="21383"/>
                        <a:pt x="19710" y="21437"/>
                      </a:cubicBezTo>
                      <a:cubicBezTo>
                        <a:pt x="18891" y="21492"/>
                        <a:pt x="18254" y="21487"/>
                        <a:pt x="17766" y="21437"/>
                      </a:cubicBezTo>
                      <a:cubicBezTo>
                        <a:pt x="17277" y="21387"/>
                        <a:pt x="16821" y="21499"/>
                        <a:pt x="16463" y="21437"/>
                      </a:cubicBezTo>
                      <a:cubicBezTo>
                        <a:pt x="16105" y="21376"/>
                        <a:pt x="15599" y="21441"/>
                        <a:pt x="15160" y="21437"/>
                      </a:cubicBezTo>
                      <a:cubicBezTo>
                        <a:pt x="14722" y="21434"/>
                        <a:pt x="14040" y="21430"/>
                        <a:pt x="13216" y="21437"/>
                      </a:cubicBezTo>
                      <a:cubicBezTo>
                        <a:pt x="12392" y="21444"/>
                        <a:pt x="12035" y="21479"/>
                        <a:pt x="11700" y="21437"/>
                      </a:cubicBezTo>
                      <a:cubicBezTo>
                        <a:pt x="11364" y="21396"/>
                        <a:pt x="10480" y="21450"/>
                        <a:pt x="9541" y="21437"/>
                      </a:cubicBezTo>
                      <a:cubicBezTo>
                        <a:pt x="8602" y="21425"/>
                        <a:pt x="8447" y="21422"/>
                        <a:pt x="8025" y="21437"/>
                      </a:cubicBezTo>
                      <a:cubicBezTo>
                        <a:pt x="7602" y="21453"/>
                        <a:pt x="6619" y="21333"/>
                        <a:pt x="5867" y="21437"/>
                      </a:cubicBezTo>
                      <a:cubicBezTo>
                        <a:pt x="5115" y="21542"/>
                        <a:pt x="5089" y="21452"/>
                        <a:pt x="4564" y="21437"/>
                      </a:cubicBezTo>
                      <a:cubicBezTo>
                        <a:pt x="4039" y="21423"/>
                        <a:pt x="2859" y="21541"/>
                        <a:pt x="2406" y="21437"/>
                      </a:cubicBezTo>
                      <a:cubicBezTo>
                        <a:pt x="1953" y="21334"/>
                        <a:pt x="604" y="21432"/>
                        <a:pt x="53" y="21437"/>
                      </a:cubicBezTo>
                      <a:cubicBezTo>
                        <a:pt x="106" y="20923"/>
                        <a:pt x="112" y="20560"/>
                        <a:pt x="53" y="20134"/>
                      </a:cubicBezTo>
                      <a:cubicBezTo>
                        <a:pt x="-5" y="19707"/>
                        <a:pt x="-30" y="19043"/>
                        <a:pt x="53" y="18402"/>
                      </a:cubicBezTo>
                      <a:cubicBezTo>
                        <a:pt x="136" y="17760"/>
                        <a:pt x="157" y="16858"/>
                        <a:pt x="53" y="16027"/>
                      </a:cubicBezTo>
                      <a:cubicBezTo>
                        <a:pt x="-51" y="15196"/>
                        <a:pt x="121" y="15079"/>
                        <a:pt x="53" y="14509"/>
                      </a:cubicBezTo>
                      <a:cubicBezTo>
                        <a:pt x="-14" y="13940"/>
                        <a:pt x="25" y="13783"/>
                        <a:pt x="53" y="13206"/>
                      </a:cubicBezTo>
                      <a:cubicBezTo>
                        <a:pt x="81" y="12628"/>
                        <a:pt x="90" y="12222"/>
                        <a:pt x="53" y="11902"/>
                      </a:cubicBezTo>
                      <a:cubicBezTo>
                        <a:pt x="17" y="11581"/>
                        <a:pt x="47" y="10240"/>
                        <a:pt x="53" y="9742"/>
                      </a:cubicBezTo>
                      <a:cubicBezTo>
                        <a:pt x="60" y="9243"/>
                        <a:pt x="36" y="8963"/>
                        <a:pt x="53" y="8438"/>
                      </a:cubicBezTo>
                      <a:cubicBezTo>
                        <a:pt x="70" y="7912"/>
                        <a:pt x="-34" y="6906"/>
                        <a:pt x="53" y="6492"/>
                      </a:cubicBezTo>
                      <a:cubicBezTo>
                        <a:pt x="140" y="6077"/>
                        <a:pt x="46" y="5326"/>
                        <a:pt x="53" y="4974"/>
                      </a:cubicBezTo>
                      <a:cubicBezTo>
                        <a:pt x="61" y="4621"/>
                        <a:pt x="38" y="3703"/>
                        <a:pt x="53" y="3028"/>
                      </a:cubicBezTo>
                      <a:cubicBezTo>
                        <a:pt x="69" y="2352"/>
                        <a:pt x="-53" y="922"/>
                        <a:pt x="53" y="31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  <p:grpSp>
            <p:nvGrpSpPr>
              <p:cNvPr id="180" name="Group 43"/>
              <p:cNvGrpSpPr/>
              <p:nvPr/>
            </p:nvGrpSpPr>
            <p:grpSpPr>
              <a:xfrm>
                <a:off x="3082118" y="3047751"/>
                <a:ext cx="3975905" cy="1582614"/>
                <a:chOff x="0" y="0"/>
                <a:chExt cx="3975904" cy="1582613"/>
              </a:xfrm>
            </p:grpSpPr>
            <p:sp>
              <p:nvSpPr>
                <p:cNvPr id="177" name="Rectangle 2"/>
                <p:cNvSpPr/>
                <p:nvPr/>
              </p:nvSpPr>
              <p:spPr>
                <a:xfrm>
                  <a:off x="0" y="40080"/>
                  <a:ext cx="3973085" cy="154253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29" h="21324" fill="norm" stroke="1" extrusionOk="0">
                      <a:moveTo>
                        <a:pt x="52" y="128"/>
                      </a:moveTo>
                      <a:cubicBezTo>
                        <a:pt x="686" y="189"/>
                        <a:pt x="1311" y="-176"/>
                        <a:pt x="1981" y="128"/>
                      </a:cubicBezTo>
                      <a:cubicBezTo>
                        <a:pt x="2651" y="433"/>
                        <a:pt x="3152" y="353"/>
                        <a:pt x="3481" y="128"/>
                      </a:cubicBezTo>
                      <a:cubicBezTo>
                        <a:pt x="3809" y="-96"/>
                        <a:pt x="4799" y="423"/>
                        <a:pt x="6052" y="128"/>
                      </a:cubicBezTo>
                      <a:cubicBezTo>
                        <a:pt x="7305" y="-166"/>
                        <a:pt x="7346" y="239"/>
                        <a:pt x="7981" y="128"/>
                      </a:cubicBezTo>
                      <a:cubicBezTo>
                        <a:pt x="8615" y="18"/>
                        <a:pt x="9153" y="-11"/>
                        <a:pt x="9909" y="128"/>
                      </a:cubicBezTo>
                      <a:cubicBezTo>
                        <a:pt x="10665" y="268"/>
                        <a:pt x="11479" y="282"/>
                        <a:pt x="12480" y="128"/>
                      </a:cubicBezTo>
                      <a:cubicBezTo>
                        <a:pt x="13482" y="-25"/>
                        <a:pt x="13747" y="362"/>
                        <a:pt x="14195" y="128"/>
                      </a:cubicBezTo>
                      <a:cubicBezTo>
                        <a:pt x="14642" y="-105"/>
                        <a:pt x="16007" y="281"/>
                        <a:pt x="16766" y="128"/>
                      </a:cubicBezTo>
                      <a:cubicBezTo>
                        <a:pt x="17525" y="-24"/>
                        <a:pt x="18070" y="197"/>
                        <a:pt x="19337" y="128"/>
                      </a:cubicBezTo>
                      <a:cubicBezTo>
                        <a:pt x="20605" y="60"/>
                        <a:pt x="20463" y="-123"/>
                        <a:pt x="21480" y="128"/>
                      </a:cubicBezTo>
                      <a:cubicBezTo>
                        <a:pt x="21519" y="3504"/>
                        <a:pt x="21520" y="5518"/>
                        <a:pt x="21480" y="7574"/>
                      </a:cubicBezTo>
                      <a:cubicBezTo>
                        <a:pt x="21441" y="9630"/>
                        <a:pt x="21394" y="12321"/>
                        <a:pt x="21480" y="14809"/>
                      </a:cubicBezTo>
                      <a:cubicBezTo>
                        <a:pt x="21566" y="17297"/>
                        <a:pt x="21523" y="19895"/>
                        <a:pt x="21480" y="21201"/>
                      </a:cubicBezTo>
                      <a:cubicBezTo>
                        <a:pt x="20987" y="21326"/>
                        <a:pt x="20111" y="21320"/>
                        <a:pt x="19337" y="21201"/>
                      </a:cubicBezTo>
                      <a:cubicBezTo>
                        <a:pt x="18564" y="21081"/>
                        <a:pt x="18116" y="21123"/>
                        <a:pt x="17623" y="21201"/>
                      </a:cubicBezTo>
                      <a:cubicBezTo>
                        <a:pt x="17131" y="21278"/>
                        <a:pt x="15980" y="21008"/>
                        <a:pt x="15480" y="21201"/>
                      </a:cubicBezTo>
                      <a:cubicBezTo>
                        <a:pt x="14980" y="21393"/>
                        <a:pt x="13762" y="21002"/>
                        <a:pt x="12909" y="21201"/>
                      </a:cubicBezTo>
                      <a:cubicBezTo>
                        <a:pt x="12056" y="21399"/>
                        <a:pt x="11283" y="21014"/>
                        <a:pt x="10766" y="21201"/>
                      </a:cubicBezTo>
                      <a:cubicBezTo>
                        <a:pt x="10250" y="21387"/>
                        <a:pt x="9963" y="21074"/>
                        <a:pt x="9266" y="21201"/>
                      </a:cubicBezTo>
                      <a:cubicBezTo>
                        <a:pt x="8569" y="21327"/>
                        <a:pt x="8233" y="21144"/>
                        <a:pt x="7552" y="21201"/>
                      </a:cubicBezTo>
                      <a:cubicBezTo>
                        <a:pt x="6871" y="21258"/>
                        <a:pt x="5903" y="21109"/>
                        <a:pt x="4981" y="21201"/>
                      </a:cubicBezTo>
                      <a:cubicBezTo>
                        <a:pt x="4058" y="21292"/>
                        <a:pt x="3537" y="21424"/>
                        <a:pt x="2838" y="21201"/>
                      </a:cubicBezTo>
                      <a:cubicBezTo>
                        <a:pt x="2139" y="20978"/>
                        <a:pt x="890" y="21294"/>
                        <a:pt x="52" y="21201"/>
                      </a:cubicBezTo>
                      <a:cubicBezTo>
                        <a:pt x="-34" y="19084"/>
                        <a:pt x="2" y="16536"/>
                        <a:pt x="52" y="14177"/>
                      </a:cubicBezTo>
                      <a:cubicBezTo>
                        <a:pt x="102" y="11817"/>
                        <a:pt x="70" y="10520"/>
                        <a:pt x="52" y="7785"/>
                      </a:cubicBezTo>
                      <a:cubicBezTo>
                        <a:pt x="35" y="5049"/>
                        <a:pt x="120" y="2341"/>
                        <a:pt x="52" y="128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A6A6A6"/>
                      </a:solidFill>
                    </a:defRPr>
                  </a:pPr>
                </a:p>
              </p:txBody>
            </p:sp>
            <p:sp>
              <p:nvSpPr>
                <p:cNvPr id="178" name="Straight Connector 25"/>
                <p:cNvSpPr/>
                <p:nvPr/>
              </p:nvSpPr>
              <p:spPr>
                <a:xfrm flipH="1">
                  <a:off x="9574" y="299990"/>
                  <a:ext cx="3966331" cy="1434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t">
                  <a:noAutofit/>
                </a:bodyPr>
                <a:lstStyle/>
                <a:p>
                  <a:pPr>
                    <a:defRPr sz="1600"/>
                  </a:pPr>
                </a:p>
              </p:txBody>
            </p:sp>
            <p:sp>
              <p:nvSpPr>
                <p:cNvPr id="179" name="TextBox 30"/>
                <p:cNvSpPr txBox="1"/>
                <p:nvPr/>
              </p:nvSpPr>
              <p:spPr>
                <a:xfrm>
                  <a:off x="550042" y="0"/>
                  <a:ext cx="956853" cy="32938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641" tIns="38641" rIns="38641" bIns="38641" numCol="1" anchor="t">
                  <a:noAutofit/>
                </a:bodyPr>
                <a:lstStyle>
                  <a:lvl1pPr>
                    <a:defRPr sz="1600">
                      <a:latin typeface="Gaegu Regular"/>
                      <a:ea typeface="Gaegu Regular"/>
                      <a:cs typeface="Gaegu Regular"/>
                      <a:sym typeface="Gaegu Regular"/>
                    </a:defRPr>
                  </a:lvl1pPr>
                </a:lstStyle>
                <a:p>
                  <a:pPr/>
                  <a:r>
                    <a:t>Terminal</a:t>
                  </a:r>
                </a:p>
              </p:txBody>
            </p:sp>
          </p:grpSp>
          <p:grpSp>
            <p:nvGrpSpPr>
              <p:cNvPr id="183" name="Group 13"/>
              <p:cNvGrpSpPr/>
              <p:nvPr/>
            </p:nvGrpSpPr>
            <p:grpSpPr>
              <a:xfrm>
                <a:off x="76596" y="3115233"/>
                <a:ext cx="1568067" cy="498683"/>
                <a:chOff x="0" y="0"/>
                <a:chExt cx="1568066" cy="498682"/>
              </a:xfrm>
            </p:grpSpPr>
            <p:sp>
              <p:nvSpPr>
                <p:cNvPr id="181" name="TextBox 14"/>
                <p:cNvSpPr txBox="1"/>
                <p:nvPr/>
              </p:nvSpPr>
              <p:spPr>
                <a:xfrm>
                  <a:off x="0" y="0"/>
                  <a:ext cx="723677" cy="49868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641" tIns="38641" rIns="38641" bIns="38641" numCol="1" anchor="t">
                  <a:noAutofit/>
                </a:bodyPr>
                <a:lstStyle/>
                <a:p>
                  <a:pPr>
                    <a:defRPr sz="1200"/>
                  </a:pPr>
                  <a:r>
                    <a:t>Program</a:t>
                  </a:r>
                </a:p>
                <a:p>
                  <a:pPr>
                    <a:defRPr sz="1200"/>
                  </a:pPr>
                  <a:r>
                    <a:t>Counter</a:t>
                  </a:r>
                </a:p>
              </p:txBody>
            </p:sp>
            <p:sp>
              <p:nvSpPr>
                <p:cNvPr id="182" name="Rectangle 16"/>
                <p:cNvSpPr/>
                <p:nvPr/>
              </p:nvSpPr>
              <p:spPr>
                <a:xfrm>
                  <a:off x="717688" y="102984"/>
                  <a:ext cx="850379" cy="31846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38" h="20789" fill="norm" stroke="1" extrusionOk="0">
                      <a:moveTo>
                        <a:pt x="62" y="468"/>
                      </a:moveTo>
                      <a:cubicBezTo>
                        <a:pt x="4396" y="730"/>
                        <a:pt x="7646" y="1130"/>
                        <a:pt x="10536" y="468"/>
                      </a:cubicBezTo>
                      <a:cubicBezTo>
                        <a:pt x="13427" y="-194"/>
                        <a:pt x="18140" y="-118"/>
                        <a:pt x="21438" y="468"/>
                      </a:cubicBezTo>
                      <a:cubicBezTo>
                        <a:pt x="21167" y="4501"/>
                        <a:pt x="21162" y="14670"/>
                        <a:pt x="21438" y="20409"/>
                      </a:cubicBezTo>
                      <a:cubicBezTo>
                        <a:pt x="19153" y="20087"/>
                        <a:pt x="14888" y="21406"/>
                        <a:pt x="10750" y="20409"/>
                      </a:cubicBezTo>
                      <a:cubicBezTo>
                        <a:pt x="6612" y="19413"/>
                        <a:pt x="3395" y="21240"/>
                        <a:pt x="62" y="20409"/>
                      </a:cubicBezTo>
                      <a:cubicBezTo>
                        <a:pt x="309" y="11565"/>
                        <a:pt x="-162" y="4735"/>
                        <a:pt x="62" y="468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ctr">
                  <a:noAutofit/>
                </a:bodyPr>
                <a:lstStyle/>
                <a:p>
                  <a:pPr algn="ctr">
                    <a:defRPr sz="1600"/>
                  </a:pPr>
                </a:p>
              </p:txBody>
            </p:sp>
          </p:grpSp>
          <p:sp>
            <p:nvSpPr>
              <p:cNvPr id="184" name="Rectangle 37"/>
              <p:cNvSpPr/>
              <p:nvPr/>
            </p:nvSpPr>
            <p:spPr>
              <a:xfrm>
                <a:off x="8457" y="3107818"/>
                <a:ext cx="3003015" cy="15286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61" h="21229" fill="norm" stroke="1" extrusionOk="0">
                    <a:moveTo>
                      <a:pt x="93" y="147"/>
                    </a:moveTo>
                    <a:cubicBezTo>
                      <a:pt x="1527" y="156"/>
                      <a:pt x="2742" y="-188"/>
                      <a:pt x="4144" y="147"/>
                    </a:cubicBezTo>
                    <a:cubicBezTo>
                      <a:pt x="5546" y="482"/>
                      <a:pt x="6786" y="220"/>
                      <a:pt x="7768" y="147"/>
                    </a:cubicBezTo>
                    <a:cubicBezTo>
                      <a:pt x="8751" y="75"/>
                      <a:pt x="11208" y="173"/>
                      <a:pt x="12459" y="147"/>
                    </a:cubicBezTo>
                    <a:cubicBezTo>
                      <a:pt x="13710" y="121"/>
                      <a:pt x="14966" y="-109"/>
                      <a:pt x="16510" y="147"/>
                    </a:cubicBezTo>
                    <a:cubicBezTo>
                      <a:pt x="18054" y="403"/>
                      <a:pt x="19766" y="-280"/>
                      <a:pt x="21414" y="147"/>
                    </a:cubicBezTo>
                    <a:cubicBezTo>
                      <a:pt x="21354" y="3318"/>
                      <a:pt x="21384" y="4316"/>
                      <a:pt x="21414" y="7523"/>
                    </a:cubicBezTo>
                    <a:cubicBezTo>
                      <a:pt x="21444" y="10729"/>
                      <a:pt x="21419" y="12620"/>
                      <a:pt x="21414" y="14481"/>
                    </a:cubicBezTo>
                    <a:cubicBezTo>
                      <a:pt x="21409" y="16341"/>
                      <a:pt x="21522" y="17780"/>
                      <a:pt x="21414" y="21021"/>
                    </a:cubicBezTo>
                    <a:cubicBezTo>
                      <a:pt x="20240" y="21193"/>
                      <a:pt x="18564" y="21099"/>
                      <a:pt x="17576" y="21021"/>
                    </a:cubicBezTo>
                    <a:cubicBezTo>
                      <a:pt x="16588" y="20944"/>
                      <a:pt x="14967" y="20968"/>
                      <a:pt x="13312" y="21021"/>
                    </a:cubicBezTo>
                    <a:cubicBezTo>
                      <a:pt x="11657" y="21075"/>
                      <a:pt x="10619" y="20797"/>
                      <a:pt x="9048" y="21021"/>
                    </a:cubicBezTo>
                    <a:cubicBezTo>
                      <a:pt x="7477" y="21246"/>
                      <a:pt x="6607" y="20723"/>
                      <a:pt x="4997" y="21021"/>
                    </a:cubicBezTo>
                    <a:cubicBezTo>
                      <a:pt x="3387" y="21320"/>
                      <a:pt x="2263" y="21277"/>
                      <a:pt x="93" y="21021"/>
                    </a:cubicBezTo>
                    <a:cubicBezTo>
                      <a:pt x="19" y="19440"/>
                      <a:pt x="-73" y="16863"/>
                      <a:pt x="93" y="13646"/>
                    </a:cubicBezTo>
                    <a:cubicBezTo>
                      <a:pt x="259" y="10429"/>
                      <a:pt x="264" y="7833"/>
                      <a:pt x="93" y="6270"/>
                    </a:cubicBezTo>
                    <a:cubicBezTo>
                      <a:pt x="-78" y="4708"/>
                      <a:pt x="221" y="3023"/>
                      <a:pt x="93" y="147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38641" tIns="38641" rIns="38641" bIns="38641" numCol="1" anchor="ctr">
                <a:noAutofit/>
              </a:bodyPr>
              <a:lstStyle/>
              <a:p>
                <a:pPr algn="ctr">
                  <a:defRPr sz="2000">
                    <a:solidFill>
                      <a:srgbClr val="FFFFFF"/>
                    </a:solidFill>
                  </a:defRPr>
                </a:pPr>
              </a:p>
            </p:txBody>
          </p:sp>
          <p:pic>
            <p:nvPicPr>
              <p:cNvPr id="185" name="Picture 62" descr="Picture 62"/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3186444" y="3160863"/>
                <a:ext cx="422831" cy="15126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86" name="TextBox 10"/>
              <p:cNvSpPr txBox="1"/>
              <p:nvPr/>
            </p:nvSpPr>
            <p:spPr>
              <a:xfrm>
                <a:off x="6098993" y="0"/>
                <a:ext cx="868322" cy="32938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641" tIns="38641" rIns="38641" bIns="38641" numCol="1" anchor="t">
                <a:noAutofit/>
              </a:bodyPr>
              <a:lstStyle>
                <a:lvl1pPr>
                  <a:defRPr sz="1600">
                    <a:latin typeface="Gaegu Regular"/>
                    <a:ea typeface="Gaegu Regular"/>
                    <a:cs typeface="Gaegu Regular"/>
                    <a:sym typeface="Gaegu Regular"/>
                  </a:defRPr>
                </a:lvl1pPr>
              </a:lstStyle>
              <a:p>
                <a:pPr/>
                <a:r>
                  <a:t>Memory</a:t>
                </a:r>
              </a:p>
            </p:txBody>
          </p:sp>
        </p:grpSp>
        <p:sp>
          <p:nvSpPr>
            <p:cNvPr id="188" name="Straight Connector 40"/>
            <p:cNvSpPr/>
            <p:nvPr/>
          </p:nvSpPr>
          <p:spPr>
            <a:xfrm flipV="1">
              <a:off x="3166026" y="3687737"/>
              <a:ext cx="1" cy="18943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t">
              <a:noAutofit/>
            </a:bodyPr>
            <a:lstStyle/>
            <a:p>
              <a:pPr>
                <a:defRPr sz="1600"/>
              </a:pPr>
            </a:p>
          </p:txBody>
        </p:sp>
        <p:grpSp>
          <p:nvGrpSpPr>
            <p:cNvPr id="191" name="Group 19"/>
            <p:cNvGrpSpPr/>
            <p:nvPr/>
          </p:nvGrpSpPr>
          <p:grpSpPr>
            <a:xfrm>
              <a:off x="714015" y="3616436"/>
              <a:ext cx="2224521" cy="274970"/>
              <a:chOff x="-6162" y="0"/>
              <a:chExt cx="2224520" cy="274969"/>
            </a:xfrm>
          </p:grpSpPr>
          <p:sp>
            <p:nvSpPr>
              <p:cNvPr id="189" name="TextBox 21"/>
              <p:cNvSpPr txBox="1"/>
              <p:nvPr/>
            </p:nvSpPr>
            <p:spPr>
              <a:xfrm>
                <a:off x="-6163" y="0"/>
                <a:ext cx="822688" cy="2749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641" tIns="38641" rIns="38641" bIns="38641" numCol="1" anchor="t">
                <a:noAutofit/>
              </a:bodyPr>
              <a:lstStyle>
                <a:lvl1pPr algn="ctr">
                  <a:defRPr sz="1200"/>
                </a:lvl1pPr>
              </a:lstStyle>
              <a:p>
                <a:pPr/>
                <a:r>
                  <a:t>Register 0</a:t>
                </a:r>
              </a:p>
            </p:txBody>
          </p:sp>
          <p:sp>
            <p:nvSpPr>
              <p:cNvPr id="190" name="Rectangle 22"/>
              <p:cNvSpPr/>
              <p:nvPr/>
            </p:nvSpPr>
            <p:spPr>
              <a:xfrm>
                <a:off x="855322" y="26429"/>
                <a:ext cx="1363037" cy="2467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99" h="20332" fill="norm" stroke="1" extrusionOk="0">
                    <a:moveTo>
                      <a:pt x="31" y="364"/>
                    </a:moveTo>
                    <a:cubicBezTo>
                      <a:pt x="2762" y="1659"/>
                      <a:pt x="4299" y="-408"/>
                      <a:pt x="6965" y="364"/>
                    </a:cubicBezTo>
                    <a:cubicBezTo>
                      <a:pt x="9630" y="1136"/>
                      <a:pt x="11326" y="-756"/>
                      <a:pt x="13470" y="364"/>
                    </a:cubicBezTo>
                    <a:cubicBezTo>
                      <a:pt x="15613" y="1484"/>
                      <a:pt x="19369" y="1304"/>
                      <a:pt x="21476" y="364"/>
                    </a:cubicBezTo>
                    <a:cubicBezTo>
                      <a:pt x="21549" y="8786"/>
                      <a:pt x="21420" y="12756"/>
                      <a:pt x="21476" y="19711"/>
                    </a:cubicBezTo>
                    <a:cubicBezTo>
                      <a:pt x="19782" y="20844"/>
                      <a:pt x="16772" y="20167"/>
                      <a:pt x="14757" y="19711"/>
                    </a:cubicBezTo>
                    <a:cubicBezTo>
                      <a:pt x="12742" y="19256"/>
                      <a:pt x="10818" y="20654"/>
                      <a:pt x="7179" y="19711"/>
                    </a:cubicBezTo>
                    <a:cubicBezTo>
                      <a:pt x="3541" y="18768"/>
                      <a:pt x="2819" y="20729"/>
                      <a:pt x="31" y="19711"/>
                    </a:cubicBezTo>
                    <a:cubicBezTo>
                      <a:pt x="-51" y="11606"/>
                      <a:pt x="57" y="5355"/>
                      <a:pt x="31" y="364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38641" tIns="38641" rIns="38641" bIns="38641" numCol="1" anchor="ctr">
                <a:noAutofit/>
              </a:bodyPr>
              <a:lstStyle/>
              <a:p>
                <a:pPr algn="ctr">
                  <a:defRPr sz="1600"/>
                </a:pPr>
              </a:p>
            </p:txBody>
          </p:sp>
        </p:grpSp>
        <p:sp>
          <p:nvSpPr>
            <p:cNvPr id="192" name="TextBox 33"/>
            <p:cNvSpPr txBox="1"/>
            <p:nvPr/>
          </p:nvSpPr>
          <p:spPr>
            <a:xfrm>
              <a:off x="722658" y="3924432"/>
              <a:ext cx="822688" cy="2749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200"/>
              </a:lvl1pPr>
            </a:lstStyle>
            <a:p>
              <a:pPr/>
              <a:r>
                <a:t>Register 1</a:t>
              </a:r>
            </a:p>
          </p:txBody>
        </p:sp>
        <p:sp>
          <p:nvSpPr>
            <p:cNvPr id="193" name="Rectangle 38"/>
            <p:cNvSpPr/>
            <p:nvPr/>
          </p:nvSpPr>
          <p:spPr>
            <a:xfrm>
              <a:off x="1576707" y="3953521"/>
              <a:ext cx="1360509" cy="263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5" h="20012" fill="norm" stroke="1" extrusionOk="0">
                  <a:moveTo>
                    <a:pt x="12" y="791"/>
                  </a:moveTo>
                  <a:cubicBezTo>
                    <a:pt x="3241" y="407"/>
                    <a:pt x="7659" y="781"/>
                    <a:pt x="10557" y="791"/>
                  </a:cubicBezTo>
                  <a:cubicBezTo>
                    <a:pt x="13455" y="800"/>
                    <a:pt x="16772" y="-994"/>
                    <a:pt x="21533" y="791"/>
                  </a:cubicBezTo>
                  <a:cubicBezTo>
                    <a:pt x="21557" y="8082"/>
                    <a:pt x="21370" y="11661"/>
                    <a:pt x="21533" y="18637"/>
                  </a:cubicBezTo>
                  <a:cubicBezTo>
                    <a:pt x="16322" y="19573"/>
                    <a:pt x="13444" y="16668"/>
                    <a:pt x="10772" y="18637"/>
                  </a:cubicBezTo>
                  <a:cubicBezTo>
                    <a:pt x="8100" y="20606"/>
                    <a:pt x="3639" y="20327"/>
                    <a:pt x="12" y="18637"/>
                  </a:cubicBezTo>
                  <a:cubicBezTo>
                    <a:pt x="-43" y="13404"/>
                    <a:pt x="111" y="8672"/>
                    <a:pt x="12" y="791"/>
                  </a:cubicBezTo>
                  <a:close/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194" name="TextBox 39"/>
            <p:cNvSpPr txBox="1"/>
            <p:nvPr/>
          </p:nvSpPr>
          <p:spPr>
            <a:xfrm>
              <a:off x="719332" y="4251600"/>
              <a:ext cx="822688" cy="2749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200"/>
              </a:lvl1pPr>
            </a:lstStyle>
            <a:p>
              <a:pPr/>
              <a:r>
                <a:t>Register 2</a:t>
              </a:r>
            </a:p>
          </p:txBody>
        </p:sp>
        <p:sp>
          <p:nvSpPr>
            <p:cNvPr id="195" name="Rectangle 42"/>
            <p:cNvSpPr/>
            <p:nvPr/>
          </p:nvSpPr>
          <p:spPr>
            <a:xfrm>
              <a:off x="1564737" y="4272046"/>
              <a:ext cx="1360509" cy="263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5" h="20012" fill="norm" stroke="1" extrusionOk="0">
                  <a:moveTo>
                    <a:pt x="12" y="791"/>
                  </a:moveTo>
                  <a:cubicBezTo>
                    <a:pt x="3241" y="407"/>
                    <a:pt x="7659" y="781"/>
                    <a:pt x="10557" y="791"/>
                  </a:cubicBezTo>
                  <a:cubicBezTo>
                    <a:pt x="13455" y="800"/>
                    <a:pt x="16772" y="-994"/>
                    <a:pt x="21533" y="791"/>
                  </a:cubicBezTo>
                  <a:cubicBezTo>
                    <a:pt x="21557" y="8082"/>
                    <a:pt x="21370" y="11661"/>
                    <a:pt x="21533" y="18637"/>
                  </a:cubicBezTo>
                  <a:cubicBezTo>
                    <a:pt x="16322" y="19573"/>
                    <a:pt x="13444" y="16668"/>
                    <a:pt x="10772" y="18637"/>
                  </a:cubicBezTo>
                  <a:cubicBezTo>
                    <a:pt x="8100" y="20606"/>
                    <a:pt x="3639" y="20327"/>
                    <a:pt x="12" y="18637"/>
                  </a:cubicBezTo>
                  <a:cubicBezTo>
                    <a:pt x="-43" y="13404"/>
                    <a:pt x="111" y="8672"/>
                    <a:pt x="12" y="791"/>
                  </a:cubicBezTo>
                  <a:close/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196" name="TextBox 45"/>
            <p:cNvSpPr txBox="1"/>
            <p:nvPr/>
          </p:nvSpPr>
          <p:spPr>
            <a:xfrm>
              <a:off x="2066489" y="571180"/>
              <a:ext cx="4533238" cy="11184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/>
            <a:p>
              <a:pPr marL="300037" indent="-300037">
                <a:buSzPct val="100000"/>
                <a:buAutoNum type="arabicPeriod" startAt="1"/>
                <a:defRPr sz="1400"/>
              </a:pPr>
              <a:r>
                <a:t>open_window(“Test Color", 800, 600);</a:t>
              </a:r>
            </a:p>
            <a:p>
              <a:pPr marL="300037" indent="-300037">
                <a:buSzPct val="100000"/>
                <a:buAutoNum type="arabicPeriod" startAt="1"/>
                <a:defRPr sz="1400">
                  <a:solidFill>
                    <a:srgbClr val="A6A6A6"/>
                  </a:solidFill>
                </a:defRPr>
              </a:pPr>
              <a:r>
                <a:t>clear_screen(COLOR_BLUE);</a:t>
              </a:r>
            </a:p>
            <a:p>
              <a:pPr marL="300037" indent="-300037">
                <a:buSzPct val="100000"/>
                <a:buAutoNum type="arabicPeriod" startAt="1"/>
                <a:defRPr sz="1400">
                  <a:solidFill>
                    <a:srgbClr val="A6A6A6"/>
                  </a:solidFill>
                </a:defRPr>
              </a:pPr>
              <a:r>
                <a:t>refresh_screen();</a:t>
              </a:r>
            </a:p>
            <a:p>
              <a:pPr marL="300037" indent="-300037">
                <a:buSzPct val="100000"/>
                <a:buAutoNum type="arabicPeriod" startAt="1"/>
                <a:defRPr sz="1400">
                  <a:solidFill>
                    <a:srgbClr val="A6A6A6"/>
                  </a:solidFill>
                </a:defRPr>
              </a:pPr>
              <a:r>
                <a:t>delay(5000);</a:t>
              </a:r>
            </a:p>
          </p:txBody>
        </p:sp>
        <p:sp>
          <p:nvSpPr>
            <p:cNvPr id="197" name="TextBox 46"/>
            <p:cNvSpPr txBox="1"/>
            <p:nvPr/>
          </p:nvSpPr>
          <p:spPr>
            <a:xfrm>
              <a:off x="3093495" y="3332980"/>
              <a:ext cx="1330381" cy="336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>
                <a:defRPr sz="1600"/>
              </a:lvl1pPr>
            </a:lstStyle>
            <a:p>
              <a:pPr/>
              <a:r>
                <a:t>./screen-test</a:t>
              </a:r>
            </a:p>
          </p:txBody>
        </p:sp>
        <p:sp>
          <p:nvSpPr>
            <p:cNvPr id="198" name="TextBox 50"/>
            <p:cNvSpPr txBox="1"/>
            <p:nvPr/>
          </p:nvSpPr>
          <p:spPr>
            <a:xfrm>
              <a:off x="847706" y="3189722"/>
              <a:ext cx="739591" cy="336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600"/>
              </a:lvl1pPr>
            </a:lstStyle>
            <a:p>
              <a:pPr/>
              <a:r>
                <a:t>1b </a:t>
              </a:r>
            </a:p>
          </p:txBody>
        </p:sp>
        <p:sp>
          <p:nvSpPr>
            <p:cNvPr id="199" name="TextBox 52"/>
            <p:cNvSpPr txBox="1"/>
            <p:nvPr/>
          </p:nvSpPr>
          <p:spPr>
            <a:xfrm>
              <a:off x="3331081" y="355601"/>
              <a:ext cx="3003805" cy="336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/>
            <a:p>
              <a:pPr>
                <a:defRPr sz="1600">
                  <a:solidFill>
                    <a:srgbClr val="A6A6A6"/>
                  </a:solidFill>
                </a:defRPr>
              </a:pPr>
              <a:r>
                <a:t>d            a          b</a:t>
              </a:r>
              <a:r>
                <a:rPr>
                  <a:solidFill>
                    <a:srgbClr val="C55A11"/>
                  </a:solidFill>
                </a:rPr>
                <a:t>     </a:t>
              </a:r>
              <a:r>
                <a:rPr>
                  <a:solidFill>
                    <a:schemeClr val="accent3"/>
                  </a:solidFill>
                </a:rPr>
                <a:t>c</a:t>
              </a:r>
            </a:p>
          </p:txBody>
        </p:sp>
        <p:sp>
          <p:nvSpPr>
            <p:cNvPr id="200" name="Curved Connector 3"/>
            <p:cNvSpPr/>
            <p:nvPr/>
          </p:nvSpPr>
          <p:spPr>
            <a:xfrm rot="5400000">
              <a:off x="2262745" y="1560835"/>
              <a:ext cx="3200103" cy="18370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0800" y="0"/>
                    <a:pt x="21600" y="10800"/>
                    <a:pt x="21600" y="21600"/>
                  </a:cubicBezTo>
                </a:path>
              </a:pathLst>
            </a:custGeom>
            <a:noFill/>
            <a:ln w="25400" cap="flat">
              <a:solidFill>
                <a:srgbClr val="C55A11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201" name="TextBox 6"/>
            <p:cNvSpPr txBox="1"/>
            <p:nvPr/>
          </p:nvSpPr>
          <p:spPr>
            <a:xfrm>
              <a:off x="1615063" y="3612361"/>
              <a:ext cx="1276634" cy="2749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>
                <a:defRPr sz="1200"/>
              </a:lvl1pPr>
            </a:lstStyle>
            <a:p>
              <a:pPr/>
              <a:r>
                <a:t>"Test Color"</a:t>
              </a:r>
            </a:p>
          </p:txBody>
        </p:sp>
        <p:sp>
          <p:nvSpPr>
            <p:cNvPr id="202" name="Straight Arrow Connector 18"/>
            <p:cNvSpPr/>
            <p:nvPr/>
          </p:nvSpPr>
          <p:spPr>
            <a:xfrm>
              <a:off x="1684158" y="3372906"/>
              <a:ext cx="340919" cy="12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5400" y="0"/>
                    <a:pt x="10800" y="5400"/>
                    <a:pt x="10800" y="10800"/>
                  </a:cubicBezTo>
                  <a:cubicBezTo>
                    <a:pt x="10800" y="16200"/>
                    <a:pt x="16200" y="21600"/>
                    <a:pt x="21600" y="21600"/>
                  </a:cubicBezTo>
                </a:path>
              </a:pathLst>
            </a:custGeom>
            <a:noFill/>
            <a:ln w="25400" cap="flat">
              <a:solidFill>
                <a:schemeClr val="accent2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203" name="TextBox 27"/>
            <p:cNvSpPr txBox="1"/>
            <p:nvPr/>
          </p:nvSpPr>
          <p:spPr>
            <a:xfrm>
              <a:off x="1969689" y="3181344"/>
              <a:ext cx="978791" cy="336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>
                <a:defRPr sz="1600"/>
              </a:lvl1pPr>
            </a:lstStyle>
            <a:p>
              <a:pPr/>
              <a:r>
                <a:t>1c</a:t>
              </a:r>
            </a:p>
          </p:txBody>
        </p:sp>
        <p:sp>
          <p:nvSpPr>
            <p:cNvPr id="204" name="TextBox 5"/>
            <p:cNvSpPr txBox="1"/>
            <p:nvPr/>
          </p:nvSpPr>
          <p:spPr>
            <a:xfrm>
              <a:off x="1622270" y="3926663"/>
              <a:ext cx="1276634" cy="2749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200"/>
              </a:lvl1pPr>
            </a:lstStyle>
            <a:p>
              <a:pPr/>
              <a:r>
                <a:t>800</a:t>
              </a:r>
            </a:p>
          </p:txBody>
        </p:sp>
        <p:sp>
          <p:nvSpPr>
            <p:cNvPr id="205" name="Straight Arrow Connector 55"/>
            <p:cNvSpPr/>
            <p:nvPr/>
          </p:nvSpPr>
          <p:spPr>
            <a:xfrm rot="16200000">
              <a:off x="436338" y="1538485"/>
              <a:ext cx="2441123" cy="8843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21462" y="21600"/>
                  </a:lnTo>
                </a:path>
              </a:pathLst>
            </a:custGeom>
            <a:noFill/>
            <a:ln w="12700" cap="flat">
              <a:solidFill>
                <a:srgbClr val="000000"/>
              </a:solidFill>
              <a:custDash>
                <a:ds d="300000" sp="400000"/>
              </a:custDash>
              <a:round/>
              <a:tailEnd type="triangle" w="med" len="med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>
                <a:defRPr sz="1600"/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roup"/>
          <p:cNvGrpSpPr/>
          <p:nvPr/>
        </p:nvGrpSpPr>
        <p:grpSpPr>
          <a:xfrm>
            <a:off x="247650" y="196370"/>
            <a:ext cx="7061201" cy="4636460"/>
            <a:chOff x="0" y="0"/>
            <a:chExt cx="7061200" cy="4636458"/>
          </a:xfrm>
        </p:grpSpPr>
        <p:grpSp>
          <p:nvGrpSpPr>
            <p:cNvPr id="224" name="Group 11"/>
            <p:cNvGrpSpPr/>
            <p:nvPr/>
          </p:nvGrpSpPr>
          <p:grpSpPr>
            <a:xfrm>
              <a:off x="0" y="0"/>
              <a:ext cx="7061201" cy="4636459"/>
              <a:chOff x="0" y="0"/>
              <a:chExt cx="7061200" cy="4636459"/>
            </a:xfrm>
          </p:grpSpPr>
          <p:grpSp>
            <p:nvGrpSpPr>
              <p:cNvPr id="210" name="Group 36"/>
              <p:cNvGrpSpPr/>
              <p:nvPr/>
            </p:nvGrpSpPr>
            <p:grpSpPr>
              <a:xfrm>
                <a:off x="140075" y="3804832"/>
                <a:ext cx="550812" cy="781301"/>
                <a:chOff x="0" y="0"/>
                <a:chExt cx="550810" cy="781299"/>
              </a:xfrm>
            </p:grpSpPr>
            <p:pic>
              <p:nvPicPr>
                <p:cNvPr id="208" name="Picture 12" descr="Picture 12"/>
                <p:cNvPicPr>
                  <a:picLocks noChangeAspect="1"/>
                </p:cNvPicPr>
                <p:nvPr/>
              </p:nvPicPr>
              <p:blipFill>
                <a:blip r:embed="rId3">
                  <a:extLst/>
                </a:blip>
                <a:stretch>
                  <a:fillRect/>
                </a:stretch>
              </p:blipFill>
              <p:spPr>
                <a:xfrm>
                  <a:off x="0" y="0"/>
                  <a:ext cx="550811" cy="50597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209" name="TextBox 17"/>
                <p:cNvSpPr txBox="1"/>
                <p:nvPr/>
              </p:nvSpPr>
              <p:spPr>
                <a:xfrm>
                  <a:off x="33409" y="451916"/>
                  <a:ext cx="489144" cy="32938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641" tIns="38641" rIns="38641" bIns="38641" numCol="1" anchor="t">
                  <a:noAutofit/>
                </a:bodyPr>
                <a:lstStyle>
                  <a:lvl1pPr>
                    <a:defRPr sz="1600">
                      <a:latin typeface="Gaegu Regular"/>
                      <a:ea typeface="Gaegu Regular"/>
                      <a:cs typeface="Gaegu Regular"/>
                      <a:sym typeface="Gaegu Regular"/>
                    </a:defRPr>
                  </a:lvl1pPr>
                </a:lstStyle>
                <a:p>
                  <a:pPr/>
                  <a:r>
                    <a:t>CPU</a:t>
                  </a:r>
                </a:p>
              </p:txBody>
            </p:sp>
          </p:grpSp>
          <p:grpSp>
            <p:nvGrpSpPr>
              <p:cNvPr id="213" name="Group 51"/>
              <p:cNvGrpSpPr/>
              <p:nvPr/>
            </p:nvGrpSpPr>
            <p:grpSpPr>
              <a:xfrm>
                <a:off x="0" y="339014"/>
                <a:ext cx="7061201" cy="2623861"/>
                <a:chOff x="0" y="0"/>
                <a:chExt cx="7061200" cy="2623860"/>
              </a:xfrm>
            </p:grpSpPr>
            <p:sp>
              <p:nvSpPr>
                <p:cNvPr id="211" name="Straight Connector 4"/>
                <p:cNvSpPr/>
                <p:nvPr/>
              </p:nvSpPr>
              <p:spPr>
                <a:xfrm flipH="1">
                  <a:off x="1971910" y="34747"/>
                  <a:ext cx="1" cy="2583015"/>
                </a:xfrm>
                <a:prstGeom prst="line">
                  <a:avLst/>
                </a:prstGeom>
                <a:noFill/>
                <a:ln w="3175" cap="flat">
                  <a:solidFill>
                    <a:srgbClr val="808080"/>
                  </a:solidFill>
                  <a:prstDash val="dashDot"/>
                  <a:miter lim="800000"/>
                </a:ln>
                <a:effectLst/>
              </p:spPr>
              <p:txBody>
                <a:bodyPr wrap="square" lIns="38641" tIns="38641" rIns="38641" bIns="38641" numCol="1" anchor="t">
                  <a:noAutofit/>
                </a:bodyPr>
                <a:lstStyle/>
                <a:p>
                  <a:pPr>
                    <a:defRPr sz="1600"/>
                  </a:pPr>
                </a:p>
              </p:txBody>
            </p:sp>
            <p:sp>
              <p:nvSpPr>
                <p:cNvPr id="212" name="Rectangle 20"/>
                <p:cNvSpPr/>
                <p:nvPr/>
              </p:nvSpPr>
              <p:spPr>
                <a:xfrm>
                  <a:off x="0" y="0"/>
                  <a:ext cx="7061201" cy="262386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88" h="21487" fill="norm" stroke="1" extrusionOk="0">
                      <a:moveTo>
                        <a:pt x="53" y="31"/>
                      </a:moveTo>
                      <a:cubicBezTo>
                        <a:pt x="688" y="97"/>
                        <a:pt x="1302" y="95"/>
                        <a:pt x="1784" y="31"/>
                      </a:cubicBezTo>
                      <a:cubicBezTo>
                        <a:pt x="2266" y="-34"/>
                        <a:pt x="2447" y="33"/>
                        <a:pt x="3086" y="31"/>
                      </a:cubicBezTo>
                      <a:cubicBezTo>
                        <a:pt x="3726" y="29"/>
                        <a:pt x="4933" y="61"/>
                        <a:pt x="5458" y="31"/>
                      </a:cubicBezTo>
                      <a:cubicBezTo>
                        <a:pt x="5984" y="0"/>
                        <a:pt x="6833" y="45"/>
                        <a:pt x="7189" y="31"/>
                      </a:cubicBezTo>
                      <a:cubicBezTo>
                        <a:pt x="7544" y="16"/>
                        <a:pt x="8314" y="-30"/>
                        <a:pt x="8919" y="31"/>
                      </a:cubicBezTo>
                      <a:cubicBezTo>
                        <a:pt x="9524" y="92"/>
                        <a:pt x="10434" y="-58"/>
                        <a:pt x="11291" y="31"/>
                      </a:cubicBezTo>
                      <a:cubicBezTo>
                        <a:pt x="12149" y="119"/>
                        <a:pt x="12221" y="35"/>
                        <a:pt x="12808" y="31"/>
                      </a:cubicBezTo>
                      <a:cubicBezTo>
                        <a:pt x="13394" y="26"/>
                        <a:pt x="14112" y="71"/>
                        <a:pt x="15180" y="31"/>
                      </a:cubicBezTo>
                      <a:cubicBezTo>
                        <a:pt x="16248" y="-10"/>
                        <a:pt x="16841" y="20"/>
                        <a:pt x="17552" y="31"/>
                      </a:cubicBezTo>
                      <a:cubicBezTo>
                        <a:pt x="18263" y="41"/>
                        <a:pt x="19031" y="-24"/>
                        <a:pt x="19496" y="31"/>
                      </a:cubicBezTo>
                      <a:cubicBezTo>
                        <a:pt x="19962" y="85"/>
                        <a:pt x="20676" y="92"/>
                        <a:pt x="21440" y="31"/>
                      </a:cubicBezTo>
                      <a:cubicBezTo>
                        <a:pt x="21458" y="623"/>
                        <a:pt x="21354" y="1055"/>
                        <a:pt x="21440" y="1763"/>
                      </a:cubicBezTo>
                      <a:cubicBezTo>
                        <a:pt x="21527" y="2471"/>
                        <a:pt x="21434" y="2599"/>
                        <a:pt x="21440" y="3067"/>
                      </a:cubicBezTo>
                      <a:cubicBezTo>
                        <a:pt x="21447" y="3535"/>
                        <a:pt x="21411" y="4258"/>
                        <a:pt x="21440" y="5013"/>
                      </a:cubicBezTo>
                      <a:cubicBezTo>
                        <a:pt x="21470" y="5767"/>
                        <a:pt x="21385" y="6136"/>
                        <a:pt x="21440" y="6959"/>
                      </a:cubicBezTo>
                      <a:cubicBezTo>
                        <a:pt x="21496" y="7782"/>
                        <a:pt x="21469" y="8275"/>
                        <a:pt x="21440" y="8905"/>
                      </a:cubicBezTo>
                      <a:cubicBezTo>
                        <a:pt x="21412" y="9535"/>
                        <a:pt x="21397" y="10422"/>
                        <a:pt x="21440" y="11065"/>
                      </a:cubicBezTo>
                      <a:cubicBezTo>
                        <a:pt x="21484" y="11708"/>
                        <a:pt x="21503" y="12309"/>
                        <a:pt x="21440" y="13225"/>
                      </a:cubicBezTo>
                      <a:cubicBezTo>
                        <a:pt x="21378" y="14141"/>
                        <a:pt x="21334" y="14310"/>
                        <a:pt x="21440" y="15385"/>
                      </a:cubicBezTo>
                      <a:cubicBezTo>
                        <a:pt x="21547" y="16460"/>
                        <a:pt x="21441" y="16261"/>
                        <a:pt x="21440" y="16689"/>
                      </a:cubicBezTo>
                      <a:cubicBezTo>
                        <a:pt x="21440" y="17117"/>
                        <a:pt x="21399" y="17724"/>
                        <a:pt x="21440" y="18207"/>
                      </a:cubicBezTo>
                      <a:cubicBezTo>
                        <a:pt x="21482" y="18689"/>
                        <a:pt x="21521" y="19893"/>
                        <a:pt x="21440" y="21437"/>
                      </a:cubicBezTo>
                      <a:cubicBezTo>
                        <a:pt x="21059" y="21419"/>
                        <a:pt x="20529" y="21383"/>
                        <a:pt x="19710" y="21437"/>
                      </a:cubicBezTo>
                      <a:cubicBezTo>
                        <a:pt x="18891" y="21492"/>
                        <a:pt x="18254" y="21487"/>
                        <a:pt x="17766" y="21437"/>
                      </a:cubicBezTo>
                      <a:cubicBezTo>
                        <a:pt x="17277" y="21387"/>
                        <a:pt x="16821" y="21499"/>
                        <a:pt x="16463" y="21437"/>
                      </a:cubicBezTo>
                      <a:cubicBezTo>
                        <a:pt x="16105" y="21376"/>
                        <a:pt x="15599" y="21441"/>
                        <a:pt x="15160" y="21437"/>
                      </a:cubicBezTo>
                      <a:cubicBezTo>
                        <a:pt x="14722" y="21434"/>
                        <a:pt x="14040" y="21430"/>
                        <a:pt x="13216" y="21437"/>
                      </a:cubicBezTo>
                      <a:cubicBezTo>
                        <a:pt x="12392" y="21444"/>
                        <a:pt x="12035" y="21479"/>
                        <a:pt x="11700" y="21437"/>
                      </a:cubicBezTo>
                      <a:cubicBezTo>
                        <a:pt x="11364" y="21396"/>
                        <a:pt x="10480" y="21450"/>
                        <a:pt x="9541" y="21437"/>
                      </a:cubicBezTo>
                      <a:cubicBezTo>
                        <a:pt x="8602" y="21425"/>
                        <a:pt x="8447" y="21422"/>
                        <a:pt x="8025" y="21437"/>
                      </a:cubicBezTo>
                      <a:cubicBezTo>
                        <a:pt x="7602" y="21453"/>
                        <a:pt x="6619" y="21333"/>
                        <a:pt x="5867" y="21437"/>
                      </a:cubicBezTo>
                      <a:cubicBezTo>
                        <a:pt x="5115" y="21542"/>
                        <a:pt x="5089" y="21452"/>
                        <a:pt x="4564" y="21437"/>
                      </a:cubicBezTo>
                      <a:cubicBezTo>
                        <a:pt x="4039" y="21423"/>
                        <a:pt x="2859" y="21541"/>
                        <a:pt x="2406" y="21437"/>
                      </a:cubicBezTo>
                      <a:cubicBezTo>
                        <a:pt x="1953" y="21334"/>
                        <a:pt x="604" y="21432"/>
                        <a:pt x="53" y="21437"/>
                      </a:cubicBezTo>
                      <a:cubicBezTo>
                        <a:pt x="106" y="20923"/>
                        <a:pt x="112" y="20560"/>
                        <a:pt x="53" y="20134"/>
                      </a:cubicBezTo>
                      <a:cubicBezTo>
                        <a:pt x="-5" y="19707"/>
                        <a:pt x="-30" y="19043"/>
                        <a:pt x="53" y="18402"/>
                      </a:cubicBezTo>
                      <a:cubicBezTo>
                        <a:pt x="136" y="17760"/>
                        <a:pt x="157" y="16858"/>
                        <a:pt x="53" y="16027"/>
                      </a:cubicBezTo>
                      <a:cubicBezTo>
                        <a:pt x="-51" y="15196"/>
                        <a:pt x="121" y="15079"/>
                        <a:pt x="53" y="14509"/>
                      </a:cubicBezTo>
                      <a:cubicBezTo>
                        <a:pt x="-14" y="13940"/>
                        <a:pt x="25" y="13783"/>
                        <a:pt x="53" y="13206"/>
                      </a:cubicBezTo>
                      <a:cubicBezTo>
                        <a:pt x="81" y="12628"/>
                        <a:pt x="90" y="12222"/>
                        <a:pt x="53" y="11902"/>
                      </a:cubicBezTo>
                      <a:cubicBezTo>
                        <a:pt x="17" y="11581"/>
                        <a:pt x="47" y="10240"/>
                        <a:pt x="53" y="9742"/>
                      </a:cubicBezTo>
                      <a:cubicBezTo>
                        <a:pt x="60" y="9243"/>
                        <a:pt x="36" y="8963"/>
                        <a:pt x="53" y="8438"/>
                      </a:cubicBezTo>
                      <a:cubicBezTo>
                        <a:pt x="70" y="7912"/>
                        <a:pt x="-34" y="6906"/>
                        <a:pt x="53" y="6492"/>
                      </a:cubicBezTo>
                      <a:cubicBezTo>
                        <a:pt x="140" y="6077"/>
                        <a:pt x="46" y="5326"/>
                        <a:pt x="53" y="4974"/>
                      </a:cubicBezTo>
                      <a:cubicBezTo>
                        <a:pt x="61" y="4621"/>
                        <a:pt x="38" y="3703"/>
                        <a:pt x="53" y="3028"/>
                      </a:cubicBezTo>
                      <a:cubicBezTo>
                        <a:pt x="69" y="2352"/>
                        <a:pt x="-53" y="922"/>
                        <a:pt x="53" y="31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  <p:grpSp>
            <p:nvGrpSpPr>
              <p:cNvPr id="217" name="Group 43"/>
              <p:cNvGrpSpPr/>
              <p:nvPr/>
            </p:nvGrpSpPr>
            <p:grpSpPr>
              <a:xfrm>
                <a:off x="3082118" y="3047751"/>
                <a:ext cx="3975905" cy="1582614"/>
                <a:chOff x="0" y="0"/>
                <a:chExt cx="3975904" cy="1582613"/>
              </a:xfrm>
            </p:grpSpPr>
            <p:sp>
              <p:nvSpPr>
                <p:cNvPr id="214" name="Rectangle 2"/>
                <p:cNvSpPr/>
                <p:nvPr/>
              </p:nvSpPr>
              <p:spPr>
                <a:xfrm>
                  <a:off x="0" y="40080"/>
                  <a:ext cx="3973085" cy="154253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29" h="21324" fill="norm" stroke="1" extrusionOk="0">
                      <a:moveTo>
                        <a:pt x="52" y="128"/>
                      </a:moveTo>
                      <a:cubicBezTo>
                        <a:pt x="686" y="189"/>
                        <a:pt x="1311" y="-176"/>
                        <a:pt x="1981" y="128"/>
                      </a:cubicBezTo>
                      <a:cubicBezTo>
                        <a:pt x="2651" y="433"/>
                        <a:pt x="3152" y="353"/>
                        <a:pt x="3481" y="128"/>
                      </a:cubicBezTo>
                      <a:cubicBezTo>
                        <a:pt x="3809" y="-96"/>
                        <a:pt x="4799" y="423"/>
                        <a:pt x="6052" y="128"/>
                      </a:cubicBezTo>
                      <a:cubicBezTo>
                        <a:pt x="7305" y="-166"/>
                        <a:pt x="7346" y="239"/>
                        <a:pt x="7981" y="128"/>
                      </a:cubicBezTo>
                      <a:cubicBezTo>
                        <a:pt x="8615" y="18"/>
                        <a:pt x="9153" y="-11"/>
                        <a:pt x="9909" y="128"/>
                      </a:cubicBezTo>
                      <a:cubicBezTo>
                        <a:pt x="10665" y="268"/>
                        <a:pt x="11479" y="282"/>
                        <a:pt x="12480" y="128"/>
                      </a:cubicBezTo>
                      <a:cubicBezTo>
                        <a:pt x="13482" y="-25"/>
                        <a:pt x="13747" y="362"/>
                        <a:pt x="14195" y="128"/>
                      </a:cubicBezTo>
                      <a:cubicBezTo>
                        <a:pt x="14642" y="-105"/>
                        <a:pt x="16007" y="281"/>
                        <a:pt x="16766" y="128"/>
                      </a:cubicBezTo>
                      <a:cubicBezTo>
                        <a:pt x="17525" y="-24"/>
                        <a:pt x="18070" y="197"/>
                        <a:pt x="19337" y="128"/>
                      </a:cubicBezTo>
                      <a:cubicBezTo>
                        <a:pt x="20605" y="60"/>
                        <a:pt x="20463" y="-123"/>
                        <a:pt x="21480" y="128"/>
                      </a:cubicBezTo>
                      <a:cubicBezTo>
                        <a:pt x="21519" y="3504"/>
                        <a:pt x="21520" y="5518"/>
                        <a:pt x="21480" y="7574"/>
                      </a:cubicBezTo>
                      <a:cubicBezTo>
                        <a:pt x="21441" y="9630"/>
                        <a:pt x="21394" y="12321"/>
                        <a:pt x="21480" y="14809"/>
                      </a:cubicBezTo>
                      <a:cubicBezTo>
                        <a:pt x="21566" y="17297"/>
                        <a:pt x="21523" y="19895"/>
                        <a:pt x="21480" y="21201"/>
                      </a:cubicBezTo>
                      <a:cubicBezTo>
                        <a:pt x="20987" y="21326"/>
                        <a:pt x="20111" y="21320"/>
                        <a:pt x="19337" y="21201"/>
                      </a:cubicBezTo>
                      <a:cubicBezTo>
                        <a:pt x="18564" y="21081"/>
                        <a:pt x="18116" y="21123"/>
                        <a:pt x="17623" y="21201"/>
                      </a:cubicBezTo>
                      <a:cubicBezTo>
                        <a:pt x="17131" y="21278"/>
                        <a:pt x="15980" y="21008"/>
                        <a:pt x="15480" y="21201"/>
                      </a:cubicBezTo>
                      <a:cubicBezTo>
                        <a:pt x="14980" y="21393"/>
                        <a:pt x="13762" y="21002"/>
                        <a:pt x="12909" y="21201"/>
                      </a:cubicBezTo>
                      <a:cubicBezTo>
                        <a:pt x="12056" y="21399"/>
                        <a:pt x="11283" y="21014"/>
                        <a:pt x="10766" y="21201"/>
                      </a:cubicBezTo>
                      <a:cubicBezTo>
                        <a:pt x="10250" y="21387"/>
                        <a:pt x="9963" y="21074"/>
                        <a:pt x="9266" y="21201"/>
                      </a:cubicBezTo>
                      <a:cubicBezTo>
                        <a:pt x="8569" y="21327"/>
                        <a:pt x="8233" y="21144"/>
                        <a:pt x="7552" y="21201"/>
                      </a:cubicBezTo>
                      <a:cubicBezTo>
                        <a:pt x="6871" y="21258"/>
                        <a:pt x="5903" y="21109"/>
                        <a:pt x="4981" y="21201"/>
                      </a:cubicBezTo>
                      <a:cubicBezTo>
                        <a:pt x="4058" y="21292"/>
                        <a:pt x="3537" y="21424"/>
                        <a:pt x="2838" y="21201"/>
                      </a:cubicBezTo>
                      <a:cubicBezTo>
                        <a:pt x="2139" y="20978"/>
                        <a:pt x="890" y="21294"/>
                        <a:pt x="52" y="21201"/>
                      </a:cubicBezTo>
                      <a:cubicBezTo>
                        <a:pt x="-34" y="19084"/>
                        <a:pt x="2" y="16536"/>
                        <a:pt x="52" y="14177"/>
                      </a:cubicBezTo>
                      <a:cubicBezTo>
                        <a:pt x="102" y="11817"/>
                        <a:pt x="70" y="10520"/>
                        <a:pt x="52" y="7785"/>
                      </a:cubicBezTo>
                      <a:cubicBezTo>
                        <a:pt x="35" y="5049"/>
                        <a:pt x="120" y="2341"/>
                        <a:pt x="52" y="128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A6A6A6"/>
                      </a:solidFill>
                    </a:defRPr>
                  </a:pPr>
                </a:p>
              </p:txBody>
            </p:sp>
            <p:sp>
              <p:nvSpPr>
                <p:cNvPr id="215" name="Straight Connector 25"/>
                <p:cNvSpPr/>
                <p:nvPr/>
              </p:nvSpPr>
              <p:spPr>
                <a:xfrm flipH="1">
                  <a:off x="9574" y="299990"/>
                  <a:ext cx="3966331" cy="1434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t">
                  <a:noAutofit/>
                </a:bodyPr>
                <a:lstStyle/>
                <a:p>
                  <a:pPr>
                    <a:defRPr sz="1600"/>
                  </a:pPr>
                </a:p>
              </p:txBody>
            </p:sp>
            <p:sp>
              <p:nvSpPr>
                <p:cNvPr id="216" name="TextBox 30"/>
                <p:cNvSpPr txBox="1"/>
                <p:nvPr/>
              </p:nvSpPr>
              <p:spPr>
                <a:xfrm>
                  <a:off x="550042" y="0"/>
                  <a:ext cx="956853" cy="32938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641" tIns="38641" rIns="38641" bIns="38641" numCol="1" anchor="t">
                  <a:noAutofit/>
                </a:bodyPr>
                <a:lstStyle>
                  <a:lvl1pPr>
                    <a:defRPr sz="1600">
                      <a:latin typeface="Gaegu Regular"/>
                      <a:ea typeface="Gaegu Regular"/>
                      <a:cs typeface="Gaegu Regular"/>
                      <a:sym typeface="Gaegu Regular"/>
                    </a:defRPr>
                  </a:lvl1pPr>
                </a:lstStyle>
                <a:p>
                  <a:pPr/>
                  <a:r>
                    <a:t>Terminal</a:t>
                  </a:r>
                </a:p>
              </p:txBody>
            </p:sp>
          </p:grpSp>
          <p:grpSp>
            <p:nvGrpSpPr>
              <p:cNvPr id="220" name="Group 13"/>
              <p:cNvGrpSpPr/>
              <p:nvPr/>
            </p:nvGrpSpPr>
            <p:grpSpPr>
              <a:xfrm>
                <a:off x="76596" y="3115233"/>
                <a:ext cx="1568067" cy="498683"/>
                <a:chOff x="0" y="0"/>
                <a:chExt cx="1568066" cy="498682"/>
              </a:xfrm>
            </p:grpSpPr>
            <p:sp>
              <p:nvSpPr>
                <p:cNvPr id="218" name="TextBox 14"/>
                <p:cNvSpPr txBox="1"/>
                <p:nvPr/>
              </p:nvSpPr>
              <p:spPr>
                <a:xfrm>
                  <a:off x="0" y="0"/>
                  <a:ext cx="723677" cy="49868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641" tIns="38641" rIns="38641" bIns="38641" numCol="1" anchor="t">
                  <a:noAutofit/>
                </a:bodyPr>
                <a:lstStyle/>
                <a:p>
                  <a:pPr>
                    <a:defRPr sz="1200"/>
                  </a:pPr>
                  <a:r>
                    <a:t>Program</a:t>
                  </a:r>
                </a:p>
                <a:p>
                  <a:pPr>
                    <a:defRPr sz="1200"/>
                  </a:pPr>
                  <a:r>
                    <a:t>Counter</a:t>
                  </a:r>
                </a:p>
              </p:txBody>
            </p:sp>
            <p:sp>
              <p:nvSpPr>
                <p:cNvPr id="219" name="Rectangle 16"/>
                <p:cNvSpPr/>
                <p:nvPr/>
              </p:nvSpPr>
              <p:spPr>
                <a:xfrm>
                  <a:off x="717688" y="102984"/>
                  <a:ext cx="850379" cy="31846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38" h="20789" fill="norm" stroke="1" extrusionOk="0">
                      <a:moveTo>
                        <a:pt x="62" y="468"/>
                      </a:moveTo>
                      <a:cubicBezTo>
                        <a:pt x="4396" y="730"/>
                        <a:pt x="7646" y="1130"/>
                        <a:pt x="10536" y="468"/>
                      </a:cubicBezTo>
                      <a:cubicBezTo>
                        <a:pt x="13427" y="-194"/>
                        <a:pt x="18140" y="-118"/>
                        <a:pt x="21438" y="468"/>
                      </a:cubicBezTo>
                      <a:cubicBezTo>
                        <a:pt x="21167" y="4501"/>
                        <a:pt x="21162" y="14670"/>
                        <a:pt x="21438" y="20409"/>
                      </a:cubicBezTo>
                      <a:cubicBezTo>
                        <a:pt x="19153" y="20087"/>
                        <a:pt x="14888" y="21406"/>
                        <a:pt x="10750" y="20409"/>
                      </a:cubicBezTo>
                      <a:cubicBezTo>
                        <a:pt x="6612" y="19413"/>
                        <a:pt x="3395" y="21240"/>
                        <a:pt x="62" y="20409"/>
                      </a:cubicBezTo>
                      <a:cubicBezTo>
                        <a:pt x="309" y="11565"/>
                        <a:pt x="-162" y="4735"/>
                        <a:pt x="62" y="468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ctr">
                  <a:noAutofit/>
                </a:bodyPr>
                <a:lstStyle/>
                <a:p>
                  <a:pPr algn="ctr">
                    <a:defRPr sz="1600"/>
                  </a:pPr>
                </a:p>
              </p:txBody>
            </p:sp>
          </p:grpSp>
          <p:sp>
            <p:nvSpPr>
              <p:cNvPr id="221" name="Rectangle 37"/>
              <p:cNvSpPr/>
              <p:nvPr/>
            </p:nvSpPr>
            <p:spPr>
              <a:xfrm>
                <a:off x="8457" y="3107818"/>
                <a:ext cx="3003015" cy="15286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61" h="21229" fill="norm" stroke="1" extrusionOk="0">
                    <a:moveTo>
                      <a:pt x="93" y="147"/>
                    </a:moveTo>
                    <a:cubicBezTo>
                      <a:pt x="1527" y="156"/>
                      <a:pt x="2742" y="-188"/>
                      <a:pt x="4144" y="147"/>
                    </a:cubicBezTo>
                    <a:cubicBezTo>
                      <a:pt x="5546" y="482"/>
                      <a:pt x="6786" y="220"/>
                      <a:pt x="7768" y="147"/>
                    </a:cubicBezTo>
                    <a:cubicBezTo>
                      <a:pt x="8751" y="75"/>
                      <a:pt x="11208" y="173"/>
                      <a:pt x="12459" y="147"/>
                    </a:cubicBezTo>
                    <a:cubicBezTo>
                      <a:pt x="13710" y="121"/>
                      <a:pt x="14966" y="-109"/>
                      <a:pt x="16510" y="147"/>
                    </a:cubicBezTo>
                    <a:cubicBezTo>
                      <a:pt x="18054" y="403"/>
                      <a:pt x="19766" y="-280"/>
                      <a:pt x="21414" y="147"/>
                    </a:cubicBezTo>
                    <a:cubicBezTo>
                      <a:pt x="21354" y="3318"/>
                      <a:pt x="21384" y="4316"/>
                      <a:pt x="21414" y="7523"/>
                    </a:cubicBezTo>
                    <a:cubicBezTo>
                      <a:pt x="21444" y="10729"/>
                      <a:pt x="21419" y="12620"/>
                      <a:pt x="21414" y="14481"/>
                    </a:cubicBezTo>
                    <a:cubicBezTo>
                      <a:pt x="21409" y="16341"/>
                      <a:pt x="21522" y="17780"/>
                      <a:pt x="21414" y="21021"/>
                    </a:cubicBezTo>
                    <a:cubicBezTo>
                      <a:pt x="20240" y="21193"/>
                      <a:pt x="18564" y="21099"/>
                      <a:pt x="17576" y="21021"/>
                    </a:cubicBezTo>
                    <a:cubicBezTo>
                      <a:pt x="16588" y="20944"/>
                      <a:pt x="14967" y="20968"/>
                      <a:pt x="13312" y="21021"/>
                    </a:cubicBezTo>
                    <a:cubicBezTo>
                      <a:pt x="11657" y="21075"/>
                      <a:pt x="10619" y="20797"/>
                      <a:pt x="9048" y="21021"/>
                    </a:cubicBezTo>
                    <a:cubicBezTo>
                      <a:pt x="7477" y="21246"/>
                      <a:pt x="6607" y="20723"/>
                      <a:pt x="4997" y="21021"/>
                    </a:cubicBezTo>
                    <a:cubicBezTo>
                      <a:pt x="3387" y="21320"/>
                      <a:pt x="2263" y="21277"/>
                      <a:pt x="93" y="21021"/>
                    </a:cubicBezTo>
                    <a:cubicBezTo>
                      <a:pt x="19" y="19440"/>
                      <a:pt x="-73" y="16863"/>
                      <a:pt x="93" y="13646"/>
                    </a:cubicBezTo>
                    <a:cubicBezTo>
                      <a:pt x="259" y="10429"/>
                      <a:pt x="264" y="7833"/>
                      <a:pt x="93" y="6270"/>
                    </a:cubicBezTo>
                    <a:cubicBezTo>
                      <a:pt x="-78" y="4708"/>
                      <a:pt x="221" y="3023"/>
                      <a:pt x="93" y="147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38641" tIns="38641" rIns="38641" bIns="38641" numCol="1" anchor="ctr">
                <a:noAutofit/>
              </a:bodyPr>
              <a:lstStyle/>
              <a:p>
                <a:pPr algn="ctr">
                  <a:defRPr sz="2000">
                    <a:solidFill>
                      <a:srgbClr val="FFFFFF"/>
                    </a:solidFill>
                  </a:defRPr>
                </a:pPr>
              </a:p>
            </p:txBody>
          </p:sp>
          <p:pic>
            <p:nvPicPr>
              <p:cNvPr id="222" name="Picture 62" descr="Picture 62"/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3186444" y="3160863"/>
                <a:ext cx="422831" cy="15126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223" name="TextBox 10"/>
              <p:cNvSpPr txBox="1"/>
              <p:nvPr/>
            </p:nvSpPr>
            <p:spPr>
              <a:xfrm>
                <a:off x="6098993" y="0"/>
                <a:ext cx="868322" cy="32938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641" tIns="38641" rIns="38641" bIns="38641" numCol="1" anchor="t">
                <a:noAutofit/>
              </a:bodyPr>
              <a:lstStyle>
                <a:lvl1pPr>
                  <a:defRPr sz="1600">
                    <a:latin typeface="Gaegu Regular"/>
                    <a:ea typeface="Gaegu Regular"/>
                    <a:cs typeface="Gaegu Regular"/>
                    <a:sym typeface="Gaegu Regular"/>
                  </a:defRPr>
                </a:lvl1pPr>
              </a:lstStyle>
              <a:p>
                <a:pPr/>
                <a:r>
                  <a:t>Memory</a:t>
                </a:r>
              </a:p>
            </p:txBody>
          </p:sp>
        </p:grpSp>
        <p:sp>
          <p:nvSpPr>
            <p:cNvPr id="225" name="Straight Connector 40"/>
            <p:cNvSpPr/>
            <p:nvPr/>
          </p:nvSpPr>
          <p:spPr>
            <a:xfrm flipV="1">
              <a:off x="3166026" y="3687737"/>
              <a:ext cx="1" cy="18943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t">
              <a:noAutofit/>
            </a:bodyPr>
            <a:lstStyle/>
            <a:p>
              <a:pPr>
                <a:defRPr sz="1600"/>
              </a:pPr>
            </a:p>
          </p:txBody>
        </p:sp>
        <p:grpSp>
          <p:nvGrpSpPr>
            <p:cNvPr id="228" name="Group 19"/>
            <p:cNvGrpSpPr/>
            <p:nvPr/>
          </p:nvGrpSpPr>
          <p:grpSpPr>
            <a:xfrm>
              <a:off x="714015" y="3616436"/>
              <a:ext cx="2224521" cy="274970"/>
              <a:chOff x="-6162" y="0"/>
              <a:chExt cx="2224520" cy="274969"/>
            </a:xfrm>
          </p:grpSpPr>
          <p:sp>
            <p:nvSpPr>
              <p:cNvPr id="226" name="TextBox 21"/>
              <p:cNvSpPr txBox="1"/>
              <p:nvPr/>
            </p:nvSpPr>
            <p:spPr>
              <a:xfrm>
                <a:off x="-6163" y="0"/>
                <a:ext cx="822688" cy="2749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641" tIns="38641" rIns="38641" bIns="38641" numCol="1" anchor="t">
                <a:noAutofit/>
              </a:bodyPr>
              <a:lstStyle>
                <a:lvl1pPr algn="ctr">
                  <a:defRPr sz="1200"/>
                </a:lvl1pPr>
              </a:lstStyle>
              <a:p>
                <a:pPr/>
                <a:r>
                  <a:t>Register 0</a:t>
                </a:r>
              </a:p>
            </p:txBody>
          </p:sp>
          <p:sp>
            <p:nvSpPr>
              <p:cNvPr id="227" name="Rectangle 22"/>
              <p:cNvSpPr/>
              <p:nvPr/>
            </p:nvSpPr>
            <p:spPr>
              <a:xfrm>
                <a:off x="855322" y="26429"/>
                <a:ext cx="1363037" cy="2467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99" h="20332" fill="norm" stroke="1" extrusionOk="0">
                    <a:moveTo>
                      <a:pt x="31" y="364"/>
                    </a:moveTo>
                    <a:cubicBezTo>
                      <a:pt x="2762" y="1659"/>
                      <a:pt x="4299" y="-408"/>
                      <a:pt x="6965" y="364"/>
                    </a:cubicBezTo>
                    <a:cubicBezTo>
                      <a:pt x="9630" y="1136"/>
                      <a:pt x="11326" y="-756"/>
                      <a:pt x="13470" y="364"/>
                    </a:cubicBezTo>
                    <a:cubicBezTo>
                      <a:pt x="15613" y="1484"/>
                      <a:pt x="19369" y="1304"/>
                      <a:pt x="21476" y="364"/>
                    </a:cubicBezTo>
                    <a:cubicBezTo>
                      <a:pt x="21549" y="8786"/>
                      <a:pt x="21420" y="12756"/>
                      <a:pt x="21476" y="19711"/>
                    </a:cubicBezTo>
                    <a:cubicBezTo>
                      <a:pt x="19782" y="20844"/>
                      <a:pt x="16772" y="20167"/>
                      <a:pt x="14757" y="19711"/>
                    </a:cubicBezTo>
                    <a:cubicBezTo>
                      <a:pt x="12742" y="19256"/>
                      <a:pt x="10818" y="20654"/>
                      <a:pt x="7179" y="19711"/>
                    </a:cubicBezTo>
                    <a:cubicBezTo>
                      <a:pt x="3541" y="18768"/>
                      <a:pt x="2819" y="20729"/>
                      <a:pt x="31" y="19711"/>
                    </a:cubicBezTo>
                    <a:cubicBezTo>
                      <a:pt x="-51" y="11606"/>
                      <a:pt x="57" y="5355"/>
                      <a:pt x="31" y="364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38641" tIns="38641" rIns="38641" bIns="38641" numCol="1" anchor="ctr">
                <a:noAutofit/>
              </a:bodyPr>
              <a:lstStyle/>
              <a:p>
                <a:pPr algn="ctr">
                  <a:defRPr sz="1600"/>
                </a:pPr>
              </a:p>
            </p:txBody>
          </p:sp>
        </p:grpSp>
        <p:sp>
          <p:nvSpPr>
            <p:cNvPr id="229" name="TextBox 33"/>
            <p:cNvSpPr txBox="1"/>
            <p:nvPr/>
          </p:nvSpPr>
          <p:spPr>
            <a:xfrm>
              <a:off x="722658" y="3924432"/>
              <a:ext cx="822688" cy="2749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200"/>
              </a:lvl1pPr>
            </a:lstStyle>
            <a:p>
              <a:pPr/>
              <a:r>
                <a:t>Register 1</a:t>
              </a:r>
            </a:p>
          </p:txBody>
        </p:sp>
        <p:sp>
          <p:nvSpPr>
            <p:cNvPr id="230" name="Rectangle 38"/>
            <p:cNvSpPr/>
            <p:nvPr/>
          </p:nvSpPr>
          <p:spPr>
            <a:xfrm>
              <a:off x="1576707" y="3953521"/>
              <a:ext cx="1360509" cy="263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5" h="20012" fill="norm" stroke="1" extrusionOk="0">
                  <a:moveTo>
                    <a:pt x="12" y="791"/>
                  </a:moveTo>
                  <a:cubicBezTo>
                    <a:pt x="3241" y="407"/>
                    <a:pt x="7659" y="781"/>
                    <a:pt x="10557" y="791"/>
                  </a:cubicBezTo>
                  <a:cubicBezTo>
                    <a:pt x="13455" y="800"/>
                    <a:pt x="16772" y="-994"/>
                    <a:pt x="21533" y="791"/>
                  </a:cubicBezTo>
                  <a:cubicBezTo>
                    <a:pt x="21557" y="8082"/>
                    <a:pt x="21370" y="11661"/>
                    <a:pt x="21533" y="18637"/>
                  </a:cubicBezTo>
                  <a:cubicBezTo>
                    <a:pt x="16322" y="19573"/>
                    <a:pt x="13444" y="16668"/>
                    <a:pt x="10772" y="18637"/>
                  </a:cubicBezTo>
                  <a:cubicBezTo>
                    <a:pt x="8100" y="20606"/>
                    <a:pt x="3639" y="20327"/>
                    <a:pt x="12" y="18637"/>
                  </a:cubicBezTo>
                  <a:cubicBezTo>
                    <a:pt x="-43" y="13404"/>
                    <a:pt x="111" y="8672"/>
                    <a:pt x="12" y="791"/>
                  </a:cubicBezTo>
                  <a:close/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231" name="TextBox 39"/>
            <p:cNvSpPr txBox="1"/>
            <p:nvPr/>
          </p:nvSpPr>
          <p:spPr>
            <a:xfrm>
              <a:off x="719332" y="4251600"/>
              <a:ext cx="822688" cy="2749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200"/>
              </a:lvl1pPr>
            </a:lstStyle>
            <a:p>
              <a:pPr/>
              <a:r>
                <a:t>Register 2</a:t>
              </a:r>
            </a:p>
          </p:txBody>
        </p:sp>
        <p:sp>
          <p:nvSpPr>
            <p:cNvPr id="232" name="Rectangle 42"/>
            <p:cNvSpPr/>
            <p:nvPr/>
          </p:nvSpPr>
          <p:spPr>
            <a:xfrm>
              <a:off x="1564737" y="4272046"/>
              <a:ext cx="1360509" cy="263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5" h="20012" fill="norm" stroke="1" extrusionOk="0">
                  <a:moveTo>
                    <a:pt x="12" y="791"/>
                  </a:moveTo>
                  <a:cubicBezTo>
                    <a:pt x="3241" y="407"/>
                    <a:pt x="7659" y="781"/>
                    <a:pt x="10557" y="791"/>
                  </a:cubicBezTo>
                  <a:cubicBezTo>
                    <a:pt x="13455" y="800"/>
                    <a:pt x="16772" y="-994"/>
                    <a:pt x="21533" y="791"/>
                  </a:cubicBezTo>
                  <a:cubicBezTo>
                    <a:pt x="21557" y="8082"/>
                    <a:pt x="21370" y="11661"/>
                    <a:pt x="21533" y="18637"/>
                  </a:cubicBezTo>
                  <a:cubicBezTo>
                    <a:pt x="16322" y="19573"/>
                    <a:pt x="13444" y="16668"/>
                    <a:pt x="10772" y="18637"/>
                  </a:cubicBezTo>
                  <a:cubicBezTo>
                    <a:pt x="8100" y="20606"/>
                    <a:pt x="3639" y="20327"/>
                    <a:pt x="12" y="18637"/>
                  </a:cubicBezTo>
                  <a:cubicBezTo>
                    <a:pt x="-43" y="13404"/>
                    <a:pt x="111" y="8672"/>
                    <a:pt x="12" y="791"/>
                  </a:cubicBezTo>
                  <a:close/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233" name="TextBox 45"/>
            <p:cNvSpPr txBox="1"/>
            <p:nvPr/>
          </p:nvSpPr>
          <p:spPr>
            <a:xfrm>
              <a:off x="2066489" y="571180"/>
              <a:ext cx="4533238" cy="11184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/>
            <a:p>
              <a:pPr marL="300037" indent="-300037">
                <a:buSzPct val="100000"/>
                <a:buAutoNum type="arabicPeriod" startAt="1"/>
                <a:defRPr sz="1400"/>
              </a:pPr>
              <a:r>
                <a:t>open_window(“Test Color", 800, 600);</a:t>
              </a:r>
            </a:p>
            <a:p>
              <a:pPr marL="300037" indent="-300037">
                <a:buSzPct val="100000"/>
                <a:buAutoNum type="arabicPeriod" startAt="1"/>
                <a:defRPr sz="1400">
                  <a:solidFill>
                    <a:srgbClr val="A6A6A6"/>
                  </a:solidFill>
                </a:defRPr>
              </a:pPr>
              <a:r>
                <a:t>clear_screen(COLOR_BLUE);</a:t>
              </a:r>
            </a:p>
            <a:p>
              <a:pPr marL="300037" indent="-300037">
                <a:buSzPct val="100000"/>
                <a:buAutoNum type="arabicPeriod" startAt="1"/>
                <a:defRPr sz="1400">
                  <a:solidFill>
                    <a:srgbClr val="A6A6A6"/>
                  </a:solidFill>
                </a:defRPr>
              </a:pPr>
              <a:r>
                <a:t>refresh_screen();</a:t>
              </a:r>
            </a:p>
            <a:p>
              <a:pPr marL="300037" indent="-300037">
                <a:buSzPct val="100000"/>
                <a:buAutoNum type="arabicPeriod" startAt="1"/>
                <a:defRPr sz="1400">
                  <a:solidFill>
                    <a:srgbClr val="A6A6A6"/>
                  </a:solidFill>
                </a:defRPr>
              </a:pPr>
              <a:r>
                <a:t>delay(5000);</a:t>
              </a:r>
            </a:p>
          </p:txBody>
        </p:sp>
        <p:sp>
          <p:nvSpPr>
            <p:cNvPr id="234" name="TextBox 46"/>
            <p:cNvSpPr txBox="1"/>
            <p:nvPr/>
          </p:nvSpPr>
          <p:spPr>
            <a:xfrm>
              <a:off x="3093495" y="3332980"/>
              <a:ext cx="1330381" cy="336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>
                <a:defRPr sz="1600"/>
              </a:lvl1pPr>
            </a:lstStyle>
            <a:p>
              <a:pPr/>
              <a:r>
                <a:t>./screen-test</a:t>
              </a:r>
            </a:p>
          </p:txBody>
        </p:sp>
        <p:sp>
          <p:nvSpPr>
            <p:cNvPr id="235" name="TextBox 50"/>
            <p:cNvSpPr txBox="1"/>
            <p:nvPr/>
          </p:nvSpPr>
          <p:spPr>
            <a:xfrm>
              <a:off x="847706" y="3189722"/>
              <a:ext cx="739591" cy="336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600"/>
              </a:lvl1pPr>
            </a:lstStyle>
            <a:p>
              <a:pPr/>
              <a:r>
                <a:t>1c </a:t>
              </a:r>
            </a:p>
          </p:txBody>
        </p:sp>
        <p:sp>
          <p:nvSpPr>
            <p:cNvPr id="236" name="TextBox 52"/>
            <p:cNvSpPr txBox="1"/>
            <p:nvPr/>
          </p:nvSpPr>
          <p:spPr>
            <a:xfrm>
              <a:off x="3331081" y="355601"/>
              <a:ext cx="3003805" cy="336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/>
            <a:p>
              <a:pPr>
                <a:defRPr sz="1600">
                  <a:solidFill>
                    <a:srgbClr val="A6A6A6"/>
                  </a:solidFill>
                </a:defRPr>
              </a:pPr>
              <a:r>
                <a:t>d            a          b</a:t>
              </a:r>
              <a:r>
                <a:rPr>
                  <a:solidFill>
                    <a:srgbClr val="C55A11"/>
                  </a:solidFill>
                </a:rPr>
                <a:t>     c</a:t>
              </a:r>
            </a:p>
          </p:txBody>
        </p:sp>
        <p:sp>
          <p:nvSpPr>
            <p:cNvPr id="237" name="TextBox 6"/>
            <p:cNvSpPr txBox="1"/>
            <p:nvPr/>
          </p:nvSpPr>
          <p:spPr>
            <a:xfrm>
              <a:off x="1615063" y="3612361"/>
              <a:ext cx="1276634" cy="2749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>
                <a:defRPr sz="1200"/>
              </a:lvl1pPr>
            </a:lstStyle>
            <a:p>
              <a:pPr/>
              <a:r>
                <a:t>"Test Color"</a:t>
              </a:r>
            </a:p>
          </p:txBody>
        </p:sp>
        <p:sp>
          <p:nvSpPr>
            <p:cNvPr id="238" name="Straight Arrow Connector 18"/>
            <p:cNvSpPr/>
            <p:nvPr/>
          </p:nvSpPr>
          <p:spPr>
            <a:xfrm>
              <a:off x="1684158" y="3372906"/>
              <a:ext cx="340919" cy="12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5400" y="0"/>
                    <a:pt x="10800" y="5400"/>
                    <a:pt x="10800" y="10800"/>
                  </a:cubicBezTo>
                  <a:cubicBezTo>
                    <a:pt x="10800" y="16200"/>
                    <a:pt x="16200" y="21600"/>
                    <a:pt x="21600" y="21600"/>
                  </a:cubicBezTo>
                </a:path>
              </a:pathLst>
            </a:custGeom>
            <a:noFill/>
            <a:ln w="25400" cap="flat">
              <a:solidFill>
                <a:schemeClr val="accent2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239" name="TextBox 27"/>
            <p:cNvSpPr txBox="1"/>
            <p:nvPr/>
          </p:nvSpPr>
          <p:spPr>
            <a:xfrm>
              <a:off x="1969689" y="3181344"/>
              <a:ext cx="978791" cy="336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>
                <a:defRPr sz="1600"/>
              </a:lvl1pPr>
            </a:lstStyle>
            <a:p>
              <a:pPr/>
              <a:r>
                <a:t>1d</a:t>
              </a:r>
            </a:p>
          </p:txBody>
        </p:sp>
        <p:sp>
          <p:nvSpPr>
            <p:cNvPr id="240" name="TextBox 5"/>
            <p:cNvSpPr txBox="1"/>
            <p:nvPr/>
          </p:nvSpPr>
          <p:spPr>
            <a:xfrm>
              <a:off x="1622270" y="3926663"/>
              <a:ext cx="1276634" cy="2749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200"/>
              </a:lvl1pPr>
            </a:lstStyle>
            <a:p>
              <a:pPr/>
              <a:r>
                <a:t>800</a:t>
              </a:r>
            </a:p>
          </p:txBody>
        </p:sp>
        <p:sp>
          <p:nvSpPr>
            <p:cNvPr id="241" name="TextBox 7"/>
            <p:cNvSpPr txBox="1"/>
            <p:nvPr/>
          </p:nvSpPr>
          <p:spPr>
            <a:xfrm>
              <a:off x="1615063" y="4250886"/>
              <a:ext cx="1276634" cy="2749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200"/>
              </a:lvl1pPr>
            </a:lstStyle>
            <a:p>
              <a:pPr/>
              <a:r>
                <a:t>600</a:t>
              </a:r>
            </a:p>
          </p:txBody>
        </p:sp>
        <p:sp>
          <p:nvSpPr>
            <p:cNvPr id="242" name="Curved Connector 23"/>
            <p:cNvSpPr/>
            <p:nvPr/>
          </p:nvSpPr>
          <p:spPr>
            <a:xfrm rot="5400000">
              <a:off x="2313268" y="1503106"/>
              <a:ext cx="3524326" cy="22767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0800" y="0"/>
                    <a:pt x="21600" y="10800"/>
                    <a:pt x="21600" y="21600"/>
                  </a:cubicBezTo>
                </a:path>
              </a:pathLst>
            </a:custGeom>
            <a:noFill/>
            <a:ln w="25400" cap="flat">
              <a:solidFill>
                <a:srgbClr val="C55A11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243" name="Straight Arrow Connector 55"/>
            <p:cNvSpPr/>
            <p:nvPr/>
          </p:nvSpPr>
          <p:spPr>
            <a:xfrm rot="16200000">
              <a:off x="436338" y="1538485"/>
              <a:ext cx="2441123" cy="8843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21462" y="21600"/>
                  </a:lnTo>
                </a:path>
              </a:pathLst>
            </a:custGeom>
            <a:noFill/>
            <a:ln w="12700" cap="flat">
              <a:solidFill>
                <a:srgbClr val="000000"/>
              </a:solidFill>
              <a:custDash>
                <a:ds d="300000" sp="400000"/>
              </a:custDash>
              <a:round/>
              <a:tailEnd type="triangle" w="med" len="med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>
                <a:defRPr sz="1600"/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roup"/>
          <p:cNvGrpSpPr/>
          <p:nvPr/>
        </p:nvGrpSpPr>
        <p:grpSpPr>
          <a:xfrm>
            <a:off x="247650" y="196370"/>
            <a:ext cx="7061201" cy="4636460"/>
            <a:chOff x="0" y="0"/>
            <a:chExt cx="7061200" cy="4636458"/>
          </a:xfrm>
        </p:grpSpPr>
        <p:grpSp>
          <p:nvGrpSpPr>
            <p:cNvPr id="262" name="Group 11"/>
            <p:cNvGrpSpPr/>
            <p:nvPr/>
          </p:nvGrpSpPr>
          <p:grpSpPr>
            <a:xfrm>
              <a:off x="0" y="0"/>
              <a:ext cx="7061201" cy="4636459"/>
              <a:chOff x="0" y="0"/>
              <a:chExt cx="7061200" cy="4636459"/>
            </a:xfrm>
          </p:grpSpPr>
          <p:grpSp>
            <p:nvGrpSpPr>
              <p:cNvPr id="248" name="Group 36"/>
              <p:cNvGrpSpPr/>
              <p:nvPr/>
            </p:nvGrpSpPr>
            <p:grpSpPr>
              <a:xfrm>
                <a:off x="140075" y="3804832"/>
                <a:ext cx="550812" cy="781301"/>
                <a:chOff x="0" y="0"/>
                <a:chExt cx="550810" cy="781299"/>
              </a:xfrm>
            </p:grpSpPr>
            <p:pic>
              <p:nvPicPr>
                <p:cNvPr id="246" name="Picture 12" descr="Picture 12"/>
                <p:cNvPicPr>
                  <a:picLocks noChangeAspect="1"/>
                </p:cNvPicPr>
                <p:nvPr/>
              </p:nvPicPr>
              <p:blipFill>
                <a:blip r:embed="rId3">
                  <a:extLst/>
                </a:blip>
                <a:stretch>
                  <a:fillRect/>
                </a:stretch>
              </p:blipFill>
              <p:spPr>
                <a:xfrm>
                  <a:off x="0" y="0"/>
                  <a:ext cx="550811" cy="50597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247" name="TextBox 17"/>
                <p:cNvSpPr txBox="1"/>
                <p:nvPr/>
              </p:nvSpPr>
              <p:spPr>
                <a:xfrm>
                  <a:off x="33409" y="451916"/>
                  <a:ext cx="489144" cy="32938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641" tIns="38641" rIns="38641" bIns="38641" numCol="1" anchor="t">
                  <a:noAutofit/>
                </a:bodyPr>
                <a:lstStyle>
                  <a:lvl1pPr>
                    <a:defRPr sz="1600">
                      <a:latin typeface="Gaegu Regular"/>
                      <a:ea typeface="Gaegu Regular"/>
                      <a:cs typeface="Gaegu Regular"/>
                      <a:sym typeface="Gaegu Regular"/>
                    </a:defRPr>
                  </a:lvl1pPr>
                </a:lstStyle>
                <a:p>
                  <a:pPr/>
                  <a:r>
                    <a:t>CPU</a:t>
                  </a:r>
                </a:p>
              </p:txBody>
            </p:sp>
          </p:grpSp>
          <p:grpSp>
            <p:nvGrpSpPr>
              <p:cNvPr id="251" name="Group 51"/>
              <p:cNvGrpSpPr/>
              <p:nvPr/>
            </p:nvGrpSpPr>
            <p:grpSpPr>
              <a:xfrm>
                <a:off x="0" y="339014"/>
                <a:ext cx="7061201" cy="2623861"/>
                <a:chOff x="0" y="0"/>
                <a:chExt cx="7061200" cy="2623860"/>
              </a:xfrm>
            </p:grpSpPr>
            <p:sp>
              <p:nvSpPr>
                <p:cNvPr id="249" name="Straight Connector 4"/>
                <p:cNvSpPr/>
                <p:nvPr/>
              </p:nvSpPr>
              <p:spPr>
                <a:xfrm flipH="1">
                  <a:off x="1971910" y="34747"/>
                  <a:ext cx="1" cy="2583015"/>
                </a:xfrm>
                <a:prstGeom prst="line">
                  <a:avLst/>
                </a:prstGeom>
                <a:noFill/>
                <a:ln w="3175" cap="flat">
                  <a:solidFill>
                    <a:srgbClr val="808080"/>
                  </a:solidFill>
                  <a:prstDash val="dashDot"/>
                  <a:miter lim="800000"/>
                </a:ln>
                <a:effectLst/>
              </p:spPr>
              <p:txBody>
                <a:bodyPr wrap="square" lIns="38641" tIns="38641" rIns="38641" bIns="38641" numCol="1" anchor="t">
                  <a:noAutofit/>
                </a:bodyPr>
                <a:lstStyle/>
                <a:p>
                  <a:pPr>
                    <a:defRPr sz="1600"/>
                  </a:pPr>
                </a:p>
              </p:txBody>
            </p:sp>
            <p:sp>
              <p:nvSpPr>
                <p:cNvPr id="250" name="Rectangle 20"/>
                <p:cNvSpPr/>
                <p:nvPr/>
              </p:nvSpPr>
              <p:spPr>
                <a:xfrm>
                  <a:off x="0" y="0"/>
                  <a:ext cx="7061201" cy="262386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88" h="21487" fill="norm" stroke="1" extrusionOk="0">
                      <a:moveTo>
                        <a:pt x="53" y="31"/>
                      </a:moveTo>
                      <a:cubicBezTo>
                        <a:pt x="688" y="97"/>
                        <a:pt x="1302" y="95"/>
                        <a:pt x="1784" y="31"/>
                      </a:cubicBezTo>
                      <a:cubicBezTo>
                        <a:pt x="2266" y="-34"/>
                        <a:pt x="2447" y="33"/>
                        <a:pt x="3086" y="31"/>
                      </a:cubicBezTo>
                      <a:cubicBezTo>
                        <a:pt x="3726" y="29"/>
                        <a:pt x="4933" y="61"/>
                        <a:pt x="5458" y="31"/>
                      </a:cubicBezTo>
                      <a:cubicBezTo>
                        <a:pt x="5984" y="0"/>
                        <a:pt x="6833" y="45"/>
                        <a:pt x="7189" y="31"/>
                      </a:cubicBezTo>
                      <a:cubicBezTo>
                        <a:pt x="7544" y="16"/>
                        <a:pt x="8314" y="-30"/>
                        <a:pt x="8919" y="31"/>
                      </a:cubicBezTo>
                      <a:cubicBezTo>
                        <a:pt x="9524" y="92"/>
                        <a:pt x="10434" y="-58"/>
                        <a:pt x="11291" y="31"/>
                      </a:cubicBezTo>
                      <a:cubicBezTo>
                        <a:pt x="12149" y="119"/>
                        <a:pt x="12221" y="35"/>
                        <a:pt x="12808" y="31"/>
                      </a:cubicBezTo>
                      <a:cubicBezTo>
                        <a:pt x="13394" y="26"/>
                        <a:pt x="14112" y="71"/>
                        <a:pt x="15180" y="31"/>
                      </a:cubicBezTo>
                      <a:cubicBezTo>
                        <a:pt x="16248" y="-10"/>
                        <a:pt x="16841" y="20"/>
                        <a:pt x="17552" y="31"/>
                      </a:cubicBezTo>
                      <a:cubicBezTo>
                        <a:pt x="18263" y="41"/>
                        <a:pt x="19031" y="-24"/>
                        <a:pt x="19496" y="31"/>
                      </a:cubicBezTo>
                      <a:cubicBezTo>
                        <a:pt x="19962" y="85"/>
                        <a:pt x="20676" y="92"/>
                        <a:pt x="21440" y="31"/>
                      </a:cubicBezTo>
                      <a:cubicBezTo>
                        <a:pt x="21458" y="623"/>
                        <a:pt x="21354" y="1055"/>
                        <a:pt x="21440" y="1763"/>
                      </a:cubicBezTo>
                      <a:cubicBezTo>
                        <a:pt x="21527" y="2471"/>
                        <a:pt x="21434" y="2599"/>
                        <a:pt x="21440" y="3067"/>
                      </a:cubicBezTo>
                      <a:cubicBezTo>
                        <a:pt x="21447" y="3535"/>
                        <a:pt x="21411" y="4258"/>
                        <a:pt x="21440" y="5013"/>
                      </a:cubicBezTo>
                      <a:cubicBezTo>
                        <a:pt x="21470" y="5767"/>
                        <a:pt x="21385" y="6136"/>
                        <a:pt x="21440" y="6959"/>
                      </a:cubicBezTo>
                      <a:cubicBezTo>
                        <a:pt x="21496" y="7782"/>
                        <a:pt x="21469" y="8275"/>
                        <a:pt x="21440" y="8905"/>
                      </a:cubicBezTo>
                      <a:cubicBezTo>
                        <a:pt x="21412" y="9535"/>
                        <a:pt x="21397" y="10422"/>
                        <a:pt x="21440" y="11065"/>
                      </a:cubicBezTo>
                      <a:cubicBezTo>
                        <a:pt x="21484" y="11708"/>
                        <a:pt x="21503" y="12309"/>
                        <a:pt x="21440" y="13225"/>
                      </a:cubicBezTo>
                      <a:cubicBezTo>
                        <a:pt x="21378" y="14141"/>
                        <a:pt x="21334" y="14310"/>
                        <a:pt x="21440" y="15385"/>
                      </a:cubicBezTo>
                      <a:cubicBezTo>
                        <a:pt x="21547" y="16460"/>
                        <a:pt x="21441" y="16261"/>
                        <a:pt x="21440" y="16689"/>
                      </a:cubicBezTo>
                      <a:cubicBezTo>
                        <a:pt x="21440" y="17117"/>
                        <a:pt x="21399" y="17724"/>
                        <a:pt x="21440" y="18207"/>
                      </a:cubicBezTo>
                      <a:cubicBezTo>
                        <a:pt x="21482" y="18689"/>
                        <a:pt x="21521" y="19893"/>
                        <a:pt x="21440" y="21437"/>
                      </a:cubicBezTo>
                      <a:cubicBezTo>
                        <a:pt x="21059" y="21419"/>
                        <a:pt x="20529" y="21383"/>
                        <a:pt x="19710" y="21437"/>
                      </a:cubicBezTo>
                      <a:cubicBezTo>
                        <a:pt x="18891" y="21492"/>
                        <a:pt x="18254" y="21487"/>
                        <a:pt x="17766" y="21437"/>
                      </a:cubicBezTo>
                      <a:cubicBezTo>
                        <a:pt x="17277" y="21387"/>
                        <a:pt x="16821" y="21499"/>
                        <a:pt x="16463" y="21437"/>
                      </a:cubicBezTo>
                      <a:cubicBezTo>
                        <a:pt x="16105" y="21376"/>
                        <a:pt x="15599" y="21441"/>
                        <a:pt x="15160" y="21437"/>
                      </a:cubicBezTo>
                      <a:cubicBezTo>
                        <a:pt x="14722" y="21434"/>
                        <a:pt x="14040" y="21430"/>
                        <a:pt x="13216" y="21437"/>
                      </a:cubicBezTo>
                      <a:cubicBezTo>
                        <a:pt x="12392" y="21444"/>
                        <a:pt x="12035" y="21479"/>
                        <a:pt x="11700" y="21437"/>
                      </a:cubicBezTo>
                      <a:cubicBezTo>
                        <a:pt x="11364" y="21396"/>
                        <a:pt x="10480" y="21450"/>
                        <a:pt x="9541" y="21437"/>
                      </a:cubicBezTo>
                      <a:cubicBezTo>
                        <a:pt x="8602" y="21425"/>
                        <a:pt x="8447" y="21422"/>
                        <a:pt x="8025" y="21437"/>
                      </a:cubicBezTo>
                      <a:cubicBezTo>
                        <a:pt x="7602" y="21453"/>
                        <a:pt x="6619" y="21333"/>
                        <a:pt x="5867" y="21437"/>
                      </a:cubicBezTo>
                      <a:cubicBezTo>
                        <a:pt x="5115" y="21542"/>
                        <a:pt x="5089" y="21452"/>
                        <a:pt x="4564" y="21437"/>
                      </a:cubicBezTo>
                      <a:cubicBezTo>
                        <a:pt x="4039" y="21423"/>
                        <a:pt x="2859" y="21541"/>
                        <a:pt x="2406" y="21437"/>
                      </a:cubicBezTo>
                      <a:cubicBezTo>
                        <a:pt x="1953" y="21334"/>
                        <a:pt x="604" y="21432"/>
                        <a:pt x="53" y="21437"/>
                      </a:cubicBezTo>
                      <a:cubicBezTo>
                        <a:pt x="106" y="20923"/>
                        <a:pt x="112" y="20560"/>
                        <a:pt x="53" y="20134"/>
                      </a:cubicBezTo>
                      <a:cubicBezTo>
                        <a:pt x="-5" y="19707"/>
                        <a:pt x="-30" y="19043"/>
                        <a:pt x="53" y="18402"/>
                      </a:cubicBezTo>
                      <a:cubicBezTo>
                        <a:pt x="136" y="17760"/>
                        <a:pt x="157" y="16858"/>
                        <a:pt x="53" y="16027"/>
                      </a:cubicBezTo>
                      <a:cubicBezTo>
                        <a:pt x="-51" y="15196"/>
                        <a:pt x="121" y="15079"/>
                        <a:pt x="53" y="14509"/>
                      </a:cubicBezTo>
                      <a:cubicBezTo>
                        <a:pt x="-14" y="13940"/>
                        <a:pt x="25" y="13783"/>
                        <a:pt x="53" y="13206"/>
                      </a:cubicBezTo>
                      <a:cubicBezTo>
                        <a:pt x="81" y="12628"/>
                        <a:pt x="90" y="12222"/>
                        <a:pt x="53" y="11902"/>
                      </a:cubicBezTo>
                      <a:cubicBezTo>
                        <a:pt x="17" y="11581"/>
                        <a:pt x="47" y="10240"/>
                        <a:pt x="53" y="9742"/>
                      </a:cubicBezTo>
                      <a:cubicBezTo>
                        <a:pt x="60" y="9243"/>
                        <a:pt x="36" y="8963"/>
                        <a:pt x="53" y="8438"/>
                      </a:cubicBezTo>
                      <a:cubicBezTo>
                        <a:pt x="70" y="7912"/>
                        <a:pt x="-34" y="6906"/>
                        <a:pt x="53" y="6492"/>
                      </a:cubicBezTo>
                      <a:cubicBezTo>
                        <a:pt x="140" y="6077"/>
                        <a:pt x="46" y="5326"/>
                        <a:pt x="53" y="4974"/>
                      </a:cubicBezTo>
                      <a:cubicBezTo>
                        <a:pt x="61" y="4621"/>
                        <a:pt x="38" y="3703"/>
                        <a:pt x="53" y="3028"/>
                      </a:cubicBezTo>
                      <a:cubicBezTo>
                        <a:pt x="69" y="2352"/>
                        <a:pt x="-53" y="922"/>
                        <a:pt x="53" y="31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  <p:grpSp>
            <p:nvGrpSpPr>
              <p:cNvPr id="255" name="Group 43"/>
              <p:cNvGrpSpPr/>
              <p:nvPr/>
            </p:nvGrpSpPr>
            <p:grpSpPr>
              <a:xfrm>
                <a:off x="3082118" y="3047751"/>
                <a:ext cx="3975905" cy="1582614"/>
                <a:chOff x="0" y="0"/>
                <a:chExt cx="3975904" cy="1582613"/>
              </a:xfrm>
            </p:grpSpPr>
            <p:sp>
              <p:nvSpPr>
                <p:cNvPr id="252" name="Rectangle 2"/>
                <p:cNvSpPr/>
                <p:nvPr/>
              </p:nvSpPr>
              <p:spPr>
                <a:xfrm>
                  <a:off x="0" y="40080"/>
                  <a:ext cx="3973085" cy="154253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29" h="21324" fill="norm" stroke="1" extrusionOk="0">
                      <a:moveTo>
                        <a:pt x="52" y="128"/>
                      </a:moveTo>
                      <a:cubicBezTo>
                        <a:pt x="686" y="189"/>
                        <a:pt x="1311" y="-176"/>
                        <a:pt x="1981" y="128"/>
                      </a:cubicBezTo>
                      <a:cubicBezTo>
                        <a:pt x="2651" y="433"/>
                        <a:pt x="3152" y="353"/>
                        <a:pt x="3481" y="128"/>
                      </a:cubicBezTo>
                      <a:cubicBezTo>
                        <a:pt x="3809" y="-96"/>
                        <a:pt x="4799" y="423"/>
                        <a:pt x="6052" y="128"/>
                      </a:cubicBezTo>
                      <a:cubicBezTo>
                        <a:pt x="7305" y="-166"/>
                        <a:pt x="7346" y="239"/>
                        <a:pt x="7981" y="128"/>
                      </a:cubicBezTo>
                      <a:cubicBezTo>
                        <a:pt x="8615" y="18"/>
                        <a:pt x="9153" y="-11"/>
                        <a:pt x="9909" y="128"/>
                      </a:cubicBezTo>
                      <a:cubicBezTo>
                        <a:pt x="10665" y="268"/>
                        <a:pt x="11479" y="282"/>
                        <a:pt x="12480" y="128"/>
                      </a:cubicBezTo>
                      <a:cubicBezTo>
                        <a:pt x="13482" y="-25"/>
                        <a:pt x="13747" y="362"/>
                        <a:pt x="14195" y="128"/>
                      </a:cubicBezTo>
                      <a:cubicBezTo>
                        <a:pt x="14642" y="-105"/>
                        <a:pt x="16007" y="281"/>
                        <a:pt x="16766" y="128"/>
                      </a:cubicBezTo>
                      <a:cubicBezTo>
                        <a:pt x="17525" y="-24"/>
                        <a:pt x="18070" y="197"/>
                        <a:pt x="19337" y="128"/>
                      </a:cubicBezTo>
                      <a:cubicBezTo>
                        <a:pt x="20605" y="60"/>
                        <a:pt x="20463" y="-123"/>
                        <a:pt x="21480" y="128"/>
                      </a:cubicBezTo>
                      <a:cubicBezTo>
                        <a:pt x="21519" y="3504"/>
                        <a:pt x="21520" y="5518"/>
                        <a:pt x="21480" y="7574"/>
                      </a:cubicBezTo>
                      <a:cubicBezTo>
                        <a:pt x="21441" y="9630"/>
                        <a:pt x="21394" y="12321"/>
                        <a:pt x="21480" y="14809"/>
                      </a:cubicBezTo>
                      <a:cubicBezTo>
                        <a:pt x="21566" y="17297"/>
                        <a:pt x="21523" y="19895"/>
                        <a:pt x="21480" y="21201"/>
                      </a:cubicBezTo>
                      <a:cubicBezTo>
                        <a:pt x="20987" y="21326"/>
                        <a:pt x="20111" y="21320"/>
                        <a:pt x="19337" y="21201"/>
                      </a:cubicBezTo>
                      <a:cubicBezTo>
                        <a:pt x="18564" y="21081"/>
                        <a:pt x="18116" y="21123"/>
                        <a:pt x="17623" y="21201"/>
                      </a:cubicBezTo>
                      <a:cubicBezTo>
                        <a:pt x="17131" y="21278"/>
                        <a:pt x="15980" y="21008"/>
                        <a:pt x="15480" y="21201"/>
                      </a:cubicBezTo>
                      <a:cubicBezTo>
                        <a:pt x="14980" y="21393"/>
                        <a:pt x="13762" y="21002"/>
                        <a:pt x="12909" y="21201"/>
                      </a:cubicBezTo>
                      <a:cubicBezTo>
                        <a:pt x="12056" y="21399"/>
                        <a:pt x="11283" y="21014"/>
                        <a:pt x="10766" y="21201"/>
                      </a:cubicBezTo>
                      <a:cubicBezTo>
                        <a:pt x="10250" y="21387"/>
                        <a:pt x="9963" y="21074"/>
                        <a:pt x="9266" y="21201"/>
                      </a:cubicBezTo>
                      <a:cubicBezTo>
                        <a:pt x="8569" y="21327"/>
                        <a:pt x="8233" y="21144"/>
                        <a:pt x="7552" y="21201"/>
                      </a:cubicBezTo>
                      <a:cubicBezTo>
                        <a:pt x="6871" y="21258"/>
                        <a:pt x="5903" y="21109"/>
                        <a:pt x="4981" y="21201"/>
                      </a:cubicBezTo>
                      <a:cubicBezTo>
                        <a:pt x="4058" y="21292"/>
                        <a:pt x="3537" y="21424"/>
                        <a:pt x="2838" y="21201"/>
                      </a:cubicBezTo>
                      <a:cubicBezTo>
                        <a:pt x="2139" y="20978"/>
                        <a:pt x="890" y="21294"/>
                        <a:pt x="52" y="21201"/>
                      </a:cubicBezTo>
                      <a:cubicBezTo>
                        <a:pt x="-34" y="19084"/>
                        <a:pt x="2" y="16536"/>
                        <a:pt x="52" y="14177"/>
                      </a:cubicBezTo>
                      <a:cubicBezTo>
                        <a:pt x="102" y="11817"/>
                        <a:pt x="70" y="10520"/>
                        <a:pt x="52" y="7785"/>
                      </a:cubicBezTo>
                      <a:cubicBezTo>
                        <a:pt x="35" y="5049"/>
                        <a:pt x="120" y="2341"/>
                        <a:pt x="52" y="128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A6A6A6"/>
                      </a:solidFill>
                    </a:defRPr>
                  </a:pPr>
                </a:p>
              </p:txBody>
            </p:sp>
            <p:sp>
              <p:nvSpPr>
                <p:cNvPr id="253" name="Straight Connector 25"/>
                <p:cNvSpPr/>
                <p:nvPr/>
              </p:nvSpPr>
              <p:spPr>
                <a:xfrm flipH="1">
                  <a:off x="9574" y="299990"/>
                  <a:ext cx="3966331" cy="1434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t">
                  <a:noAutofit/>
                </a:bodyPr>
                <a:lstStyle/>
                <a:p>
                  <a:pPr>
                    <a:defRPr sz="1600"/>
                  </a:pPr>
                </a:p>
              </p:txBody>
            </p:sp>
            <p:sp>
              <p:nvSpPr>
                <p:cNvPr id="254" name="TextBox 30"/>
                <p:cNvSpPr txBox="1"/>
                <p:nvPr/>
              </p:nvSpPr>
              <p:spPr>
                <a:xfrm>
                  <a:off x="550042" y="0"/>
                  <a:ext cx="956853" cy="32938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641" tIns="38641" rIns="38641" bIns="38641" numCol="1" anchor="t">
                  <a:noAutofit/>
                </a:bodyPr>
                <a:lstStyle>
                  <a:lvl1pPr>
                    <a:defRPr sz="1600">
                      <a:latin typeface="Gaegu Regular"/>
                      <a:ea typeface="Gaegu Regular"/>
                      <a:cs typeface="Gaegu Regular"/>
                      <a:sym typeface="Gaegu Regular"/>
                    </a:defRPr>
                  </a:lvl1pPr>
                </a:lstStyle>
                <a:p>
                  <a:pPr/>
                  <a:r>
                    <a:t>Terminal</a:t>
                  </a:r>
                </a:p>
              </p:txBody>
            </p:sp>
          </p:grpSp>
          <p:grpSp>
            <p:nvGrpSpPr>
              <p:cNvPr id="258" name="Group 13"/>
              <p:cNvGrpSpPr/>
              <p:nvPr/>
            </p:nvGrpSpPr>
            <p:grpSpPr>
              <a:xfrm>
                <a:off x="76596" y="3115233"/>
                <a:ext cx="1568067" cy="498683"/>
                <a:chOff x="0" y="0"/>
                <a:chExt cx="1568066" cy="498682"/>
              </a:xfrm>
            </p:grpSpPr>
            <p:sp>
              <p:nvSpPr>
                <p:cNvPr id="256" name="TextBox 14"/>
                <p:cNvSpPr txBox="1"/>
                <p:nvPr/>
              </p:nvSpPr>
              <p:spPr>
                <a:xfrm>
                  <a:off x="0" y="0"/>
                  <a:ext cx="723677" cy="49868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641" tIns="38641" rIns="38641" bIns="38641" numCol="1" anchor="t">
                  <a:noAutofit/>
                </a:bodyPr>
                <a:lstStyle/>
                <a:p>
                  <a:pPr>
                    <a:defRPr sz="1200"/>
                  </a:pPr>
                  <a:r>
                    <a:t>Program</a:t>
                  </a:r>
                </a:p>
                <a:p>
                  <a:pPr>
                    <a:defRPr sz="1200"/>
                  </a:pPr>
                  <a:r>
                    <a:t>Counter</a:t>
                  </a:r>
                </a:p>
              </p:txBody>
            </p:sp>
            <p:sp>
              <p:nvSpPr>
                <p:cNvPr id="257" name="Rectangle 16"/>
                <p:cNvSpPr/>
                <p:nvPr/>
              </p:nvSpPr>
              <p:spPr>
                <a:xfrm>
                  <a:off x="717688" y="102984"/>
                  <a:ext cx="850379" cy="31846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38" h="20789" fill="norm" stroke="1" extrusionOk="0">
                      <a:moveTo>
                        <a:pt x="62" y="468"/>
                      </a:moveTo>
                      <a:cubicBezTo>
                        <a:pt x="4396" y="730"/>
                        <a:pt x="7646" y="1130"/>
                        <a:pt x="10536" y="468"/>
                      </a:cubicBezTo>
                      <a:cubicBezTo>
                        <a:pt x="13427" y="-194"/>
                        <a:pt x="18140" y="-118"/>
                        <a:pt x="21438" y="468"/>
                      </a:cubicBezTo>
                      <a:cubicBezTo>
                        <a:pt x="21167" y="4501"/>
                        <a:pt x="21162" y="14670"/>
                        <a:pt x="21438" y="20409"/>
                      </a:cubicBezTo>
                      <a:cubicBezTo>
                        <a:pt x="19153" y="20087"/>
                        <a:pt x="14888" y="21406"/>
                        <a:pt x="10750" y="20409"/>
                      </a:cubicBezTo>
                      <a:cubicBezTo>
                        <a:pt x="6612" y="19413"/>
                        <a:pt x="3395" y="21240"/>
                        <a:pt x="62" y="20409"/>
                      </a:cubicBezTo>
                      <a:cubicBezTo>
                        <a:pt x="309" y="11565"/>
                        <a:pt x="-162" y="4735"/>
                        <a:pt x="62" y="468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ctr">
                  <a:noAutofit/>
                </a:bodyPr>
                <a:lstStyle/>
                <a:p>
                  <a:pPr algn="ctr">
                    <a:defRPr sz="1600"/>
                  </a:pPr>
                </a:p>
              </p:txBody>
            </p:sp>
          </p:grpSp>
          <p:sp>
            <p:nvSpPr>
              <p:cNvPr id="259" name="Rectangle 37"/>
              <p:cNvSpPr/>
              <p:nvPr/>
            </p:nvSpPr>
            <p:spPr>
              <a:xfrm>
                <a:off x="8457" y="3107818"/>
                <a:ext cx="3003015" cy="15286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61" h="21229" fill="norm" stroke="1" extrusionOk="0">
                    <a:moveTo>
                      <a:pt x="93" y="147"/>
                    </a:moveTo>
                    <a:cubicBezTo>
                      <a:pt x="1527" y="156"/>
                      <a:pt x="2742" y="-188"/>
                      <a:pt x="4144" y="147"/>
                    </a:cubicBezTo>
                    <a:cubicBezTo>
                      <a:pt x="5546" y="482"/>
                      <a:pt x="6786" y="220"/>
                      <a:pt x="7768" y="147"/>
                    </a:cubicBezTo>
                    <a:cubicBezTo>
                      <a:pt x="8751" y="75"/>
                      <a:pt x="11208" y="173"/>
                      <a:pt x="12459" y="147"/>
                    </a:cubicBezTo>
                    <a:cubicBezTo>
                      <a:pt x="13710" y="121"/>
                      <a:pt x="14966" y="-109"/>
                      <a:pt x="16510" y="147"/>
                    </a:cubicBezTo>
                    <a:cubicBezTo>
                      <a:pt x="18054" y="403"/>
                      <a:pt x="19766" y="-280"/>
                      <a:pt x="21414" y="147"/>
                    </a:cubicBezTo>
                    <a:cubicBezTo>
                      <a:pt x="21354" y="3318"/>
                      <a:pt x="21384" y="4316"/>
                      <a:pt x="21414" y="7523"/>
                    </a:cubicBezTo>
                    <a:cubicBezTo>
                      <a:pt x="21444" y="10729"/>
                      <a:pt x="21419" y="12620"/>
                      <a:pt x="21414" y="14481"/>
                    </a:cubicBezTo>
                    <a:cubicBezTo>
                      <a:pt x="21409" y="16341"/>
                      <a:pt x="21522" y="17780"/>
                      <a:pt x="21414" y="21021"/>
                    </a:cubicBezTo>
                    <a:cubicBezTo>
                      <a:pt x="20240" y="21193"/>
                      <a:pt x="18564" y="21099"/>
                      <a:pt x="17576" y="21021"/>
                    </a:cubicBezTo>
                    <a:cubicBezTo>
                      <a:pt x="16588" y="20944"/>
                      <a:pt x="14967" y="20968"/>
                      <a:pt x="13312" y="21021"/>
                    </a:cubicBezTo>
                    <a:cubicBezTo>
                      <a:pt x="11657" y="21075"/>
                      <a:pt x="10619" y="20797"/>
                      <a:pt x="9048" y="21021"/>
                    </a:cubicBezTo>
                    <a:cubicBezTo>
                      <a:pt x="7477" y="21246"/>
                      <a:pt x="6607" y="20723"/>
                      <a:pt x="4997" y="21021"/>
                    </a:cubicBezTo>
                    <a:cubicBezTo>
                      <a:pt x="3387" y="21320"/>
                      <a:pt x="2263" y="21277"/>
                      <a:pt x="93" y="21021"/>
                    </a:cubicBezTo>
                    <a:cubicBezTo>
                      <a:pt x="19" y="19440"/>
                      <a:pt x="-73" y="16863"/>
                      <a:pt x="93" y="13646"/>
                    </a:cubicBezTo>
                    <a:cubicBezTo>
                      <a:pt x="259" y="10429"/>
                      <a:pt x="264" y="7833"/>
                      <a:pt x="93" y="6270"/>
                    </a:cubicBezTo>
                    <a:cubicBezTo>
                      <a:pt x="-78" y="4708"/>
                      <a:pt x="221" y="3023"/>
                      <a:pt x="93" y="147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38641" tIns="38641" rIns="38641" bIns="38641" numCol="1" anchor="ctr">
                <a:noAutofit/>
              </a:bodyPr>
              <a:lstStyle/>
              <a:p>
                <a:pPr algn="ctr">
                  <a:defRPr sz="2000">
                    <a:solidFill>
                      <a:srgbClr val="FFFFFF"/>
                    </a:solidFill>
                  </a:defRPr>
                </a:pPr>
              </a:p>
            </p:txBody>
          </p:sp>
          <p:pic>
            <p:nvPicPr>
              <p:cNvPr id="260" name="Picture 62" descr="Picture 62"/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3186444" y="3160863"/>
                <a:ext cx="422831" cy="15126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261" name="TextBox 10"/>
              <p:cNvSpPr txBox="1"/>
              <p:nvPr/>
            </p:nvSpPr>
            <p:spPr>
              <a:xfrm>
                <a:off x="6098993" y="0"/>
                <a:ext cx="868322" cy="32938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641" tIns="38641" rIns="38641" bIns="38641" numCol="1" anchor="t">
                <a:noAutofit/>
              </a:bodyPr>
              <a:lstStyle>
                <a:lvl1pPr>
                  <a:defRPr sz="1600">
                    <a:latin typeface="Gaegu Regular"/>
                    <a:ea typeface="Gaegu Regular"/>
                    <a:cs typeface="Gaegu Regular"/>
                    <a:sym typeface="Gaegu Regular"/>
                  </a:defRPr>
                </a:lvl1pPr>
              </a:lstStyle>
              <a:p>
                <a:pPr/>
                <a:r>
                  <a:t>Memory</a:t>
                </a:r>
              </a:p>
            </p:txBody>
          </p:sp>
        </p:grpSp>
        <p:sp>
          <p:nvSpPr>
            <p:cNvPr id="263" name="Straight Connector 40"/>
            <p:cNvSpPr/>
            <p:nvPr/>
          </p:nvSpPr>
          <p:spPr>
            <a:xfrm flipV="1">
              <a:off x="3166026" y="3687737"/>
              <a:ext cx="1" cy="18943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t">
              <a:noAutofit/>
            </a:bodyPr>
            <a:lstStyle/>
            <a:p>
              <a:pPr>
                <a:defRPr sz="1600"/>
              </a:pPr>
            </a:p>
          </p:txBody>
        </p:sp>
        <p:grpSp>
          <p:nvGrpSpPr>
            <p:cNvPr id="266" name="Group 19"/>
            <p:cNvGrpSpPr/>
            <p:nvPr/>
          </p:nvGrpSpPr>
          <p:grpSpPr>
            <a:xfrm>
              <a:off x="714015" y="3616436"/>
              <a:ext cx="2224521" cy="274970"/>
              <a:chOff x="-6162" y="0"/>
              <a:chExt cx="2224520" cy="274969"/>
            </a:xfrm>
          </p:grpSpPr>
          <p:sp>
            <p:nvSpPr>
              <p:cNvPr id="264" name="TextBox 21"/>
              <p:cNvSpPr txBox="1"/>
              <p:nvPr/>
            </p:nvSpPr>
            <p:spPr>
              <a:xfrm>
                <a:off x="-6163" y="0"/>
                <a:ext cx="822688" cy="2749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641" tIns="38641" rIns="38641" bIns="38641" numCol="1" anchor="t">
                <a:noAutofit/>
              </a:bodyPr>
              <a:lstStyle>
                <a:lvl1pPr algn="ctr">
                  <a:defRPr sz="1200"/>
                </a:lvl1pPr>
              </a:lstStyle>
              <a:p>
                <a:pPr/>
                <a:r>
                  <a:t>Register 0</a:t>
                </a:r>
              </a:p>
            </p:txBody>
          </p:sp>
          <p:sp>
            <p:nvSpPr>
              <p:cNvPr id="265" name="Rectangle 22"/>
              <p:cNvSpPr/>
              <p:nvPr/>
            </p:nvSpPr>
            <p:spPr>
              <a:xfrm>
                <a:off x="855322" y="26429"/>
                <a:ext cx="1363037" cy="2467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99" h="20332" fill="norm" stroke="1" extrusionOk="0">
                    <a:moveTo>
                      <a:pt x="31" y="364"/>
                    </a:moveTo>
                    <a:cubicBezTo>
                      <a:pt x="2762" y="1659"/>
                      <a:pt x="4299" y="-408"/>
                      <a:pt x="6965" y="364"/>
                    </a:cubicBezTo>
                    <a:cubicBezTo>
                      <a:pt x="9630" y="1136"/>
                      <a:pt x="11326" y="-756"/>
                      <a:pt x="13470" y="364"/>
                    </a:cubicBezTo>
                    <a:cubicBezTo>
                      <a:pt x="15613" y="1484"/>
                      <a:pt x="19369" y="1304"/>
                      <a:pt x="21476" y="364"/>
                    </a:cubicBezTo>
                    <a:cubicBezTo>
                      <a:pt x="21549" y="8786"/>
                      <a:pt x="21420" y="12756"/>
                      <a:pt x="21476" y="19711"/>
                    </a:cubicBezTo>
                    <a:cubicBezTo>
                      <a:pt x="19782" y="20844"/>
                      <a:pt x="16772" y="20167"/>
                      <a:pt x="14757" y="19711"/>
                    </a:cubicBezTo>
                    <a:cubicBezTo>
                      <a:pt x="12742" y="19256"/>
                      <a:pt x="10818" y="20654"/>
                      <a:pt x="7179" y="19711"/>
                    </a:cubicBezTo>
                    <a:cubicBezTo>
                      <a:pt x="3541" y="18768"/>
                      <a:pt x="2819" y="20729"/>
                      <a:pt x="31" y="19711"/>
                    </a:cubicBezTo>
                    <a:cubicBezTo>
                      <a:pt x="-51" y="11606"/>
                      <a:pt x="57" y="5355"/>
                      <a:pt x="31" y="364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38641" tIns="38641" rIns="38641" bIns="38641" numCol="1" anchor="ctr">
                <a:noAutofit/>
              </a:bodyPr>
              <a:lstStyle/>
              <a:p>
                <a:pPr algn="ctr">
                  <a:defRPr sz="1600"/>
                </a:pPr>
              </a:p>
            </p:txBody>
          </p:sp>
        </p:grpSp>
        <p:sp>
          <p:nvSpPr>
            <p:cNvPr id="267" name="TextBox 33"/>
            <p:cNvSpPr txBox="1"/>
            <p:nvPr/>
          </p:nvSpPr>
          <p:spPr>
            <a:xfrm>
              <a:off x="722658" y="3924432"/>
              <a:ext cx="822688" cy="2749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200"/>
              </a:lvl1pPr>
            </a:lstStyle>
            <a:p>
              <a:pPr/>
              <a:r>
                <a:t>Register 1</a:t>
              </a:r>
            </a:p>
          </p:txBody>
        </p:sp>
        <p:sp>
          <p:nvSpPr>
            <p:cNvPr id="268" name="Rectangle 38"/>
            <p:cNvSpPr/>
            <p:nvPr/>
          </p:nvSpPr>
          <p:spPr>
            <a:xfrm>
              <a:off x="1576707" y="3953521"/>
              <a:ext cx="1360509" cy="263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5" h="20012" fill="norm" stroke="1" extrusionOk="0">
                  <a:moveTo>
                    <a:pt x="12" y="791"/>
                  </a:moveTo>
                  <a:cubicBezTo>
                    <a:pt x="3241" y="407"/>
                    <a:pt x="7659" y="781"/>
                    <a:pt x="10557" y="791"/>
                  </a:cubicBezTo>
                  <a:cubicBezTo>
                    <a:pt x="13455" y="800"/>
                    <a:pt x="16772" y="-994"/>
                    <a:pt x="21533" y="791"/>
                  </a:cubicBezTo>
                  <a:cubicBezTo>
                    <a:pt x="21557" y="8082"/>
                    <a:pt x="21370" y="11661"/>
                    <a:pt x="21533" y="18637"/>
                  </a:cubicBezTo>
                  <a:cubicBezTo>
                    <a:pt x="16322" y="19573"/>
                    <a:pt x="13444" y="16668"/>
                    <a:pt x="10772" y="18637"/>
                  </a:cubicBezTo>
                  <a:cubicBezTo>
                    <a:pt x="8100" y="20606"/>
                    <a:pt x="3639" y="20327"/>
                    <a:pt x="12" y="18637"/>
                  </a:cubicBezTo>
                  <a:cubicBezTo>
                    <a:pt x="-43" y="13404"/>
                    <a:pt x="111" y="8672"/>
                    <a:pt x="12" y="791"/>
                  </a:cubicBezTo>
                  <a:close/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269" name="TextBox 39"/>
            <p:cNvSpPr txBox="1"/>
            <p:nvPr/>
          </p:nvSpPr>
          <p:spPr>
            <a:xfrm>
              <a:off x="719332" y="4251600"/>
              <a:ext cx="822688" cy="2749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200"/>
              </a:lvl1pPr>
            </a:lstStyle>
            <a:p>
              <a:pPr/>
              <a:r>
                <a:t>Register 2</a:t>
              </a:r>
            </a:p>
          </p:txBody>
        </p:sp>
        <p:sp>
          <p:nvSpPr>
            <p:cNvPr id="270" name="Rectangle 42"/>
            <p:cNvSpPr/>
            <p:nvPr/>
          </p:nvSpPr>
          <p:spPr>
            <a:xfrm>
              <a:off x="1564737" y="4272046"/>
              <a:ext cx="1360509" cy="263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5" h="20012" fill="norm" stroke="1" extrusionOk="0">
                  <a:moveTo>
                    <a:pt x="12" y="791"/>
                  </a:moveTo>
                  <a:cubicBezTo>
                    <a:pt x="3241" y="407"/>
                    <a:pt x="7659" y="781"/>
                    <a:pt x="10557" y="791"/>
                  </a:cubicBezTo>
                  <a:cubicBezTo>
                    <a:pt x="13455" y="800"/>
                    <a:pt x="16772" y="-994"/>
                    <a:pt x="21533" y="791"/>
                  </a:cubicBezTo>
                  <a:cubicBezTo>
                    <a:pt x="21557" y="8082"/>
                    <a:pt x="21370" y="11661"/>
                    <a:pt x="21533" y="18637"/>
                  </a:cubicBezTo>
                  <a:cubicBezTo>
                    <a:pt x="16322" y="19573"/>
                    <a:pt x="13444" y="16668"/>
                    <a:pt x="10772" y="18637"/>
                  </a:cubicBezTo>
                  <a:cubicBezTo>
                    <a:pt x="8100" y="20606"/>
                    <a:pt x="3639" y="20327"/>
                    <a:pt x="12" y="18637"/>
                  </a:cubicBezTo>
                  <a:cubicBezTo>
                    <a:pt x="-43" y="13404"/>
                    <a:pt x="111" y="8672"/>
                    <a:pt x="12" y="791"/>
                  </a:cubicBezTo>
                  <a:close/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271" name="TextBox 45"/>
            <p:cNvSpPr txBox="1"/>
            <p:nvPr/>
          </p:nvSpPr>
          <p:spPr>
            <a:xfrm>
              <a:off x="2066489" y="571180"/>
              <a:ext cx="4533238" cy="11184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/>
            <a:p>
              <a:pPr marL="300037" indent="-300037">
                <a:buSzPct val="100000"/>
                <a:buAutoNum type="arabicPeriod" startAt="1"/>
                <a:defRPr sz="1400"/>
              </a:pPr>
              <a:r>
                <a:t>open_window(“Test Color", 800, 600);</a:t>
              </a:r>
            </a:p>
            <a:p>
              <a:pPr marL="300037" indent="-300037">
                <a:buSzPct val="100000"/>
                <a:buAutoNum type="arabicPeriod" startAt="1"/>
                <a:defRPr sz="1400">
                  <a:solidFill>
                    <a:srgbClr val="A6A6A6"/>
                  </a:solidFill>
                </a:defRPr>
              </a:pPr>
              <a:r>
                <a:t>clear_screen(COLOR_BLUE);</a:t>
              </a:r>
            </a:p>
            <a:p>
              <a:pPr marL="300037" indent="-300037">
                <a:buSzPct val="100000"/>
                <a:buAutoNum type="arabicPeriod" startAt="1"/>
                <a:defRPr sz="1400">
                  <a:solidFill>
                    <a:srgbClr val="A6A6A6"/>
                  </a:solidFill>
                </a:defRPr>
              </a:pPr>
              <a:r>
                <a:t>refresh_screen();</a:t>
              </a:r>
            </a:p>
            <a:p>
              <a:pPr marL="300037" indent="-300037">
                <a:buSzPct val="100000"/>
                <a:buAutoNum type="arabicPeriod" startAt="1"/>
                <a:defRPr sz="1400">
                  <a:solidFill>
                    <a:srgbClr val="A6A6A6"/>
                  </a:solidFill>
                </a:defRPr>
              </a:pPr>
              <a:r>
                <a:t>delay(5000);</a:t>
              </a:r>
            </a:p>
          </p:txBody>
        </p:sp>
        <p:sp>
          <p:nvSpPr>
            <p:cNvPr id="272" name="TextBox 46"/>
            <p:cNvSpPr txBox="1"/>
            <p:nvPr/>
          </p:nvSpPr>
          <p:spPr>
            <a:xfrm>
              <a:off x="3093495" y="3332980"/>
              <a:ext cx="1330381" cy="336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>
                <a:defRPr sz="1600"/>
              </a:lvl1pPr>
            </a:lstStyle>
            <a:p>
              <a:pPr/>
              <a:r>
                <a:t>./screen-test</a:t>
              </a:r>
            </a:p>
          </p:txBody>
        </p:sp>
        <p:sp>
          <p:nvSpPr>
            <p:cNvPr id="273" name="TextBox 50"/>
            <p:cNvSpPr txBox="1"/>
            <p:nvPr/>
          </p:nvSpPr>
          <p:spPr>
            <a:xfrm>
              <a:off x="847706" y="3189722"/>
              <a:ext cx="739591" cy="336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600"/>
              </a:lvl1pPr>
            </a:lstStyle>
            <a:p>
              <a:pPr/>
              <a:r>
                <a:t>1d</a:t>
              </a:r>
            </a:p>
          </p:txBody>
        </p:sp>
        <p:sp>
          <p:nvSpPr>
            <p:cNvPr id="274" name="TextBox 52"/>
            <p:cNvSpPr txBox="1"/>
            <p:nvPr/>
          </p:nvSpPr>
          <p:spPr>
            <a:xfrm>
              <a:off x="3331081" y="355601"/>
              <a:ext cx="3003805" cy="336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/>
            <a:p>
              <a:pPr>
                <a:defRPr sz="1600">
                  <a:solidFill>
                    <a:srgbClr val="C55A11"/>
                  </a:solidFill>
                </a:defRPr>
              </a:pPr>
              <a:r>
                <a:t>d            </a:t>
              </a:r>
              <a:r>
                <a:rPr>
                  <a:solidFill>
                    <a:srgbClr val="A6A6A6"/>
                  </a:solidFill>
                </a:rPr>
                <a:t>a          b     c</a:t>
              </a:r>
            </a:p>
          </p:txBody>
        </p:sp>
        <p:sp>
          <p:nvSpPr>
            <p:cNvPr id="285" name="Curved Connector 3"/>
            <p:cNvSpPr/>
            <p:nvPr/>
          </p:nvSpPr>
          <p:spPr>
            <a:xfrm>
              <a:off x="721712" y="2730817"/>
              <a:ext cx="362819" cy="4589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lnTo>
                    <a:pt x="0" y="0"/>
                  </a:lnTo>
                </a:path>
              </a:pathLst>
            </a:custGeom>
            <a:noFill/>
            <a:ln w="25400" cap="flat">
              <a:solidFill>
                <a:srgbClr val="C55A11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/>
            <a:lstStyle/>
            <a:p>
              <a:pPr/>
            </a:p>
          </p:txBody>
        </p:sp>
        <p:sp>
          <p:nvSpPr>
            <p:cNvPr id="276" name="TextBox 6"/>
            <p:cNvSpPr txBox="1"/>
            <p:nvPr/>
          </p:nvSpPr>
          <p:spPr>
            <a:xfrm>
              <a:off x="1615063" y="3612361"/>
              <a:ext cx="1276634" cy="2749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>
                <a:defRPr sz="1200"/>
              </a:lvl1pPr>
            </a:lstStyle>
            <a:p>
              <a:pPr/>
              <a:r>
                <a:t>"Test Color"</a:t>
              </a:r>
            </a:p>
          </p:txBody>
        </p:sp>
        <p:sp>
          <p:nvSpPr>
            <p:cNvPr id="277" name="TextBox 5"/>
            <p:cNvSpPr txBox="1"/>
            <p:nvPr/>
          </p:nvSpPr>
          <p:spPr>
            <a:xfrm>
              <a:off x="1622270" y="3926663"/>
              <a:ext cx="1276634" cy="2749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200"/>
              </a:lvl1pPr>
            </a:lstStyle>
            <a:p>
              <a:pPr/>
              <a:r>
                <a:t>800</a:t>
              </a:r>
            </a:p>
          </p:txBody>
        </p:sp>
        <p:sp>
          <p:nvSpPr>
            <p:cNvPr id="278" name="TextBox 7"/>
            <p:cNvSpPr txBox="1"/>
            <p:nvPr/>
          </p:nvSpPr>
          <p:spPr>
            <a:xfrm>
              <a:off x="1615063" y="4250886"/>
              <a:ext cx="1276634" cy="2749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200"/>
              </a:lvl1pPr>
            </a:lstStyle>
            <a:p>
              <a:pPr/>
              <a:r>
                <a:t>600</a:t>
              </a:r>
            </a:p>
          </p:txBody>
        </p:sp>
        <p:sp>
          <p:nvSpPr>
            <p:cNvPr id="279" name="TextBox 8"/>
            <p:cNvSpPr txBox="1"/>
            <p:nvPr/>
          </p:nvSpPr>
          <p:spPr>
            <a:xfrm>
              <a:off x="76847" y="1854167"/>
              <a:ext cx="1017737" cy="4986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/>
            <a:p>
              <a:pPr algn="ctr">
                <a:defRPr sz="1200"/>
              </a:pPr>
              <a:r>
                <a:t>Old Program</a:t>
              </a:r>
            </a:p>
            <a:p>
              <a:pPr algn="ctr">
                <a:defRPr sz="1200"/>
              </a:pPr>
              <a:r>
                <a:t>Counter</a:t>
              </a:r>
            </a:p>
          </p:txBody>
        </p:sp>
        <p:grpSp>
          <p:nvGrpSpPr>
            <p:cNvPr id="282" name="Rectangle 24"/>
            <p:cNvGrpSpPr/>
            <p:nvPr/>
          </p:nvGrpSpPr>
          <p:grpSpPr>
            <a:xfrm>
              <a:off x="163639" y="2394553"/>
              <a:ext cx="850379" cy="336375"/>
              <a:chOff x="0" y="-2888"/>
              <a:chExt cx="850377" cy="336373"/>
            </a:xfrm>
          </p:grpSpPr>
          <p:sp>
            <p:nvSpPr>
              <p:cNvPr id="280" name="Shape"/>
              <p:cNvSpPr/>
              <p:nvPr/>
            </p:nvSpPr>
            <p:spPr>
              <a:xfrm>
                <a:off x="0" y="5389"/>
                <a:ext cx="850378" cy="3184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38" h="20789" fill="norm" stroke="1" extrusionOk="0">
                    <a:moveTo>
                      <a:pt x="62" y="468"/>
                    </a:moveTo>
                    <a:cubicBezTo>
                      <a:pt x="4396" y="730"/>
                      <a:pt x="7646" y="1130"/>
                      <a:pt x="10536" y="468"/>
                    </a:cubicBezTo>
                    <a:cubicBezTo>
                      <a:pt x="13427" y="-194"/>
                      <a:pt x="18140" y="-118"/>
                      <a:pt x="21438" y="468"/>
                    </a:cubicBezTo>
                    <a:cubicBezTo>
                      <a:pt x="21167" y="4501"/>
                      <a:pt x="21162" y="14670"/>
                      <a:pt x="21438" y="20409"/>
                    </a:cubicBezTo>
                    <a:cubicBezTo>
                      <a:pt x="19153" y="20087"/>
                      <a:pt x="14888" y="21406"/>
                      <a:pt x="10750" y="20409"/>
                    </a:cubicBezTo>
                    <a:cubicBezTo>
                      <a:pt x="6612" y="19413"/>
                      <a:pt x="3395" y="21240"/>
                      <a:pt x="62" y="20409"/>
                    </a:cubicBezTo>
                    <a:cubicBezTo>
                      <a:pt x="309" y="11565"/>
                      <a:pt x="-162" y="4735"/>
                      <a:pt x="62" y="468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38641" tIns="38641" rIns="38641" bIns="38641" numCol="1" anchor="ctr">
                <a:noAutofit/>
              </a:bodyPr>
              <a:lstStyle/>
              <a:p>
                <a:pPr algn="ctr">
                  <a:defRPr sz="1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81" name="1d"/>
              <p:cNvSpPr txBox="1"/>
              <p:nvPr/>
            </p:nvSpPr>
            <p:spPr>
              <a:xfrm>
                <a:off x="60455" y="-2889"/>
                <a:ext cx="731940" cy="33637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641" tIns="38641" rIns="38641" bIns="38641" numCol="1" anchor="ctr">
                <a:noAutofit/>
              </a:bodyPr>
              <a:lstStyle>
                <a:lvl1pPr algn="ctr">
                  <a:defRPr sz="1600"/>
                </a:lvl1pPr>
              </a:lstStyle>
              <a:p>
                <a:pPr/>
                <a:r>
                  <a:t>1d</a:t>
                </a:r>
              </a:p>
            </p:txBody>
          </p:sp>
        </p:grpSp>
        <p:sp>
          <p:nvSpPr>
            <p:cNvPr id="283" name="Straight Arrow Connector 55"/>
            <p:cNvSpPr/>
            <p:nvPr/>
          </p:nvSpPr>
          <p:spPr>
            <a:xfrm rot="16200000">
              <a:off x="436338" y="1538485"/>
              <a:ext cx="2441123" cy="8843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21462" y="21600"/>
                  </a:lnTo>
                </a:path>
              </a:pathLst>
            </a:custGeom>
            <a:noFill/>
            <a:ln w="12700" cap="flat">
              <a:solidFill>
                <a:srgbClr val="000000"/>
              </a:solidFill>
              <a:custDash>
                <a:ds d="300000" sp="400000"/>
              </a:custDash>
              <a:round/>
              <a:tailEnd type="triangle" w="med" len="med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>
                <a:defRPr sz="1600"/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roup"/>
          <p:cNvGrpSpPr/>
          <p:nvPr/>
        </p:nvGrpSpPr>
        <p:grpSpPr>
          <a:xfrm>
            <a:off x="247650" y="196370"/>
            <a:ext cx="7061201" cy="4636460"/>
            <a:chOff x="0" y="0"/>
            <a:chExt cx="7061200" cy="4636458"/>
          </a:xfrm>
        </p:grpSpPr>
        <p:sp>
          <p:nvSpPr>
            <p:cNvPr id="287" name="TextBox 31"/>
            <p:cNvSpPr txBox="1"/>
            <p:nvPr/>
          </p:nvSpPr>
          <p:spPr>
            <a:xfrm>
              <a:off x="2062223" y="1699024"/>
              <a:ext cx="4704572" cy="8500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/>
            <a:p>
              <a:pPr marL="300037" indent="-300037">
                <a:buSzPct val="100000"/>
                <a:buAutoNum type="arabicPeriod" startAt="127"/>
                <a:defRPr sz="1400"/>
              </a:pPr>
              <a:r>
                <a:t> … Open Window First Instruction …</a:t>
              </a:r>
            </a:p>
            <a:p>
              <a:pPr marL="300037" indent="-300037">
                <a:buSzPct val="100000"/>
                <a:buAutoNum type="arabicPeriod" startAt="127"/>
                <a:defRPr sz="1400"/>
              </a:pPr>
              <a:r>
                <a:t> … Open Window Second Instruction …</a:t>
              </a:r>
            </a:p>
            <a:p>
              <a:pPr marL="300037" indent="-300037">
                <a:buSzPct val="100000"/>
                <a:buAutoNum type="arabicPeriod" startAt="127"/>
                <a:defRPr sz="1400"/>
              </a:pPr>
              <a:r>
                <a:t> …</a:t>
              </a:r>
            </a:p>
          </p:txBody>
        </p:sp>
        <p:grpSp>
          <p:nvGrpSpPr>
            <p:cNvPr id="304" name="Group 11"/>
            <p:cNvGrpSpPr/>
            <p:nvPr/>
          </p:nvGrpSpPr>
          <p:grpSpPr>
            <a:xfrm>
              <a:off x="0" y="0"/>
              <a:ext cx="7061201" cy="4636459"/>
              <a:chOff x="0" y="0"/>
              <a:chExt cx="7061200" cy="4636459"/>
            </a:xfrm>
          </p:grpSpPr>
          <p:grpSp>
            <p:nvGrpSpPr>
              <p:cNvPr id="290" name="Group 36"/>
              <p:cNvGrpSpPr/>
              <p:nvPr/>
            </p:nvGrpSpPr>
            <p:grpSpPr>
              <a:xfrm>
                <a:off x="140075" y="3804832"/>
                <a:ext cx="550812" cy="781301"/>
                <a:chOff x="0" y="0"/>
                <a:chExt cx="550810" cy="781299"/>
              </a:xfrm>
            </p:grpSpPr>
            <p:pic>
              <p:nvPicPr>
                <p:cNvPr id="288" name="Picture 12" descr="Picture 12"/>
                <p:cNvPicPr>
                  <a:picLocks noChangeAspect="1"/>
                </p:cNvPicPr>
                <p:nvPr/>
              </p:nvPicPr>
              <p:blipFill>
                <a:blip r:embed="rId3">
                  <a:extLst/>
                </a:blip>
                <a:stretch>
                  <a:fillRect/>
                </a:stretch>
              </p:blipFill>
              <p:spPr>
                <a:xfrm>
                  <a:off x="0" y="0"/>
                  <a:ext cx="550811" cy="50597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289" name="TextBox 17"/>
                <p:cNvSpPr txBox="1"/>
                <p:nvPr/>
              </p:nvSpPr>
              <p:spPr>
                <a:xfrm>
                  <a:off x="33409" y="451916"/>
                  <a:ext cx="489144" cy="32938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641" tIns="38641" rIns="38641" bIns="38641" numCol="1" anchor="t">
                  <a:noAutofit/>
                </a:bodyPr>
                <a:lstStyle>
                  <a:lvl1pPr>
                    <a:defRPr sz="1600">
                      <a:latin typeface="Gaegu Regular"/>
                      <a:ea typeface="Gaegu Regular"/>
                      <a:cs typeface="Gaegu Regular"/>
                      <a:sym typeface="Gaegu Regular"/>
                    </a:defRPr>
                  </a:lvl1pPr>
                </a:lstStyle>
                <a:p>
                  <a:pPr/>
                  <a:r>
                    <a:t>CPU</a:t>
                  </a:r>
                </a:p>
              </p:txBody>
            </p:sp>
          </p:grpSp>
          <p:grpSp>
            <p:nvGrpSpPr>
              <p:cNvPr id="293" name="Group 51"/>
              <p:cNvGrpSpPr/>
              <p:nvPr/>
            </p:nvGrpSpPr>
            <p:grpSpPr>
              <a:xfrm>
                <a:off x="0" y="339014"/>
                <a:ext cx="7061201" cy="2623861"/>
                <a:chOff x="0" y="0"/>
                <a:chExt cx="7061200" cy="2623860"/>
              </a:xfrm>
            </p:grpSpPr>
            <p:sp>
              <p:nvSpPr>
                <p:cNvPr id="291" name="Straight Connector 4"/>
                <p:cNvSpPr/>
                <p:nvPr/>
              </p:nvSpPr>
              <p:spPr>
                <a:xfrm flipH="1">
                  <a:off x="1971910" y="34747"/>
                  <a:ext cx="1" cy="2583015"/>
                </a:xfrm>
                <a:prstGeom prst="line">
                  <a:avLst/>
                </a:prstGeom>
                <a:noFill/>
                <a:ln w="3175" cap="flat">
                  <a:solidFill>
                    <a:srgbClr val="808080"/>
                  </a:solidFill>
                  <a:prstDash val="dashDot"/>
                  <a:miter lim="800000"/>
                </a:ln>
                <a:effectLst/>
              </p:spPr>
              <p:txBody>
                <a:bodyPr wrap="square" lIns="38641" tIns="38641" rIns="38641" bIns="38641" numCol="1" anchor="t">
                  <a:noAutofit/>
                </a:bodyPr>
                <a:lstStyle/>
                <a:p>
                  <a:pPr>
                    <a:defRPr sz="1600"/>
                  </a:pPr>
                </a:p>
              </p:txBody>
            </p:sp>
            <p:sp>
              <p:nvSpPr>
                <p:cNvPr id="292" name="Rectangle 20"/>
                <p:cNvSpPr/>
                <p:nvPr/>
              </p:nvSpPr>
              <p:spPr>
                <a:xfrm>
                  <a:off x="0" y="0"/>
                  <a:ext cx="7061201" cy="262386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88" h="21487" fill="norm" stroke="1" extrusionOk="0">
                      <a:moveTo>
                        <a:pt x="53" y="31"/>
                      </a:moveTo>
                      <a:cubicBezTo>
                        <a:pt x="688" y="97"/>
                        <a:pt x="1302" y="95"/>
                        <a:pt x="1784" y="31"/>
                      </a:cubicBezTo>
                      <a:cubicBezTo>
                        <a:pt x="2266" y="-34"/>
                        <a:pt x="2447" y="33"/>
                        <a:pt x="3086" y="31"/>
                      </a:cubicBezTo>
                      <a:cubicBezTo>
                        <a:pt x="3726" y="29"/>
                        <a:pt x="4933" y="61"/>
                        <a:pt x="5458" y="31"/>
                      </a:cubicBezTo>
                      <a:cubicBezTo>
                        <a:pt x="5984" y="0"/>
                        <a:pt x="6833" y="45"/>
                        <a:pt x="7189" y="31"/>
                      </a:cubicBezTo>
                      <a:cubicBezTo>
                        <a:pt x="7544" y="16"/>
                        <a:pt x="8314" y="-30"/>
                        <a:pt x="8919" y="31"/>
                      </a:cubicBezTo>
                      <a:cubicBezTo>
                        <a:pt x="9524" y="92"/>
                        <a:pt x="10434" y="-58"/>
                        <a:pt x="11291" y="31"/>
                      </a:cubicBezTo>
                      <a:cubicBezTo>
                        <a:pt x="12149" y="119"/>
                        <a:pt x="12221" y="35"/>
                        <a:pt x="12808" y="31"/>
                      </a:cubicBezTo>
                      <a:cubicBezTo>
                        <a:pt x="13394" y="26"/>
                        <a:pt x="14112" y="71"/>
                        <a:pt x="15180" y="31"/>
                      </a:cubicBezTo>
                      <a:cubicBezTo>
                        <a:pt x="16248" y="-10"/>
                        <a:pt x="16841" y="20"/>
                        <a:pt x="17552" y="31"/>
                      </a:cubicBezTo>
                      <a:cubicBezTo>
                        <a:pt x="18263" y="41"/>
                        <a:pt x="19031" y="-24"/>
                        <a:pt x="19496" y="31"/>
                      </a:cubicBezTo>
                      <a:cubicBezTo>
                        <a:pt x="19962" y="85"/>
                        <a:pt x="20676" y="92"/>
                        <a:pt x="21440" y="31"/>
                      </a:cubicBezTo>
                      <a:cubicBezTo>
                        <a:pt x="21458" y="623"/>
                        <a:pt x="21354" y="1055"/>
                        <a:pt x="21440" y="1763"/>
                      </a:cubicBezTo>
                      <a:cubicBezTo>
                        <a:pt x="21527" y="2471"/>
                        <a:pt x="21434" y="2599"/>
                        <a:pt x="21440" y="3067"/>
                      </a:cubicBezTo>
                      <a:cubicBezTo>
                        <a:pt x="21447" y="3535"/>
                        <a:pt x="21411" y="4258"/>
                        <a:pt x="21440" y="5013"/>
                      </a:cubicBezTo>
                      <a:cubicBezTo>
                        <a:pt x="21470" y="5767"/>
                        <a:pt x="21385" y="6136"/>
                        <a:pt x="21440" y="6959"/>
                      </a:cubicBezTo>
                      <a:cubicBezTo>
                        <a:pt x="21496" y="7782"/>
                        <a:pt x="21469" y="8275"/>
                        <a:pt x="21440" y="8905"/>
                      </a:cubicBezTo>
                      <a:cubicBezTo>
                        <a:pt x="21412" y="9535"/>
                        <a:pt x="21397" y="10422"/>
                        <a:pt x="21440" y="11065"/>
                      </a:cubicBezTo>
                      <a:cubicBezTo>
                        <a:pt x="21484" y="11708"/>
                        <a:pt x="21503" y="12309"/>
                        <a:pt x="21440" y="13225"/>
                      </a:cubicBezTo>
                      <a:cubicBezTo>
                        <a:pt x="21378" y="14141"/>
                        <a:pt x="21334" y="14310"/>
                        <a:pt x="21440" y="15385"/>
                      </a:cubicBezTo>
                      <a:cubicBezTo>
                        <a:pt x="21547" y="16460"/>
                        <a:pt x="21441" y="16261"/>
                        <a:pt x="21440" y="16689"/>
                      </a:cubicBezTo>
                      <a:cubicBezTo>
                        <a:pt x="21440" y="17117"/>
                        <a:pt x="21399" y="17724"/>
                        <a:pt x="21440" y="18207"/>
                      </a:cubicBezTo>
                      <a:cubicBezTo>
                        <a:pt x="21482" y="18689"/>
                        <a:pt x="21521" y="19893"/>
                        <a:pt x="21440" y="21437"/>
                      </a:cubicBezTo>
                      <a:cubicBezTo>
                        <a:pt x="21059" y="21419"/>
                        <a:pt x="20529" y="21383"/>
                        <a:pt x="19710" y="21437"/>
                      </a:cubicBezTo>
                      <a:cubicBezTo>
                        <a:pt x="18891" y="21492"/>
                        <a:pt x="18254" y="21487"/>
                        <a:pt x="17766" y="21437"/>
                      </a:cubicBezTo>
                      <a:cubicBezTo>
                        <a:pt x="17277" y="21387"/>
                        <a:pt x="16821" y="21499"/>
                        <a:pt x="16463" y="21437"/>
                      </a:cubicBezTo>
                      <a:cubicBezTo>
                        <a:pt x="16105" y="21376"/>
                        <a:pt x="15599" y="21441"/>
                        <a:pt x="15160" y="21437"/>
                      </a:cubicBezTo>
                      <a:cubicBezTo>
                        <a:pt x="14722" y="21434"/>
                        <a:pt x="14040" y="21430"/>
                        <a:pt x="13216" y="21437"/>
                      </a:cubicBezTo>
                      <a:cubicBezTo>
                        <a:pt x="12392" y="21444"/>
                        <a:pt x="12035" y="21479"/>
                        <a:pt x="11700" y="21437"/>
                      </a:cubicBezTo>
                      <a:cubicBezTo>
                        <a:pt x="11364" y="21396"/>
                        <a:pt x="10480" y="21450"/>
                        <a:pt x="9541" y="21437"/>
                      </a:cubicBezTo>
                      <a:cubicBezTo>
                        <a:pt x="8602" y="21425"/>
                        <a:pt x="8447" y="21422"/>
                        <a:pt x="8025" y="21437"/>
                      </a:cubicBezTo>
                      <a:cubicBezTo>
                        <a:pt x="7602" y="21453"/>
                        <a:pt x="6619" y="21333"/>
                        <a:pt x="5867" y="21437"/>
                      </a:cubicBezTo>
                      <a:cubicBezTo>
                        <a:pt x="5115" y="21542"/>
                        <a:pt x="5089" y="21452"/>
                        <a:pt x="4564" y="21437"/>
                      </a:cubicBezTo>
                      <a:cubicBezTo>
                        <a:pt x="4039" y="21423"/>
                        <a:pt x="2859" y="21541"/>
                        <a:pt x="2406" y="21437"/>
                      </a:cubicBezTo>
                      <a:cubicBezTo>
                        <a:pt x="1953" y="21334"/>
                        <a:pt x="604" y="21432"/>
                        <a:pt x="53" y="21437"/>
                      </a:cubicBezTo>
                      <a:cubicBezTo>
                        <a:pt x="106" y="20923"/>
                        <a:pt x="112" y="20560"/>
                        <a:pt x="53" y="20134"/>
                      </a:cubicBezTo>
                      <a:cubicBezTo>
                        <a:pt x="-5" y="19707"/>
                        <a:pt x="-30" y="19043"/>
                        <a:pt x="53" y="18402"/>
                      </a:cubicBezTo>
                      <a:cubicBezTo>
                        <a:pt x="136" y="17760"/>
                        <a:pt x="157" y="16858"/>
                        <a:pt x="53" y="16027"/>
                      </a:cubicBezTo>
                      <a:cubicBezTo>
                        <a:pt x="-51" y="15196"/>
                        <a:pt x="121" y="15079"/>
                        <a:pt x="53" y="14509"/>
                      </a:cubicBezTo>
                      <a:cubicBezTo>
                        <a:pt x="-14" y="13940"/>
                        <a:pt x="25" y="13783"/>
                        <a:pt x="53" y="13206"/>
                      </a:cubicBezTo>
                      <a:cubicBezTo>
                        <a:pt x="81" y="12628"/>
                        <a:pt x="90" y="12222"/>
                        <a:pt x="53" y="11902"/>
                      </a:cubicBezTo>
                      <a:cubicBezTo>
                        <a:pt x="17" y="11581"/>
                        <a:pt x="47" y="10240"/>
                        <a:pt x="53" y="9742"/>
                      </a:cubicBezTo>
                      <a:cubicBezTo>
                        <a:pt x="60" y="9243"/>
                        <a:pt x="36" y="8963"/>
                        <a:pt x="53" y="8438"/>
                      </a:cubicBezTo>
                      <a:cubicBezTo>
                        <a:pt x="70" y="7912"/>
                        <a:pt x="-34" y="6906"/>
                        <a:pt x="53" y="6492"/>
                      </a:cubicBezTo>
                      <a:cubicBezTo>
                        <a:pt x="140" y="6077"/>
                        <a:pt x="46" y="5326"/>
                        <a:pt x="53" y="4974"/>
                      </a:cubicBezTo>
                      <a:cubicBezTo>
                        <a:pt x="61" y="4621"/>
                        <a:pt x="38" y="3703"/>
                        <a:pt x="53" y="3028"/>
                      </a:cubicBezTo>
                      <a:cubicBezTo>
                        <a:pt x="69" y="2352"/>
                        <a:pt x="-53" y="922"/>
                        <a:pt x="53" y="31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  <p:grpSp>
            <p:nvGrpSpPr>
              <p:cNvPr id="297" name="Group 43"/>
              <p:cNvGrpSpPr/>
              <p:nvPr/>
            </p:nvGrpSpPr>
            <p:grpSpPr>
              <a:xfrm>
                <a:off x="3082118" y="3047751"/>
                <a:ext cx="3975905" cy="1582614"/>
                <a:chOff x="0" y="0"/>
                <a:chExt cx="3975904" cy="1582613"/>
              </a:xfrm>
            </p:grpSpPr>
            <p:sp>
              <p:nvSpPr>
                <p:cNvPr id="294" name="Rectangle 2"/>
                <p:cNvSpPr/>
                <p:nvPr/>
              </p:nvSpPr>
              <p:spPr>
                <a:xfrm>
                  <a:off x="0" y="40080"/>
                  <a:ext cx="3973085" cy="154253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29" h="21324" fill="norm" stroke="1" extrusionOk="0">
                      <a:moveTo>
                        <a:pt x="52" y="128"/>
                      </a:moveTo>
                      <a:cubicBezTo>
                        <a:pt x="686" y="189"/>
                        <a:pt x="1311" y="-176"/>
                        <a:pt x="1981" y="128"/>
                      </a:cubicBezTo>
                      <a:cubicBezTo>
                        <a:pt x="2651" y="433"/>
                        <a:pt x="3152" y="353"/>
                        <a:pt x="3481" y="128"/>
                      </a:cubicBezTo>
                      <a:cubicBezTo>
                        <a:pt x="3809" y="-96"/>
                        <a:pt x="4799" y="423"/>
                        <a:pt x="6052" y="128"/>
                      </a:cubicBezTo>
                      <a:cubicBezTo>
                        <a:pt x="7305" y="-166"/>
                        <a:pt x="7346" y="239"/>
                        <a:pt x="7981" y="128"/>
                      </a:cubicBezTo>
                      <a:cubicBezTo>
                        <a:pt x="8615" y="18"/>
                        <a:pt x="9153" y="-11"/>
                        <a:pt x="9909" y="128"/>
                      </a:cubicBezTo>
                      <a:cubicBezTo>
                        <a:pt x="10665" y="268"/>
                        <a:pt x="11479" y="282"/>
                        <a:pt x="12480" y="128"/>
                      </a:cubicBezTo>
                      <a:cubicBezTo>
                        <a:pt x="13482" y="-25"/>
                        <a:pt x="13747" y="362"/>
                        <a:pt x="14195" y="128"/>
                      </a:cubicBezTo>
                      <a:cubicBezTo>
                        <a:pt x="14642" y="-105"/>
                        <a:pt x="16007" y="281"/>
                        <a:pt x="16766" y="128"/>
                      </a:cubicBezTo>
                      <a:cubicBezTo>
                        <a:pt x="17525" y="-24"/>
                        <a:pt x="18070" y="197"/>
                        <a:pt x="19337" y="128"/>
                      </a:cubicBezTo>
                      <a:cubicBezTo>
                        <a:pt x="20605" y="60"/>
                        <a:pt x="20463" y="-123"/>
                        <a:pt x="21480" y="128"/>
                      </a:cubicBezTo>
                      <a:cubicBezTo>
                        <a:pt x="21519" y="3504"/>
                        <a:pt x="21520" y="5518"/>
                        <a:pt x="21480" y="7574"/>
                      </a:cubicBezTo>
                      <a:cubicBezTo>
                        <a:pt x="21441" y="9630"/>
                        <a:pt x="21394" y="12321"/>
                        <a:pt x="21480" y="14809"/>
                      </a:cubicBezTo>
                      <a:cubicBezTo>
                        <a:pt x="21566" y="17297"/>
                        <a:pt x="21523" y="19895"/>
                        <a:pt x="21480" y="21201"/>
                      </a:cubicBezTo>
                      <a:cubicBezTo>
                        <a:pt x="20987" y="21326"/>
                        <a:pt x="20111" y="21320"/>
                        <a:pt x="19337" y="21201"/>
                      </a:cubicBezTo>
                      <a:cubicBezTo>
                        <a:pt x="18564" y="21081"/>
                        <a:pt x="18116" y="21123"/>
                        <a:pt x="17623" y="21201"/>
                      </a:cubicBezTo>
                      <a:cubicBezTo>
                        <a:pt x="17131" y="21278"/>
                        <a:pt x="15980" y="21008"/>
                        <a:pt x="15480" y="21201"/>
                      </a:cubicBezTo>
                      <a:cubicBezTo>
                        <a:pt x="14980" y="21393"/>
                        <a:pt x="13762" y="21002"/>
                        <a:pt x="12909" y="21201"/>
                      </a:cubicBezTo>
                      <a:cubicBezTo>
                        <a:pt x="12056" y="21399"/>
                        <a:pt x="11283" y="21014"/>
                        <a:pt x="10766" y="21201"/>
                      </a:cubicBezTo>
                      <a:cubicBezTo>
                        <a:pt x="10250" y="21387"/>
                        <a:pt x="9963" y="21074"/>
                        <a:pt x="9266" y="21201"/>
                      </a:cubicBezTo>
                      <a:cubicBezTo>
                        <a:pt x="8569" y="21327"/>
                        <a:pt x="8233" y="21144"/>
                        <a:pt x="7552" y="21201"/>
                      </a:cubicBezTo>
                      <a:cubicBezTo>
                        <a:pt x="6871" y="21258"/>
                        <a:pt x="5903" y="21109"/>
                        <a:pt x="4981" y="21201"/>
                      </a:cubicBezTo>
                      <a:cubicBezTo>
                        <a:pt x="4058" y="21292"/>
                        <a:pt x="3537" y="21424"/>
                        <a:pt x="2838" y="21201"/>
                      </a:cubicBezTo>
                      <a:cubicBezTo>
                        <a:pt x="2139" y="20978"/>
                        <a:pt x="890" y="21294"/>
                        <a:pt x="52" y="21201"/>
                      </a:cubicBezTo>
                      <a:cubicBezTo>
                        <a:pt x="-34" y="19084"/>
                        <a:pt x="2" y="16536"/>
                        <a:pt x="52" y="14177"/>
                      </a:cubicBezTo>
                      <a:cubicBezTo>
                        <a:pt x="102" y="11817"/>
                        <a:pt x="70" y="10520"/>
                        <a:pt x="52" y="7785"/>
                      </a:cubicBezTo>
                      <a:cubicBezTo>
                        <a:pt x="35" y="5049"/>
                        <a:pt x="120" y="2341"/>
                        <a:pt x="52" y="128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A6A6A6"/>
                      </a:solidFill>
                    </a:defRPr>
                  </a:pPr>
                </a:p>
              </p:txBody>
            </p:sp>
            <p:sp>
              <p:nvSpPr>
                <p:cNvPr id="295" name="Straight Connector 25"/>
                <p:cNvSpPr/>
                <p:nvPr/>
              </p:nvSpPr>
              <p:spPr>
                <a:xfrm flipH="1">
                  <a:off x="9574" y="299990"/>
                  <a:ext cx="3966331" cy="1434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t">
                  <a:noAutofit/>
                </a:bodyPr>
                <a:lstStyle/>
                <a:p>
                  <a:pPr>
                    <a:defRPr sz="1600"/>
                  </a:pPr>
                </a:p>
              </p:txBody>
            </p:sp>
            <p:sp>
              <p:nvSpPr>
                <p:cNvPr id="296" name="TextBox 30"/>
                <p:cNvSpPr txBox="1"/>
                <p:nvPr/>
              </p:nvSpPr>
              <p:spPr>
                <a:xfrm>
                  <a:off x="550042" y="0"/>
                  <a:ext cx="956853" cy="32938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641" tIns="38641" rIns="38641" bIns="38641" numCol="1" anchor="t">
                  <a:noAutofit/>
                </a:bodyPr>
                <a:lstStyle>
                  <a:lvl1pPr>
                    <a:defRPr sz="1600">
                      <a:latin typeface="Gaegu Regular"/>
                      <a:ea typeface="Gaegu Regular"/>
                      <a:cs typeface="Gaegu Regular"/>
                      <a:sym typeface="Gaegu Regular"/>
                    </a:defRPr>
                  </a:lvl1pPr>
                </a:lstStyle>
                <a:p>
                  <a:pPr/>
                  <a:r>
                    <a:t>Terminal</a:t>
                  </a:r>
                </a:p>
              </p:txBody>
            </p:sp>
          </p:grpSp>
          <p:grpSp>
            <p:nvGrpSpPr>
              <p:cNvPr id="300" name="Group 13"/>
              <p:cNvGrpSpPr/>
              <p:nvPr/>
            </p:nvGrpSpPr>
            <p:grpSpPr>
              <a:xfrm>
                <a:off x="76596" y="3115233"/>
                <a:ext cx="1568067" cy="498683"/>
                <a:chOff x="0" y="0"/>
                <a:chExt cx="1568066" cy="498682"/>
              </a:xfrm>
            </p:grpSpPr>
            <p:sp>
              <p:nvSpPr>
                <p:cNvPr id="298" name="TextBox 14"/>
                <p:cNvSpPr txBox="1"/>
                <p:nvPr/>
              </p:nvSpPr>
              <p:spPr>
                <a:xfrm>
                  <a:off x="0" y="0"/>
                  <a:ext cx="723677" cy="49868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641" tIns="38641" rIns="38641" bIns="38641" numCol="1" anchor="t">
                  <a:noAutofit/>
                </a:bodyPr>
                <a:lstStyle/>
                <a:p>
                  <a:pPr>
                    <a:defRPr sz="1200"/>
                  </a:pPr>
                  <a:r>
                    <a:t>Program</a:t>
                  </a:r>
                </a:p>
                <a:p>
                  <a:pPr>
                    <a:defRPr sz="1200"/>
                  </a:pPr>
                  <a:r>
                    <a:t>Counter</a:t>
                  </a:r>
                </a:p>
              </p:txBody>
            </p:sp>
            <p:sp>
              <p:nvSpPr>
                <p:cNvPr id="299" name="Rectangle 16"/>
                <p:cNvSpPr/>
                <p:nvPr/>
              </p:nvSpPr>
              <p:spPr>
                <a:xfrm>
                  <a:off x="717688" y="102984"/>
                  <a:ext cx="850379" cy="31846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38" h="20789" fill="norm" stroke="1" extrusionOk="0">
                      <a:moveTo>
                        <a:pt x="62" y="468"/>
                      </a:moveTo>
                      <a:cubicBezTo>
                        <a:pt x="4396" y="730"/>
                        <a:pt x="7646" y="1130"/>
                        <a:pt x="10536" y="468"/>
                      </a:cubicBezTo>
                      <a:cubicBezTo>
                        <a:pt x="13427" y="-194"/>
                        <a:pt x="18140" y="-118"/>
                        <a:pt x="21438" y="468"/>
                      </a:cubicBezTo>
                      <a:cubicBezTo>
                        <a:pt x="21167" y="4501"/>
                        <a:pt x="21162" y="14670"/>
                        <a:pt x="21438" y="20409"/>
                      </a:cubicBezTo>
                      <a:cubicBezTo>
                        <a:pt x="19153" y="20087"/>
                        <a:pt x="14888" y="21406"/>
                        <a:pt x="10750" y="20409"/>
                      </a:cubicBezTo>
                      <a:cubicBezTo>
                        <a:pt x="6612" y="19413"/>
                        <a:pt x="3395" y="21240"/>
                        <a:pt x="62" y="20409"/>
                      </a:cubicBezTo>
                      <a:cubicBezTo>
                        <a:pt x="309" y="11565"/>
                        <a:pt x="-162" y="4735"/>
                        <a:pt x="62" y="468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ctr">
                  <a:noAutofit/>
                </a:bodyPr>
                <a:lstStyle/>
                <a:p>
                  <a:pPr algn="ctr">
                    <a:defRPr sz="1600"/>
                  </a:pPr>
                </a:p>
              </p:txBody>
            </p:sp>
          </p:grpSp>
          <p:sp>
            <p:nvSpPr>
              <p:cNvPr id="301" name="Rectangle 37"/>
              <p:cNvSpPr/>
              <p:nvPr/>
            </p:nvSpPr>
            <p:spPr>
              <a:xfrm>
                <a:off x="8457" y="3107818"/>
                <a:ext cx="3003015" cy="15286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61" h="21229" fill="norm" stroke="1" extrusionOk="0">
                    <a:moveTo>
                      <a:pt x="93" y="147"/>
                    </a:moveTo>
                    <a:cubicBezTo>
                      <a:pt x="1527" y="156"/>
                      <a:pt x="2742" y="-188"/>
                      <a:pt x="4144" y="147"/>
                    </a:cubicBezTo>
                    <a:cubicBezTo>
                      <a:pt x="5546" y="482"/>
                      <a:pt x="6786" y="220"/>
                      <a:pt x="7768" y="147"/>
                    </a:cubicBezTo>
                    <a:cubicBezTo>
                      <a:pt x="8751" y="75"/>
                      <a:pt x="11208" y="173"/>
                      <a:pt x="12459" y="147"/>
                    </a:cubicBezTo>
                    <a:cubicBezTo>
                      <a:pt x="13710" y="121"/>
                      <a:pt x="14966" y="-109"/>
                      <a:pt x="16510" y="147"/>
                    </a:cubicBezTo>
                    <a:cubicBezTo>
                      <a:pt x="18054" y="403"/>
                      <a:pt x="19766" y="-280"/>
                      <a:pt x="21414" y="147"/>
                    </a:cubicBezTo>
                    <a:cubicBezTo>
                      <a:pt x="21354" y="3318"/>
                      <a:pt x="21384" y="4316"/>
                      <a:pt x="21414" y="7523"/>
                    </a:cubicBezTo>
                    <a:cubicBezTo>
                      <a:pt x="21444" y="10729"/>
                      <a:pt x="21419" y="12620"/>
                      <a:pt x="21414" y="14481"/>
                    </a:cubicBezTo>
                    <a:cubicBezTo>
                      <a:pt x="21409" y="16341"/>
                      <a:pt x="21522" y="17780"/>
                      <a:pt x="21414" y="21021"/>
                    </a:cubicBezTo>
                    <a:cubicBezTo>
                      <a:pt x="20240" y="21193"/>
                      <a:pt x="18564" y="21099"/>
                      <a:pt x="17576" y="21021"/>
                    </a:cubicBezTo>
                    <a:cubicBezTo>
                      <a:pt x="16588" y="20944"/>
                      <a:pt x="14967" y="20968"/>
                      <a:pt x="13312" y="21021"/>
                    </a:cubicBezTo>
                    <a:cubicBezTo>
                      <a:pt x="11657" y="21075"/>
                      <a:pt x="10619" y="20797"/>
                      <a:pt x="9048" y="21021"/>
                    </a:cubicBezTo>
                    <a:cubicBezTo>
                      <a:pt x="7477" y="21246"/>
                      <a:pt x="6607" y="20723"/>
                      <a:pt x="4997" y="21021"/>
                    </a:cubicBezTo>
                    <a:cubicBezTo>
                      <a:pt x="3387" y="21320"/>
                      <a:pt x="2263" y="21277"/>
                      <a:pt x="93" y="21021"/>
                    </a:cubicBezTo>
                    <a:cubicBezTo>
                      <a:pt x="19" y="19440"/>
                      <a:pt x="-73" y="16863"/>
                      <a:pt x="93" y="13646"/>
                    </a:cubicBezTo>
                    <a:cubicBezTo>
                      <a:pt x="259" y="10429"/>
                      <a:pt x="264" y="7833"/>
                      <a:pt x="93" y="6270"/>
                    </a:cubicBezTo>
                    <a:cubicBezTo>
                      <a:pt x="-78" y="4708"/>
                      <a:pt x="221" y="3023"/>
                      <a:pt x="93" y="147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38641" tIns="38641" rIns="38641" bIns="38641" numCol="1" anchor="ctr">
                <a:noAutofit/>
              </a:bodyPr>
              <a:lstStyle/>
              <a:p>
                <a:pPr algn="ctr">
                  <a:defRPr sz="2000">
                    <a:solidFill>
                      <a:srgbClr val="FFFFFF"/>
                    </a:solidFill>
                  </a:defRPr>
                </a:pPr>
              </a:p>
            </p:txBody>
          </p:sp>
          <p:pic>
            <p:nvPicPr>
              <p:cNvPr id="302" name="Picture 62" descr="Picture 62"/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3186444" y="3160863"/>
                <a:ext cx="422831" cy="15126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303" name="TextBox 10"/>
              <p:cNvSpPr txBox="1"/>
              <p:nvPr/>
            </p:nvSpPr>
            <p:spPr>
              <a:xfrm>
                <a:off x="6098993" y="0"/>
                <a:ext cx="868322" cy="32938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641" tIns="38641" rIns="38641" bIns="38641" numCol="1" anchor="t">
                <a:noAutofit/>
              </a:bodyPr>
              <a:lstStyle>
                <a:lvl1pPr>
                  <a:defRPr sz="1600">
                    <a:latin typeface="Gaegu Regular"/>
                    <a:ea typeface="Gaegu Regular"/>
                    <a:cs typeface="Gaegu Regular"/>
                    <a:sym typeface="Gaegu Regular"/>
                  </a:defRPr>
                </a:lvl1pPr>
              </a:lstStyle>
              <a:p>
                <a:pPr/>
                <a:r>
                  <a:t>Memory</a:t>
                </a:r>
              </a:p>
            </p:txBody>
          </p:sp>
        </p:grpSp>
        <p:sp>
          <p:nvSpPr>
            <p:cNvPr id="305" name="Straight Connector 40"/>
            <p:cNvSpPr/>
            <p:nvPr/>
          </p:nvSpPr>
          <p:spPr>
            <a:xfrm flipV="1">
              <a:off x="3166026" y="3687737"/>
              <a:ext cx="1" cy="18943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t">
              <a:noAutofit/>
            </a:bodyPr>
            <a:lstStyle/>
            <a:p>
              <a:pPr>
                <a:defRPr sz="1600"/>
              </a:pPr>
            </a:p>
          </p:txBody>
        </p:sp>
        <p:grpSp>
          <p:nvGrpSpPr>
            <p:cNvPr id="308" name="Group 19"/>
            <p:cNvGrpSpPr/>
            <p:nvPr/>
          </p:nvGrpSpPr>
          <p:grpSpPr>
            <a:xfrm>
              <a:off x="714015" y="3616436"/>
              <a:ext cx="2224521" cy="274970"/>
              <a:chOff x="-6162" y="0"/>
              <a:chExt cx="2224520" cy="274969"/>
            </a:xfrm>
          </p:grpSpPr>
          <p:sp>
            <p:nvSpPr>
              <p:cNvPr id="306" name="TextBox 21"/>
              <p:cNvSpPr txBox="1"/>
              <p:nvPr/>
            </p:nvSpPr>
            <p:spPr>
              <a:xfrm>
                <a:off x="-6163" y="0"/>
                <a:ext cx="822688" cy="2749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641" tIns="38641" rIns="38641" bIns="38641" numCol="1" anchor="t">
                <a:noAutofit/>
              </a:bodyPr>
              <a:lstStyle>
                <a:lvl1pPr algn="ctr">
                  <a:defRPr sz="1200"/>
                </a:lvl1pPr>
              </a:lstStyle>
              <a:p>
                <a:pPr/>
                <a:r>
                  <a:t>Register 0</a:t>
                </a:r>
              </a:p>
            </p:txBody>
          </p:sp>
          <p:sp>
            <p:nvSpPr>
              <p:cNvPr id="307" name="Rectangle 22"/>
              <p:cNvSpPr/>
              <p:nvPr/>
            </p:nvSpPr>
            <p:spPr>
              <a:xfrm>
                <a:off x="855322" y="26429"/>
                <a:ext cx="1363037" cy="2467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99" h="20332" fill="norm" stroke="1" extrusionOk="0">
                    <a:moveTo>
                      <a:pt x="31" y="364"/>
                    </a:moveTo>
                    <a:cubicBezTo>
                      <a:pt x="2762" y="1659"/>
                      <a:pt x="4299" y="-408"/>
                      <a:pt x="6965" y="364"/>
                    </a:cubicBezTo>
                    <a:cubicBezTo>
                      <a:pt x="9630" y="1136"/>
                      <a:pt x="11326" y="-756"/>
                      <a:pt x="13470" y="364"/>
                    </a:cubicBezTo>
                    <a:cubicBezTo>
                      <a:pt x="15613" y="1484"/>
                      <a:pt x="19369" y="1304"/>
                      <a:pt x="21476" y="364"/>
                    </a:cubicBezTo>
                    <a:cubicBezTo>
                      <a:pt x="21549" y="8786"/>
                      <a:pt x="21420" y="12756"/>
                      <a:pt x="21476" y="19711"/>
                    </a:cubicBezTo>
                    <a:cubicBezTo>
                      <a:pt x="19782" y="20844"/>
                      <a:pt x="16772" y="20167"/>
                      <a:pt x="14757" y="19711"/>
                    </a:cubicBezTo>
                    <a:cubicBezTo>
                      <a:pt x="12742" y="19256"/>
                      <a:pt x="10818" y="20654"/>
                      <a:pt x="7179" y="19711"/>
                    </a:cubicBezTo>
                    <a:cubicBezTo>
                      <a:pt x="3541" y="18768"/>
                      <a:pt x="2819" y="20729"/>
                      <a:pt x="31" y="19711"/>
                    </a:cubicBezTo>
                    <a:cubicBezTo>
                      <a:pt x="-51" y="11606"/>
                      <a:pt x="57" y="5355"/>
                      <a:pt x="31" y="364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38641" tIns="38641" rIns="38641" bIns="38641" numCol="1" anchor="ctr">
                <a:noAutofit/>
              </a:bodyPr>
              <a:lstStyle/>
              <a:p>
                <a:pPr algn="ctr">
                  <a:defRPr sz="1600"/>
                </a:pPr>
              </a:p>
            </p:txBody>
          </p:sp>
        </p:grpSp>
        <p:sp>
          <p:nvSpPr>
            <p:cNvPr id="309" name="TextBox 33"/>
            <p:cNvSpPr txBox="1"/>
            <p:nvPr/>
          </p:nvSpPr>
          <p:spPr>
            <a:xfrm>
              <a:off x="722658" y="3924432"/>
              <a:ext cx="822688" cy="2749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200"/>
              </a:lvl1pPr>
            </a:lstStyle>
            <a:p>
              <a:pPr/>
              <a:r>
                <a:t>Register 1</a:t>
              </a:r>
            </a:p>
          </p:txBody>
        </p:sp>
        <p:sp>
          <p:nvSpPr>
            <p:cNvPr id="310" name="Rectangle 38"/>
            <p:cNvSpPr/>
            <p:nvPr/>
          </p:nvSpPr>
          <p:spPr>
            <a:xfrm>
              <a:off x="1576707" y="3953521"/>
              <a:ext cx="1360509" cy="263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5" h="20012" fill="norm" stroke="1" extrusionOk="0">
                  <a:moveTo>
                    <a:pt x="12" y="791"/>
                  </a:moveTo>
                  <a:cubicBezTo>
                    <a:pt x="3241" y="407"/>
                    <a:pt x="7659" y="781"/>
                    <a:pt x="10557" y="791"/>
                  </a:cubicBezTo>
                  <a:cubicBezTo>
                    <a:pt x="13455" y="800"/>
                    <a:pt x="16772" y="-994"/>
                    <a:pt x="21533" y="791"/>
                  </a:cubicBezTo>
                  <a:cubicBezTo>
                    <a:pt x="21557" y="8082"/>
                    <a:pt x="21370" y="11661"/>
                    <a:pt x="21533" y="18637"/>
                  </a:cubicBezTo>
                  <a:cubicBezTo>
                    <a:pt x="16322" y="19573"/>
                    <a:pt x="13444" y="16668"/>
                    <a:pt x="10772" y="18637"/>
                  </a:cubicBezTo>
                  <a:cubicBezTo>
                    <a:pt x="8100" y="20606"/>
                    <a:pt x="3639" y="20327"/>
                    <a:pt x="12" y="18637"/>
                  </a:cubicBezTo>
                  <a:cubicBezTo>
                    <a:pt x="-43" y="13404"/>
                    <a:pt x="111" y="8672"/>
                    <a:pt x="12" y="791"/>
                  </a:cubicBezTo>
                  <a:close/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311" name="TextBox 39"/>
            <p:cNvSpPr txBox="1"/>
            <p:nvPr/>
          </p:nvSpPr>
          <p:spPr>
            <a:xfrm>
              <a:off x="719332" y="4251600"/>
              <a:ext cx="822688" cy="2749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200"/>
              </a:lvl1pPr>
            </a:lstStyle>
            <a:p>
              <a:pPr/>
              <a:r>
                <a:t>Register 2</a:t>
              </a:r>
            </a:p>
          </p:txBody>
        </p:sp>
        <p:sp>
          <p:nvSpPr>
            <p:cNvPr id="312" name="Rectangle 42"/>
            <p:cNvSpPr/>
            <p:nvPr/>
          </p:nvSpPr>
          <p:spPr>
            <a:xfrm>
              <a:off x="1564737" y="4272046"/>
              <a:ext cx="1360509" cy="263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5" h="20012" fill="norm" stroke="1" extrusionOk="0">
                  <a:moveTo>
                    <a:pt x="12" y="791"/>
                  </a:moveTo>
                  <a:cubicBezTo>
                    <a:pt x="3241" y="407"/>
                    <a:pt x="7659" y="781"/>
                    <a:pt x="10557" y="791"/>
                  </a:cubicBezTo>
                  <a:cubicBezTo>
                    <a:pt x="13455" y="800"/>
                    <a:pt x="16772" y="-994"/>
                    <a:pt x="21533" y="791"/>
                  </a:cubicBezTo>
                  <a:cubicBezTo>
                    <a:pt x="21557" y="8082"/>
                    <a:pt x="21370" y="11661"/>
                    <a:pt x="21533" y="18637"/>
                  </a:cubicBezTo>
                  <a:cubicBezTo>
                    <a:pt x="16322" y="19573"/>
                    <a:pt x="13444" y="16668"/>
                    <a:pt x="10772" y="18637"/>
                  </a:cubicBezTo>
                  <a:cubicBezTo>
                    <a:pt x="8100" y="20606"/>
                    <a:pt x="3639" y="20327"/>
                    <a:pt x="12" y="18637"/>
                  </a:cubicBezTo>
                  <a:cubicBezTo>
                    <a:pt x="-43" y="13404"/>
                    <a:pt x="111" y="8672"/>
                    <a:pt x="12" y="791"/>
                  </a:cubicBezTo>
                  <a:close/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313" name="TextBox 45"/>
            <p:cNvSpPr txBox="1"/>
            <p:nvPr/>
          </p:nvSpPr>
          <p:spPr>
            <a:xfrm>
              <a:off x="2066489" y="571180"/>
              <a:ext cx="4533238" cy="11184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/>
            <a:p>
              <a:pPr marL="300037" indent="-300037">
                <a:buSzPct val="100000"/>
                <a:buAutoNum type="arabicPeriod" startAt="1"/>
                <a:defRPr sz="1400"/>
              </a:pPr>
              <a:r>
                <a:t>open_window</a:t>
              </a:r>
              <a:r>
                <a:rPr>
                  <a:solidFill>
                    <a:schemeClr val="accent3">
                      <a:lumOff val="-12941"/>
                    </a:schemeClr>
                  </a:solidFill>
                </a:rPr>
                <a:t>(“Test Color", 800, 600);</a:t>
              </a:r>
            </a:p>
            <a:p>
              <a:pPr marL="300037" indent="-300037">
                <a:buSzPct val="100000"/>
                <a:buAutoNum type="arabicPeriod" startAt="1"/>
                <a:defRPr sz="1400">
                  <a:solidFill>
                    <a:srgbClr val="A6A6A6"/>
                  </a:solidFill>
                </a:defRPr>
              </a:pPr>
              <a:r>
                <a:t>clear_screen(COLOR_BLUE);</a:t>
              </a:r>
            </a:p>
            <a:p>
              <a:pPr marL="300037" indent="-300037">
                <a:buSzPct val="100000"/>
                <a:buAutoNum type="arabicPeriod" startAt="1"/>
                <a:defRPr sz="1400">
                  <a:solidFill>
                    <a:srgbClr val="A6A6A6"/>
                  </a:solidFill>
                </a:defRPr>
              </a:pPr>
              <a:r>
                <a:t>refresh_screen();</a:t>
              </a:r>
            </a:p>
            <a:p>
              <a:pPr marL="300037" indent="-300037">
                <a:buSzPct val="100000"/>
                <a:buAutoNum type="arabicPeriod" startAt="1"/>
                <a:defRPr sz="1400">
                  <a:solidFill>
                    <a:srgbClr val="A6A6A6"/>
                  </a:solidFill>
                </a:defRPr>
              </a:pPr>
              <a:r>
                <a:t>delay(5000);</a:t>
              </a:r>
            </a:p>
          </p:txBody>
        </p:sp>
        <p:sp>
          <p:nvSpPr>
            <p:cNvPr id="314" name="TextBox 46"/>
            <p:cNvSpPr txBox="1"/>
            <p:nvPr/>
          </p:nvSpPr>
          <p:spPr>
            <a:xfrm>
              <a:off x="3093495" y="3332980"/>
              <a:ext cx="1330381" cy="336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>
                <a:defRPr sz="1600"/>
              </a:lvl1pPr>
            </a:lstStyle>
            <a:p>
              <a:pPr/>
              <a:r>
                <a:t>./screen-test</a:t>
              </a:r>
            </a:p>
          </p:txBody>
        </p:sp>
        <p:sp>
          <p:nvSpPr>
            <p:cNvPr id="315" name="Straight Arrow Connector 55"/>
            <p:cNvSpPr/>
            <p:nvPr/>
          </p:nvSpPr>
          <p:spPr>
            <a:xfrm rot="16200000">
              <a:off x="1006081" y="2079495"/>
              <a:ext cx="1301637" cy="8843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21462" y="21600"/>
                  </a:lnTo>
                </a:path>
              </a:pathLst>
            </a:custGeom>
            <a:noFill/>
            <a:ln w="12700" cap="flat">
              <a:solidFill>
                <a:srgbClr val="000000"/>
              </a:solidFill>
              <a:custDash>
                <a:ds d="300000" sp="400000"/>
              </a:custDash>
              <a:round/>
              <a:tailEnd type="triangle" w="med" len="med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316" name="TextBox 50"/>
            <p:cNvSpPr txBox="1"/>
            <p:nvPr/>
          </p:nvSpPr>
          <p:spPr>
            <a:xfrm>
              <a:off x="847706" y="3189722"/>
              <a:ext cx="739591" cy="336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600"/>
              </a:lvl1pPr>
            </a:lstStyle>
            <a:p>
              <a:pPr/>
              <a:r>
                <a:t>127</a:t>
              </a:r>
            </a:p>
          </p:txBody>
        </p:sp>
        <p:sp>
          <p:nvSpPr>
            <p:cNvPr id="317" name="TextBox 52"/>
            <p:cNvSpPr txBox="1"/>
            <p:nvPr/>
          </p:nvSpPr>
          <p:spPr>
            <a:xfrm>
              <a:off x="3331081" y="355601"/>
              <a:ext cx="3003805" cy="336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/>
            <a:p>
              <a:pPr>
                <a:defRPr sz="1600">
                  <a:solidFill>
                    <a:srgbClr val="C00000"/>
                  </a:solidFill>
                </a:defRPr>
              </a:pPr>
              <a:r>
                <a:t>d</a:t>
              </a:r>
              <a:r>
                <a:rPr>
                  <a:solidFill>
                    <a:srgbClr val="A6A6A6"/>
                  </a:solidFill>
                </a:rPr>
                <a:t>            a          b     c</a:t>
              </a:r>
            </a:p>
          </p:txBody>
        </p:sp>
        <p:sp>
          <p:nvSpPr>
            <p:cNvPr id="318" name="TextBox 6"/>
            <p:cNvSpPr txBox="1"/>
            <p:nvPr/>
          </p:nvSpPr>
          <p:spPr>
            <a:xfrm>
              <a:off x="1615063" y="3612361"/>
              <a:ext cx="1276634" cy="2749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>
                <a:defRPr sz="1200"/>
              </a:lvl1pPr>
            </a:lstStyle>
            <a:p>
              <a:pPr/>
              <a:r>
                <a:t>"Test Color"</a:t>
              </a:r>
            </a:p>
          </p:txBody>
        </p:sp>
        <p:sp>
          <p:nvSpPr>
            <p:cNvPr id="319" name="TextBox 5"/>
            <p:cNvSpPr txBox="1"/>
            <p:nvPr/>
          </p:nvSpPr>
          <p:spPr>
            <a:xfrm>
              <a:off x="1622270" y="3926663"/>
              <a:ext cx="1276634" cy="2749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200"/>
              </a:lvl1pPr>
            </a:lstStyle>
            <a:p>
              <a:pPr/>
              <a:r>
                <a:t>800</a:t>
              </a:r>
            </a:p>
          </p:txBody>
        </p:sp>
        <p:sp>
          <p:nvSpPr>
            <p:cNvPr id="320" name="TextBox 7"/>
            <p:cNvSpPr txBox="1"/>
            <p:nvPr/>
          </p:nvSpPr>
          <p:spPr>
            <a:xfrm>
              <a:off x="1615063" y="4250886"/>
              <a:ext cx="1276634" cy="2749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200"/>
              </a:lvl1pPr>
            </a:lstStyle>
            <a:p>
              <a:pPr/>
              <a:r>
                <a:t>600</a:t>
              </a:r>
            </a:p>
          </p:txBody>
        </p:sp>
        <p:sp>
          <p:nvSpPr>
            <p:cNvPr id="321" name="TextBox 8"/>
            <p:cNvSpPr txBox="1"/>
            <p:nvPr/>
          </p:nvSpPr>
          <p:spPr>
            <a:xfrm>
              <a:off x="76847" y="1854167"/>
              <a:ext cx="1017737" cy="4986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/>
            <a:p>
              <a:pPr algn="ctr">
                <a:defRPr sz="1200"/>
              </a:pPr>
              <a:r>
                <a:t>Old Program</a:t>
              </a:r>
            </a:p>
            <a:p>
              <a:pPr algn="ctr">
                <a:defRPr sz="1200"/>
              </a:pPr>
              <a:r>
                <a:t>Counter</a:t>
              </a:r>
            </a:p>
          </p:txBody>
        </p:sp>
        <p:grpSp>
          <p:nvGrpSpPr>
            <p:cNvPr id="324" name="Rectangle 24"/>
            <p:cNvGrpSpPr/>
            <p:nvPr/>
          </p:nvGrpSpPr>
          <p:grpSpPr>
            <a:xfrm>
              <a:off x="163639" y="2394553"/>
              <a:ext cx="850379" cy="336375"/>
              <a:chOff x="0" y="-2888"/>
              <a:chExt cx="850377" cy="336373"/>
            </a:xfrm>
          </p:grpSpPr>
          <p:sp>
            <p:nvSpPr>
              <p:cNvPr id="322" name="Shape"/>
              <p:cNvSpPr/>
              <p:nvPr/>
            </p:nvSpPr>
            <p:spPr>
              <a:xfrm>
                <a:off x="0" y="5389"/>
                <a:ext cx="850378" cy="3184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38" h="20789" fill="norm" stroke="1" extrusionOk="0">
                    <a:moveTo>
                      <a:pt x="62" y="468"/>
                    </a:moveTo>
                    <a:cubicBezTo>
                      <a:pt x="4396" y="730"/>
                      <a:pt x="7646" y="1130"/>
                      <a:pt x="10536" y="468"/>
                    </a:cubicBezTo>
                    <a:cubicBezTo>
                      <a:pt x="13427" y="-194"/>
                      <a:pt x="18140" y="-118"/>
                      <a:pt x="21438" y="468"/>
                    </a:cubicBezTo>
                    <a:cubicBezTo>
                      <a:pt x="21167" y="4501"/>
                      <a:pt x="21162" y="14670"/>
                      <a:pt x="21438" y="20409"/>
                    </a:cubicBezTo>
                    <a:cubicBezTo>
                      <a:pt x="19153" y="20087"/>
                      <a:pt x="14888" y="21406"/>
                      <a:pt x="10750" y="20409"/>
                    </a:cubicBezTo>
                    <a:cubicBezTo>
                      <a:pt x="6612" y="19413"/>
                      <a:pt x="3395" y="21240"/>
                      <a:pt x="62" y="20409"/>
                    </a:cubicBezTo>
                    <a:cubicBezTo>
                      <a:pt x="309" y="11565"/>
                      <a:pt x="-162" y="4735"/>
                      <a:pt x="62" y="468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38641" tIns="38641" rIns="38641" bIns="38641" numCol="1" anchor="ctr">
                <a:noAutofit/>
              </a:bodyPr>
              <a:lstStyle/>
              <a:p>
                <a:pPr algn="ctr">
                  <a:defRPr sz="1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23" name="1d"/>
              <p:cNvSpPr txBox="1"/>
              <p:nvPr/>
            </p:nvSpPr>
            <p:spPr>
              <a:xfrm>
                <a:off x="60455" y="-2889"/>
                <a:ext cx="731940" cy="33637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641" tIns="38641" rIns="38641" bIns="38641" numCol="1" anchor="ctr">
                <a:noAutofit/>
              </a:bodyPr>
              <a:lstStyle>
                <a:lvl1pPr algn="ctr">
                  <a:defRPr sz="1600"/>
                </a:lvl1pPr>
              </a:lstStyle>
              <a:p>
                <a:pPr/>
                <a:r>
                  <a:t>1d</a:t>
                </a:r>
              </a:p>
            </p:txBody>
          </p:sp>
        </p:grpSp>
        <p:grpSp>
          <p:nvGrpSpPr>
            <p:cNvPr id="329" name="Rectangle 26"/>
            <p:cNvGrpSpPr/>
            <p:nvPr/>
          </p:nvGrpSpPr>
          <p:grpSpPr>
            <a:xfrm>
              <a:off x="3387306" y="1539990"/>
              <a:ext cx="1891605" cy="248433"/>
              <a:chOff x="0" y="-992"/>
              <a:chExt cx="1891603" cy="248432"/>
            </a:xfrm>
          </p:grpSpPr>
          <p:grpSp>
            <p:nvGrpSpPr>
              <p:cNvPr id="327" name="Group"/>
              <p:cNvGrpSpPr/>
              <p:nvPr/>
            </p:nvGrpSpPr>
            <p:grpSpPr>
              <a:xfrm>
                <a:off x="0" y="4180"/>
                <a:ext cx="1891604" cy="235114"/>
                <a:chOff x="0" y="0"/>
                <a:chExt cx="1891603" cy="235113"/>
              </a:xfrm>
            </p:grpSpPr>
            <p:sp>
              <p:nvSpPr>
                <p:cNvPr id="325" name="Shape"/>
                <p:cNvSpPr/>
                <p:nvPr/>
              </p:nvSpPr>
              <p:spPr>
                <a:xfrm>
                  <a:off x="205" y="-1"/>
                  <a:ext cx="1891399" cy="23511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91" h="20056" fill="norm" stroke="1" extrusionOk="0">
                      <a:moveTo>
                        <a:pt x="23" y="1053"/>
                      </a:moveTo>
                      <a:cubicBezTo>
                        <a:pt x="2197" y="1618"/>
                        <a:pt x="3883" y="129"/>
                        <a:pt x="6958" y="1053"/>
                      </a:cubicBezTo>
                      <a:cubicBezTo>
                        <a:pt x="10033" y="1976"/>
                        <a:pt x="10458" y="2329"/>
                        <a:pt x="13464" y="1053"/>
                      </a:cubicBezTo>
                      <a:cubicBezTo>
                        <a:pt x="16470" y="-224"/>
                        <a:pt x="19769" y="-473"/>
                        <a:pt x="21471" y="1053"/>
                      </a:cubicBezTo>
                      <a:cubicBezTo>
                        <a:pt x="21549" y="6738"/>
                        <a:pt x="21364" y="14286"/>
                        <a:pt x="21471" y="19257"/>
                      </a:cubicBezTo>
                      <a:cubicBezTo>
                        <a:pt x="18313" y="19559"/>
                        <a:pt x="17798" y="20894"/>
                        <a:pt x="14751" y="19257"/>
                      </a:cubicBezTo>
                      <a:cubicBezTo>
                        <a:pt x="11704" y="17620"/>
                        <a:pt x="10254" y="21127"/>
                        <a:pt x="7172" y="19257"/>
                      </a:cubicBezTo>
                      <a:cubicBezTo>
                        <a:pt x="4091" y="17387"/>
                        <a:pt x="3590" y="16797"/>
                        <a:pt x="23" y="19257"/>
                      </a:cubicBezTo>
                      <a:cubicBezTo>
                        <a:pt x="86" y="10749"/>
                        <a:pt x="-51" y="5539"/>
                        <a:pt x="23" y="1053"/>
                      </a:cubicBezTo>
                      <a:close/>
                    </a:path>
                  </a:pathLst>
                </a:custGeom>
                <a:solidFill>
                  <a:srgbClr val="FFD966"/>
                </a:solidFill>
                <a:ln w="3175" cap="flat">
                  <a:noFill/>
                  <a:miter lim="400000"/>
                </a:ln>
                <a:effectLst/>
              </p:spPr>
              <p:txBody>
                <a:bodyPr wrap="square" lIns="38641" tIns="38641" rIns="38641" bIns="38641" numCol="1" anchor="ctr">
                  <a:noAutofit/>
                </a:bodyPr>
                <a:lstStyle/>
                <a:p>
                  <a:pPr algn="ctr">
                    <a:defRPr sz="1600"/>
                  </a:pPr>
                </a:p>
              </p:txBody>
            </p:sp>
            <p:sp>
              <p:nvSpPr>
                <p:cNvPr id="326" name="Shape"/>
                <p:cNvSpPr/>
                <p:nvPr/>
              </p:nvSpPr>
              <p:spPr>
                <a:xfrm>
                  <a:off x="-1" y="670"/>
                  <a:ext cx="1889877" cy="23084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86" h="19772" fill="norm" stroke="1" extrusionOk="0">
                      <a:moveTo>
                        <a:pt x="25" y="999"/>
                      </a:moveTo>
                      <a:cubicBezTo>
                        <a:pt x="3202" y="1392"/>
                        <a:pt x="5978" y="1575"/>
                        <a:pt x="7643" y="999"/>
                      </a:cubicBezTo>
                      <a:cubicBezTo>
                        <a:pt x="9308" y="424"/>
                        <a:pt x="13251" y="1567"/>
                        <a:pt x="15046" y="999"/>
                      </a:cubicBezTo>
                      <a:cubicBezTo>
                        <a:pt x="16840" y="432"/>
                        <a:pt x="19365" y="-934"/>
                        <a:pt x="21586" y="999"/>
                      </a:cubicBezTo>
                      <a:cubicBezTo>
                        <a:pt x="21526" y="7832"/>
                        <a:pt x="21568" y="10652"/>
                        <a:pt x="21586" y="19278"/>
                      </a:cubicBezTo>
                      <a:cubicBezTo>
                        <a:pt x="19622" y="20666"/>
                        <a:pt x="16762" y="18619"/>
                        <a:pt x="14830" y="19278"/>
                      </a:cubicBezTo>
                      <a:cubicBezTo>
                        <a:pt x="12898" y="19936"/>
                        <a:pt x="10810" y="18494"/>
                        <a:pt x="7643" y="19278"/>
                      </a:cubicBezTo>
                      <a:cubicBezTo>
                        <a:pt x="4476" y="20061"/>
                        <a:pt x="3602" y="17202"/>
                        <a:pt x="25" y="19278"/>
                      </a:cubicBezTo>
                      <a:cubicBezTo>
                        <a:pt x="-3" y="11481"/>
                        <a:pt x="-14" y="8095"/>
                        <a:pt x="25" y="999"/>
                      </a:cubicBezTo>
                      <a:close/>
                    </a:path>
                  </a:pathLst>
                </a:custGeom>
                <a:noFill/>
                <a:ln w="317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ctr">
                  <a:noAutofit/>
                </a:bodyPr>
                <a:lstStyle/>
                <a:p>
                  <a:pPr algn="ctr">
                    <a:defRPr sz="1600"/>
                  </a:pPr>
                </a:p>
              </p:txBody>
            </p:sp>
          </p:grpSp>
          <p:sp>
            <p:nvSpPr>
              <p:cNvPr id="328" name="Instructions run"/>
              <p:cNvSpPr txBox="1"/>
              <p:nvPr/>
            </p:nvSpPr>
            <p:spPr>
              <a:xfrm>
                <a:off x="53872" y="-993"/>
                <a:ext cx="1784323" cy="24843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641" tIns="38641" rIns="38641" bIns="38641" numCol="1" anchor="ctr">
                <a:noAutofit/>
              </a:bodyPr>
              <a:lstStyle>
                <a:lvl1pPr algn="ctr">
                  <a:defRPr sz="1100"/>
                </a:lvl1pPr>
              </a:lstStyle>
              <a:p>
                <a:pPr/>
                <a:r>
                  <a:t>Instructions run</a:t>
                </a:r>
              </a:p>
            </p:txBody>
          </p:sp>
        </p:grpSp>
        <p:sp>
          <p:nvSpPr>
            <p:cNvPr id="330" name="Curved Connector 27"/>
            <p:cNvSpPr/>
            <p:nvPr/>
          </p:nvSpPr>
          <p:spPr>
            <a:xfrm flipH="1" rot="16200000">
              <a:off x="3989773" y="2108170"/>
              <a:ext cx="687136" cy="12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5400" y="0"/>
                    <a:pt x="10800" y="7200"/>
                    <a:pt x="10800" y="14400"/>
                  </a:cubicBezTo>
                  <a:cubicBezTo>
                    <a:pt x="10800" y="14400"/>
                    <a:pt x="16200" y="21600"/>
                    <a:pt x="21600" y="21600"/>
                  </a:cubicBezTo>
                </a:path>
              </a:pathLst>
            </a:custGeom>
            <a:noFill/>
            <a:ln w="25400" cap="flat">
              <a:solidFill>
                <a:srgbClr val="C55A11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331" name="Curved Connector 32"/>
            <p:cNvSpPr/>
            <p:nvPr/>
          </p:nvSpPr>
          <p:spPr>
            <a:xfrm>
              <a:off x="2504746" y="789192"/>
              <a:ext cx="786495" cy="7943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80" y="0"/>
                    <a:pt x="160" y="5400"/>
                    <a:pt x="160" y="10800"/>
                  </a:cubicBezTo>
                  <a:cubicBezTo>
                    <a:pt x="160" y="16200"/>
                    <a:pt x="10880" y="21600"/>
                    <a:pt x="21600" y="21600"/>
                  </a:cubicBezTo>
                </a:path>
              </a:pathLst>
            </a:custGeom>
            <a:noFill/>
            <a:ln w="25400" cap="flat">
              <a:solidFill>
                <a:srgbClr val="C55A11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332" name="Straight Arrow Connector 18"/>
            <p:cNvSpPr/>
            <p:nvPr/>
          </p:nvSpPr>
          <p:spPr>
            <a:xfrm>
              <a:off x="1658226" y="3372906"/>
              <a:ext cx="340920" cy="12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5400" y="0"/>
                    <a:pt x="10800" y="5400"/>
                    <a:pt x="10800" y="10800"/>
                  </a:cubicBezTo>
                  <a:cubicBezTo>
                    <a:pt x="10800" y="16200"/>
                    <a:pt x="16200" y="21600"/>
                    <a:pt x="21600" y="21600"/>
                  </a:cubicBezTo>
                </a:path>
              </a:pathLst>
            </a:custGeom>
            <a:noFill/>
            <a:ln w="25400" cap="flat">
              <a:solidFill>
                <a:schemeClr val="accent2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333" name="TextBox 9"/>
            <p:cNvSpPr txBox="1"/>
            <p:nvPr/>
          </p:nvSpPr>
          <p:spPr>
            <a:xfrm>
              <a:off x="1935114" y="3181344"/>
              <a:ext cx="1135450" cy="6346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>
                <a:defRPr sz="1600"/>
              </a:lvl1pPr>
            </a:lstStyle>
            <a:p>
              <a:pPr/>
              <a:r>
                <a:t>128, 129 …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" name="Group"/>
          <p:cNvGrpSpPr/>
          <p:nvPr/>
        </p:nvGrpSpPr>
        <p:grpSpPr>
          <a:xfrm>
            <a:off x="247650" y="196370"/>
            <a:ext cx="7061201" cy="4636460"/>
            <a:chOff x="0" y="0"/>
            <a:chExt cx="7061200" cy="4636458"/>
          </a:xfrm>
        </p:grpSpPr>
        <p:grpSp>
          <p:nvGrpSpPr>
            <p:cNvPr id="352" name="Group 11"/>
            <p:cNvGrpSpPr/>
            <p:nvPr/>
          </p:nvGrpSpPr>
          <p:grpSpPr>
            <a:xfrm>
              <a:off x="0" y="0"/>
              <a:ext cx="7061201" cy="4636459"/>
              <a:chOff x="0" y="0"/>
              <a:chExt cx="7061200" cy="4636459"/>
            </a:xfrm>
          </p:grpSpPr>
          <p:grpSp>
            <p:nvGrpSpPr>
              <p:cNvPr id="338" name="Group 36"/>
              <p:cNvGrpSpPr/>
              <p:nvPr/>
            </p:nvGrpSpPr>
            <p:grpSpPr>
              <a:xfrm>
                <a:off x="140075" y="3804832"/>
                <a:ext cx="550812" cy="781301"/>
                <a:chOff x="0" y="0"/>
                <a:chExt cx="550810" cy="781299"/>
              </a:xfrm>
            </p:grpSpPr>
            <p:pic>
              <p:nvPicPr>
                <p:cNvPr id="336" name="Picture 12" descr="Picture 12"/>
                <p:cNvPicPr>
                  <a:picLocks noChangeAspect="1"/>
                </p:cNvPicPr>
                <p:nvPr/>
              </p:nvPicPr>
              <p:blipFill>
                <a:blip r:embed="rId3">
                  <a:extLst/>
                </a:blip>
                <a:stretch>
                  <a:fillRect/>
                </a:stretch>
              </p:blipFill>
              <p:spPr>
                <a:xfrm>
                  <a:off x="0" y="0"/>
                  <a:ext cx="550811" cy="50597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337" name="TextBox 17"/>
                <p:cNvSpPr txBox="1"/>
                <p:nvPr/>
              </p:nvSpPr>
              <p:spPr>
                <a:xfrm>
                  <a:off x="33409" y="451916"/>
                  <a:ext cx="489144" cy="32938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641" tIns="38641" rIns="38641" bIns="38641" numCol="1" anchor="t">
                  <a:noAutofit/>
                </a:bodyPr>
                <a:lstStyle>
                  <a:lvl1pPr>
                    <a:defRPr sz="1600">
                      <a:latin typeface="Gaegu Regular"/>
                      <a:ea typeface="Gaegu Regular"/>
                      <a:cs typeface="Gaegu Regular"/>
                      <a:sym typeface="Gaegu Regular"/>
                    </a:defRPr>
                  </a:lvl1pPr>
                </a:lstStyle>
                <a:p>
                  <a:pPr/>
                  <a:r>
                    <a:t>CPU</a:t>
                  </a:r>
                </a:p>
              </p:txBody>
            </p:sp>
          </p:grpSp>
          <p:grpSp>
            <p:nvGrpSpPr>
              <p:cNvPr id="341" name="Group 51"/>
              <p:cNvGrpSpPr/>
              <p:nvPr/>
            </p:nvGrpSpPr>
            <p:grpSpPr>
              <a:xfrm>
                <a:off x="0" y="339014"/>
                <a:ext cx="7061201" cy="2623861"/>
                <a:chOff x="0" y="0"/>
                <a:chExt cx="7061200" cy="2623860"/>
              </a:xfrm>
            </p:grpSpPr>
            <p:sp>
              <p:nvSpPr>
                <p:cNvPr id="339" name="Straight Connector 4"/>
                <p:cNvSpPr/>
                <p:nvPr/>
              </p:nvSpPr>
              <p:spPr>
                <a:xfrm flipH="1">
                  <a:off x="1971910" y="34747"/>
                  <a:ext cx="1" cy="2583015"/>
                </a:xfrm>
                <a:prstGeom prst="line">
                  <a:avLst/>
                </a:prstGeom>
                <a:noFill/>
                <a:ln w="3175" cap="flat">
                  <a:solidFill>
                    <a:srgbClr val="808080"/>
                  </a:solidFill>
                  <a:prstDash val="dashDot"/>
                  <a:miter lim="800000"/>
                </a:ln>
                <a:effectLst/>
              </p:spPr>
              <p:txBody>
                <a:bodyPr wrap="square" lIns="38641" tIns="38641" rIns="38641" bIns="38641" numCol="1" anchor="t">
                  <a:noAutofit/>
                </a:bodyPr>
                <a:lstStyle/>
                <a:p>
                  <a:pPr>
                    <a:defRPr sz="1600"/>
                  </a:pPr>
                </a:p>
              </p:txBody>
            </p:sp>
            <p:sp>
              <p:nvSpPr>
                <p:cNvPr id="340" name="Rectangle 20"/>
                <p:cNvSpPr/>
                <p:nvPr/>
              </p:nvSpPr>
              <p:spPr>
                <a:xfrm>
                  <a:off x="0" y="0"/>
                  <a:ext cx="7061201" cy="262386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88" h="21487" fill="norm" stroke="1" extrusionOk="0">
                      <a:moveTo>
                        <a:pt x="53" y="31"/>
                      </a:moveTo>
                      <a:cubicBezTo>
                        <a:pt x="688" y="97"/>
                        <a:pt x="1302" y="95"/>
                        <a:pt x="1784" y="31"/>
                      </a:cubicBezTo>
                      <a:cubicBezTo>
                        <a:pt x="2266" y="-34"/>
                        <a:pt x="2447" y="33"/>
                        <a:pt x="3086" y="31"/>
                      </a:cubicBezTo>
                      <a:cubicBezTo>
                        <a:pt x="3726" y="29"/>
                        <a:pt x="4933" y="61"/>
                        <a:pt x="5458" y="31"/>
                      </a:cubicBezTo>
                      <a:cubicBezTo>
                        <a:pt x="5984" y="0"/>
                        <a:pt x="6833" y="45"/>
                        <a:pt x="7189" y="31"/>
                      </a:cubicBezTo>
                      <a:cubicBezTo>
                        <a:pt x="7544" y="16"/>
                        <a:pt x="8314" y="-30"/>
                        <a:pt x="8919" y="31"/>
                      </a:cubicBezTo>
                      <a:cubicBezTo>
                        <a:pt x="9524" y="92"/>
                        <a:pt x="10434" y="-58"/>
                        <a:pt x="11291" y="31"/>
                      </a:cubicBezTo>
                      <a:cubicBezTo>
                        <a:pt x="12149" y="119"/>
                        <a:pt x="12221" y="35"/>
                        <a:pt x="12808" y="31"/>
                      </a:cubicBezTo>
                      <a:cubicBezTo>
                        <a:pt x="13394" y="26"/>
                        <a:pt x="14112" y="71"/>
                        <a:pt x="15180" y="31"/>
                      </a:cubicBezTo>
                      <a:cubicBezTo>
                        <a:pt x="16248" y="-10"/>
                        <a:pt x="16841" y="20"/>
                        <a:pt x="17552" y="31"/>
                      </a:cubicBezTo>
                      <a:cubicBezTo>
                        <a:pt x="18263" y="41"/>
                        <a:pt x="19031" y="-24"/>
                        <a:pt x="19496" y="31"/>
                      </a:cubicBezTo>
                      <a:cubicBezTo>
                        <a:pt x="19962" y="85"/>
                        <a:pt x="20676" y="92"/>
                        <a:pt x="21440" y="31"/>
                      </a:cubicBezTo>
                      <a:cubicBezTo>
                        <a:pt x="21458" y="623"/>
                        <a:pt x="21354" y="1055"/>
                        <a:pt x="21440" y="1763"/>
                      </a:cubicBezTo>
                      <a:cubicBezTo>
                        <a:pt x="21527" y="2471"/>
                        <a:pt x="21434" y="2599"/>
                        <a:pt x="21440" y="3067"/>
                      </a:cubicBezTo>
                      <a:cubicBezTo>
                        <a:pt x="21447" y="3535"/>
                        <a:pt x="21411" y="4258"/>
                        <a:pt x="21440" y="5013"/>
                      </a:cubicBezTo>
                      <a:cubicBezTo>
                        <a:pt x="21470" y="5767"/>
                        <a:pt x="21385" y="6136"/>
                        <a:pt x="21440" y="6959"/>
                      </a:cubicBezTo>
                      <a:cubicBezTo>
                        <a:pt x="21496" y="7782"/>
                        <a:pt x="21469" y="8275"/>
                        <a:pt x="21440" y="8905"/>
                      </a:cubicBezTo>
                      <a:cubicBezTo>
                        <a:pt x="21412" y="9535"/>
                        <a:pt x="21397" y="10422"/>
                        <a:pt x="21440" y="11065"/>
                      </a:cubicBezTo>
                      <a:cubicBezTo>
                        <a:pt x="21484" y="11708"/>
                        <a:pt x="21503" y="12309"/>
                        <a:pt x="21440" y="13225"/>
                      </a:cubicBezTo>
                      <a:cubicBezTo>
                        <a:pt x="21378" y="14141"/>
                        <a:pt x="21334" y="14310"/>
                        <a:pt x="21440" y="15385"/>
                      </a:cubicBezTo>
                      <a:cubicBezTo>
                        <a:pt x="21547" y="16460"/>
                        <a:pt x="21441" y="16261"/>
                        <a:pt x="21440" y="16689"/>
                      </a:cubicBezTo>
                      <a:cubicBezTo>
                        <a:pt x="21440" y="17117"/>
                        <a:pt x="21399" y="17724"/>
                        <a:pt x="21440" y="18207"/>
                      </a:cubicBezTo>
                      <a:cubicBezTo>
                        <a:pt x="21482" y="18689"/>
                        <a:pt x="21521" y="19893"/>
                        <a:pt x="21440" y="21437"/>
                      </a:cubicBezTo>
                      <a:cubicBezTo>
                        <a:pt x="21059" y="21419"/>
                        <a:pt x="20529" y="21383"/>
                        <a:pt x="19710" y="21437"/>
                      </a:cubicBezTo>
                      <a:cubicBezTo>
                        <a:pt x="18891" y="21492"/>
                        <a:pt x="18254" y="21487"/>
                        <a:pt x="17766" y="21437"/>
                      </a:cubicBezTo>
                      <a:cubicBezTo>
                        <a:pt x="17277" y="21387"/>
                        <a:pt x="16821" y="21499"/>
                        <a:pt x="16463" y="21437"/>
                      </a:cubicBezTo>
                      <a:cubicBezTo>
                        <a:pt x="16105" y="21376"/>
                        <a:pt x="15599" y="21441"/>
                        <a:pt x="15160" y="21437"/>
                      </a:cubicBezTo>
                      <a:cubicBezTo>
                        <a:pt x="14722" y="21434"/>
                        <a:pt x="14040" y="21430"/>
                        <a:pt x="13216" y="21437"/>
                      </a:cubicBezTo>
                      <a:cubicBezTo>
                        <a:pt x="12392" y="21444"/>
                        <a:pt x="12035" y="21479"/>
                        <a:pt x="11700" y="21437"/>
                      </a:cubicBezTo>
                      <a:cubicBezTo>
                        <a:pt x="11364" y="21396"/>
                        <a:pt x="10480" y="21450"/>
                        <a:pt x="9541" y="21437"/>
                      </a:cubicBezTo>
                      <a:cubicBezTo>
                        <a:pt x="8602" y="21425"/>
                        <a:pt x="8447" y="21422"/>
                        <a:pt x="8025" y="21437"/>
                      </a:cubicBezTo>
                      <a:cubicBezTo>
                        <a:pt x="7602" y="21453"/>
                        <a:pt x="6619" y="21333"/>
                        <a:pt x="5867" y="21437"/>
                      </a:cubicBezTo>
                      <a:cubicBezTo>
                        <a:pt x="5115" y="21542"/>
                        <a:pt x="5089" y="21452"/>
                        <a:pt x="4564" y="21437"/>
                      </a:cubicBezTo>
                      <a:cubicBezTo>
                        <a:pt x="4039" y="21423"/>
                        <a:pt x="2859" y="21541"/>
                        <a:pt x="2406" y="21437"/>
                      </a:cubicBezTo>
                      <a:cubicBezTo>
                        <a:pt x="1953" y="21334"/>
                        <a:pt x="604" y="21432"/>
                        <a:pt x="53" y="21437"/>
                      </a:cubicBezTo>
                      <a:cubicBezTo>
                        <a:pt x="106" y="20923"/>
                        <a:pt x="112" y="20560"/>
                        <a:pt x="53" y="20134"/>
                      </a:cubicBezTo>
                      <a:cubicBezTo>
                        <a:pt x="-5" y="19707"/>
                        <a:pt x="-30" y="19043"/>
                        <a:pt x="53" y="18402"/>
                      </a:cubicBezTo>
                      <a:cubicBezTo>
                        <a:pt x="136" y="17760"/>
                        <a:pt x="157" y="16858"/>
                        <a:pt x="53" y="16027"/>
                      </a:cubicBezTo>
                      <a:cubicBezTo>
                        <a:pt x="-51" y="15196"/>
                        <a:pt x="121" y="15079"/>
                        <a:pt x="53" y="14509"/>
                      </a:cubicBezTo>
                      <a:cubicBezTo>
                        <a:pt x="-14" y="13940"/>
                        <a:pt x="25" y="13783"/>
                        <a:pt x="53" y="13206"/>
                      </a:cubicBezTo>
                      <a:cubicBezTo>
                        <a:pt x="81" y="12628"/>
                        <a:pt x="90" y="12222"/>
                        <a:pt x="53" y="11902"/>
                      </a:cubicBezTo>
                      <a:cubicBezTo>
                        <a:pt x="17" y="11581"/>
                        <a:pt x="47" y="10240"/>
                        <a:pt x="53" y="9742"/>
                      </a:cubicBezTo>
                      <a:cubicBezTo>
                        <a:pt x="60" y="9243"/>
                        <a:pt x="36" y="8963"/>
                        <a:pt x="53" y="8438"/>
                      </a:cubicBezTo>
                      <a:cubicBezTo>
                        <a:pt x="70" y="7912"/>
                        <a:pt x="-34" y="6906"/>
                        <a:pt x="53" y="6492"/>
                      </a:cubicBezTo>
                      <a:cubicBezTo>
                        <a:pt x="140" y="6077"/>
                        <a:pt x="46" y="5326"/>
                        <a:pt x="53" y="4974"/>
                      </a:cubicBezTo>
                      <a:cubicBezTo>
                        <a:pt x="61" y="4621"/>
                        <a:pt x="38" y="3703"/>
                        <a:pt x="53" y="3028"/>
                      </a:cubicBezTo>
                      <a:cubicBezTo>
                        <a:pt x="69" y="2352"/>
                        <a:pt x="-53" y="922"/>
                        <a:pt x="53" y="31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  <p:grpSp>
            <p:nvGrpSpPr>
              <p:cNvPr id="345" name="Group 43"/>
              <p:cNvGrpSpPr/>
              <p:nvPr/>
            </p:nvGrpSpPr>
            <p:grpSpPr>
              <a:xfrm>
                <a:off x="3082118" y="3047751"/>
                <a:ext cx="3975905" cy="1582614"/>
                <a:chOff x="0" y="0"/>
                <a:chExt cx="3975904" cy="1582613"/>
              </a:xfrm>
            </p:grpSpPr>
            <p:sp>
              <p:nvSpPr>
                <p:cNvPr id="342" name="Rectangle 2"/>
                <p:cNvSpPr/>
                <p:nvPr/>
              </p:nvSpPr>
              <p:spPr>
                <a:xfrm>
                  <a:off x="0" y="40080"/>
                  <a:ext cx="3973085" cy="154253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29" h="21324" fill="norm" stroke="1" extrusionOk="0">
                      <a:moveTo>
                        <a:pt x="52" y="128"/>
                      </a:moveTo>
                      <a:cubicBezTo>
                        <a:pt x="686" y="189"/>
                        <a:pt x="1311" y="-176"/>
                        <a:pt x="1981" y="128"/>
                      </a:cubicBezTo>
                      <a:cubicBezTo>
                        <a:pt x="2651" y="433"/>
                        <a:pt x="3152" y="353"/>
                        <a:pt x="3481" y="128"/>
                      </a:cubicBezTo>
                      <a:cubicBezTo>
                        <a:pt x="3809" y="-96"/>
                        <a:pt x="4799" y="423"/>
                        <a:pt x="6052" y="128"/>
                      </a:cubicBezTo>
                      <a:cubicBezTo>
                        <a:pt x="7305" y="-166"/>
                        <a:pt x="7346" y="239"/>
                        <a:pt x="7981" y="128"/>
                      </a:cubicBezTo>
                      <a:cubicBezTo>
                        <a:pt x="8615" y="18"/>
                        <a:pt x="9153" y="-11"/>
                        <a:pt x="9909" y="128"/>
                      </a:cubicBezTo>
                      <a:cubicBezTo>
                        <a:pt x="10665" y="268"/>
                        <a:pt x="11479" y="282"/>
                        <a:pt x="12480" y="128"/>
                      </a:cubicBezTo>
                      <a:cubicBezTo>
                        <a:pt x="13482" y="-25"/>
                        <a:pt x="13747" y="362"/>
                        <a:pt x="14195" y="128"/>
                      </a:cubicBezTo>
                      <a:cubicBezTo>
                        <a:pt x="14642" y="-105"/>
                        <a:pt x="16007" y="281"/>
                        <a:pt x="16766" y="128"/>
                      </a:cubicBezTo>
                      <a:cubicBezTo>
                        <a:pt x="17525" y="-24"/>
                        <a:pt x="18070" y="197"/>
                        <a:pt x="19337" y="128"/>
                      </a:cubicBezTo>
                      <a:cubicBezTo>
                        <a:pt x="20605" y="60"/>
                        <a:pt x="20463" y="-123"/>
                        <a:pt x="21480" y="128"/>
                      </a:cubicBezTo>
                      <a:cubicBezTo>
                        <a:pt x="21519" y="3504"/>
                        <a:pt x="21520" y="5518"/>
                        <a:pt x="21480" y="7574"/>
                      </a:cubicBezTo>
                      <a:cubicBezTo>
                        <a:pt x="21441" y="9630"/>
                        <a:pt x="21394" y="12321"/>
                        <a:pt x="21480" y="14809"/>
                      </a:cubicBezTo>
                      <a:cubicBezTo>
                        <a:pt x="21566" y="17297"/>
                        <a:pt x="21523" y="19895"/>
                        <a:pt x="21480" y="21201"/>
                      </a:cubicBezTo>
                      <a:cubicBezTo>
                        <a:pt x="20987" y="21326"/>
                        <a:pt x="20111" y="21320"/>
                        <a:pt x="19337" y="21201"/>
                      </a:cubicBezTo>
                      <a:cubicBezTo>
                        <a:pt x="18564" y="21081"/>
                        <a:pt x="18116" y="21123"/>
                        <a:pt x="17623" y="21201"/>
                      </a:cubicBezTo>
                      <a:cubicBezTo>
                        <a:pt x="17131" y="21278"/>
                        <a:pt x="15980" y="21008"/>
                        <a:pt x="15480" y="21201"/>
                      </a:cubicBezTo>
                      <a:cubicBezTo>
                        <a:pt x="14980" y="21393"/>
                        <a:pt x="13762" y="21002"/>
                        <a:pt x="12909" y="21201"/>
                      </a:cubicBezTo>
                      <a:cubicBezTo>
                        <a:pt x="12056" y="21399"/>
                        <a:pt x="11283" y="21014"/>
                        <a:pt x="10766" y="21201"/>
                      </a:cubicBezTo>
                      <a:cubicBezTo>
                        <a:pt x="10250" y="21387"/>
                        <a:pt x="9963" y="21074"/>
                        <a:pt x="9266" y="21201"/>
                      </a:cubicBezTo>
                      <a:cubicBezTo>
                        <a:pt x="8569" y="21327"/>
                        <a:pt x="8233" y="21144"/>
                        <a:pt x="7552" y="21201"/>
                      </a:cubicBezTo>
                      <a:cubicBezTo>
                        <a:pt x="6871" y="21258"/>
                        <a:pt x="5903" y="21109"/>
                        <a:pt x="4981" y="21201"/>
                      </a:cubicBezTo>
                      <a:cubicBezTo>
                        <a:pt x="4058" y="21292"/>
                        <a:pt x="3537" y="21424"/>
                        <a:pt x="2838" y="21201"/>
                      </a:cubicBezTo>
                      <a:cubicBezTo>
                        <a:pt x="2139" y="20978"/>
                        <a:pt x="890" y="21294"/>
                        <a:pt x="52" y="21201"/>
                      </a:cubicBezTo>
                      <a:cubicBezTo>
                        <a:pt x="-34" y="19084"/>
                        <a:pt x="2" y="16536"/>
                        <a:pt x="52" y="14177"/>
                      </a:cubicBezTo>
                      <a:cubicBezTo>
                        <a:pt x="102" y="11817"/>
                        <a:pt x="70" y="10520"/>
                        <a:pt x="52" y="7785"/>
                      </a:cubicBezTo>
                      <a:cubicBezTo>
                        <a:pt x="35" y="5049"/>
                        <a:pt x="120" y="2341"/>
                        <a:pt x="52" y="128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A6A6A6"/>
                      </a:solidFill>
                    </a:defRPr>
                  </a:pPr>
                </a:p>
              </p:txBody>
            </p:sp>
            <p:sp>
              <p:nvSpPr>
                <p:cNvPr id="343" name="Straight Connector 25"/>
                <p:cNvSpPr/>
                <p:nvPr/>
              </p:nvSpPr>
              <p:spPr>
                <a:xfrm flipH="1">
                  <a:off x="9574" y="299990"/>
                  <a:ext cx="3966331" cy="1434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t">
                  <a:noAutofit/>
                </a:bodyPr>
                <a:lstStyle/>
                <a:p>
                  <a:pPr>
                    <a:defRPr sz="1600"/>
                  </a:pPr>
                </a:p>
              </p:txBody>
            </p:sp>
            <p:sp>
              <p:nvSpPr>
                <p:cNvPr id="344" name="TextBox 30"/>
                <p:cNvSpPr txBox="1"/>
                <p:nvPr/>
              </p:nvSpPr>
              <p:spPr>
                <a:xfrm>
                  <a:off x="550042" y="0"/>
                  <a:ext cx="956853" cy="32938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641" tIns="38641" rIns="38641" bIns="38641" numCol="1" anchor="t">
                  <a:noAutofit/>
                </a:bodyPr>
                <a:lstStyle>
                  <a:lvl1pPr>
                    <a:defRPr sz="1600">
                      <a:latin typeface="Gaegu Regular"/>
                      <a:ea typeface="Gaegu Regular"/>
                      <a:cs typeface="Gaegu Regular"/>
                      <a:sym typeface="Gaegu Regular"/>
                    </a:defRPr>
                  </a:lvl1pPr>
                </a:lstStyle>
                <a:p>
                  <a:pPr/>
                  <a:r>
                    <a:t>Terminal</a:t>
                  </a:r>
                </a:p>
              </p:txBody>
            </p:sp>
          </p:grpSp>
          <p:grpSp>
            <p:nvGrpSpPr>
              <p:cNvPr id="348" name="Group 13"/>
              <p:cNvGrpSpPr/>
              <p:nvPr/>
            </p:nvGrpSpPr>
            <p:grpSpPr>
              <a:xfrm>
                <a:off x="76596" y="3115233"/>
                <a:ext cx="1568067" cy="498683"/>
                <a:chOff x="0" y="0"/>
                <a:chExt cx="1568066" cy="498682"/>
              </a:xfrm>
            </p:grpSpPr>
            <p:sp>
              <p:nvSpPr>
                <p:cNvPr id="346" name="TextBox 14"/>
                <p:cNvSpPr txBox="1"/>
                <p:nvPr/>
              </p:nvSpPr>
              <p:spPr>
                <a:xfrm>
                  <a:off x="0" y="0"/>
                  <a:ext cx="723677" cy="49868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641" tIns="38641" rIns="38641" bIns="38641" numCol="1" anchor="t">
                  <a:noAutofit/>
                </a:bodyPr>
                <a:lstStyle/>
                <a:p>
                  <a:pPr>
                    <a:defRPr sz="1200"/>
                  </a:pPr>
                  <a:r>
                    <a:t>Program</a:t>
                  </a:r>
                </a:p>
                <a:p>
                  <a:pPr>
                    <a:defRPr sz="1200"/>
                  </a:pPr>
                  <a:r>
                    <a:t>Counter</a:t>
                  </a:r>
                </a:p>
              </p:txBody>
            </p:sp>
            <p:sp>
              <p:nvSpPr>
                <p:cNvPr id="347" name="Rectangle 16"/>
                <p:cNvSpPr/>
                <p:nvPr/>
              </p:nvSpPr>
              <p:spPr>
                <a:xfrm>
                  <a:off x="717688" y="102984"/>
                  <a:ext cx="850379" cy="31846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38" h="20789" fill="norm" stroke="1" extrusionOk="0">
                      <a:moveTo>
                        <a:pt x="62" y="468"/>
                      </a:moveTo>
                      <a:cubicBezTo>
                        <a:pt x="4396" y="730"/>
                        <a:pt x="7646" y="1130"/>
                        <a:pt x="10536" y="468"/>
                      </a:cubicBezTo>
                      <a:cubicBezTo>
                        <a:pt x="13427" y="-194"/>
                        <a:pt x="18140" y="-118"/>
                        <a:pt x="21438" y="468"/>
                      </a:cubicBezTo>
                      <a:cubicBezTo>
                        <a:pt x="21167" y="4501"/>
                        <a:pt x="21162" y="14670"/>
                        <a:pt x="21438" y="20409"/>
                      </a:cubicBezTo>
                      <a:cubicBezTo>
                        <a:pt x="19153" y="20087"/>
                        <a:pt x="14888" y="21406"/>
                        <a:pt x="10750" y="20409"/>
                      </a:cubicBezTo>
                      <a:cubicBezTo>
                        <a:pt x="6612" y="19413"/>
                        <a:pt x="3395" y="21240"/>
                        <a:pt x="62" y="20409"/>
                      </a:cubicBezTo>
                      <a:cubicBezTo>
                        <a:pt x="309" y="11565"/>
                        <a:pt x="-162" y="4735"/>
                        <a:pt x="62" y="468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ctr">
                  <a:noAutofit/>
                </a:bodyPr>
                <a:lstStyle/>
                <a:p>
                  <a:pPr algn="ctr">
                    <a:defRPr sz="1600"/>
                  </a:pPr>
                </a:p>
              </p:txBody>
            </p:sp>
          </p:grpSp>
          <p:sp>
            <p:nvSpPr>
              <p:cNvPr id="349" name="Rectangle 37"/>
              <p:cNvSpPr/>
              <p:nvPr/>
            </p:nvSpPr>
            <p:spPr>
              <a:xfrm>
                <a:off x="8457" y="3107818"/>
                <a:ext cx="3003015" cy="15286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61" h="21229" fill="norm" stroke="1" extrusionOk="0">
                    <a:moveTo>
                      <a:pt x="93" y="147"/>
                    </a:moveTo>
                    <a:cubicBezTo>
                      <a:pt x="1527" y="156"/>
                      <a:pt x="2742" y="-188"/>
                      <a:pt x="4144" y="147"/>
                    </a:cubicBezTo>
                    <a:cubicBezTo>
                      <a:pt x="5546" y="482"/>
                      <a:pt x="6786" y="220"/>
                      <a:pt x="7768" y="147"/>
                    </a:cubicBezTo>
                    <a:cubicBezTo>
                      <a:pt x="8751" y="75"/>
                      <a:pt x="11208" y="173"/>
                      <a:pt x="12459" y="147"/>
                    </a:cubicBezTo>
                    <a:cubicBezTo>
                      <a:pt x="13710" y="121"/>
                      <a:pt x="14966" y="-109"/>
                      <a:pt x="16510" y="147"/>
                    </a:cubicBezTo>
                    <a:cubicBezTo>
                      <a:pt x="18054" y="403"/>
                      <a:pt x="19766" y="-280"/>
                      <a:pt x="21414" y="147"/>
                    </a:cubicBezTo>
                    <a:cubicBezTo>
                      <a:pt x="21354" y="3318"/>
                      <a:pt x="21384" y="4316"/>
                      <a:pt x="21414" y="7523"/>
                    </a:cubicBezTo>
                    <a:cubicBezTo>
                      <a:pt x="21444" y="10729"/>
                      <a:pt x="21419" y="12620"/>
                      <a:pt x="21414" y="14481"/>
                    </a:cubicBezTo>
                    <a:cubicBezTo>
                      <a:pt x="21409" y="16341"/>
                      <a:pt x="21522" y="17780"/>
                      <a:pt x="21414" y="21021"/>
                    </a:cubicBezTo>
                    <a:cubicBezTo>
                      <a:pt x="20240" y="21193"/>
                      <a:pt x="18564" y="21099"/>
                      <a:pt x="17576" y="21021"/>
                    </a:cubicBezTo>
                    <a:cubicBezTo>
                      <a:pt x="16588" y="20944"/>
                      <a:pt x="14967" y="20968"/>
                      <a:pt x="13312" y="21021"/>
                    </a:cubicBezTo>
                    <a:cubicBezTo>
                      <a:pt x="11657" y="21075"/>
                      <a:pt x="10619" y="20797"/>
                      <a:pt x="9048" y="21021"/>
                    </a:cubicBezTo>
                    <a:cubicBezTo>
                      <a:pt x="7477" y="21246"/>
                      <a:pt x="6607" y="20723"/>
                      <a:pt x="4997" y="21021"/>
                    </a:cubicBezTo>
                    <a:cubicBezTo>
                      <a:pt x="3387" y="21320"/>
                      <a:pt x="2263" y="21277"/>
                      <a:pt x="93" y="21021"/>
                    </a:cubicBezTo>
                    <a:cubicBezTo>
                      <a:pt x="19" y="19440"/>
                      <a:pt x="-73" y="16863"/>
                      <a:pt x="93" y="13646"/>
                    </a:cubicBezTo>
                    <a:cubicBezTo>
                      <a:pt x="259" y="10429"/>
                      <a:pt x="264" y="7833"/>
                      <a:pt x="93" y="6270"/>
                    </a:cubicBezTo>
                    <a:cubicBezTo>
                      <a:pt x="-78" y="4708"/>
                      <a:pt x="221" y="3023"/>
                      <a:pt x="93" y="147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38641" tIns="38641" rIns="38641" bIns="38641" numCol="1" anchor="ctr">
                <a:noAutofit/>
              </a:bodyPr>
              <a:lstStyle/>
              <a:p>
                <a:pPr algn="ctr">
                  <a:defRPr sz="2000">
                    <a:solidFill>
                      <a:srgbClr val="FFFFFF"/>
                    </a:solidFill>
                  </a:defRPr>
                </a:pPr>
              </a:p>
            </p:txBody>
          </p:sp>
          <p:pic>
            <p:nvPicPr>
              <p:cNvPr id="350" name="Picture 62" descr="Picture 62"/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3186444" y="3160863"/>
                <a:ext cx="422831" cy="15126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351" name="TextBox 10"/>
              <p:cNvSpPr txBox="1"/>
              <p:nvPr/>
            </p:nvSpPr>
            <p:spPr>
              <a:xfrm>
                <a:off x="6098993" y="0"/>
                <a:ext cx="868322" cy="32938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641" tIns="38641" rIns="38641" bIns="38641" numCol="1" anchor="t">
                <a:noAutofit/>
              </a:bodyPr>
              <a:lstStyle>
                <a:lvl1pPr>
                  <a:defRPr sz="1600">
                    <a:latin typeface="Gaegu Regular"/>
                    <a:ea typeface="Gaegu Regular"/>
                    <a:cs typeface="Gaegu Regular"/>
                    <a:sym typeface="Gaegu Regular"/>
                  </a:defRPr>
                </a:lvl1pPr>
              </a:lstStyle>
              <a:p>
                <a:pPr/>
                <a:r>
                  <a:t>Memory</a:t>
                </a:r>
              </a:p>
            </p:txBody>
          </p:sp>
        </p:grpSp>
        <p:sp>
          <p:nvSpPr>
            <p:cNvPr id="353" name="Straight Connector 40"/>
            <p:cNvSpPr/>
            <p:nvPr/>
          </p:nvSpPr>
          <p:spPr>
            <a:xfrm flipV="1">
              <a:off x="3166026" y="3687737"/>
              <a:ext cx="1" cy="18943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t">
              <a:noAutofit/>
            </a:bodyPr>
            <a:lstStyle/>
            <a:p>
              <a:pPr>
                <a:defRPr sz="1600"/>
              </a:pPr>
            </a:p>
          </p:txBody>
        </p:sp>
        <p:grpSp>
          <p:nvGrpSpPr>
            <p:cNvPr id="356" name="Group 19"/>
            <p:cNvGrpSpPr/>
            <p:nvPr/>
          </p:nvGrpSpPr>
          <p:grpSpPr>
            <a:xfrm>
              <a:off x="714015" y="3616436"/>
              <a:ext cx="2224521" cy="274970"/>
              <a:chOff x="-6162" y="0"/>
              <a:chExt cx="2224520" cy="274969"/>
            </a:xfrm>
          </p:grpSpPr>
          <p:sp>
            <p:nvSpPr>
              <p:cNvPr id="354" name="TextBox 21"/>
              <p:cNvSpPr txBox="1"/>
              <p:nvPr/>
            </p:nvSpPr>
            <p:spPr>
              <a:xfrm>
                <a:off x="-6163" y="0"/>
                <a:ext cx="822688" cy="2749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641" tIns="38641" rIns="38641" bIns="38641" numCol="1" anchor="t">
                <a:noAutofit/>
              </a:bodyPr>
              <a:lstStyle>
                <a:lvl1pPr algn="ctr">
                  <a:defRPr sz="1200"/>
                </a:lvl1pPr>
              </a:lstStyle>
              <a:p>
                <a:pPr/>
                <a:r>
                  <a:t>Register 0</a:t>
                </a:r>
              </a:p>
            </p:txBody>
          </p:sp>
          <p:sp>
            <p:nvSpPr>
              <p:cNvPr id="355" name="Rectangle 22"/>
              <p:cNvSpPr/>
              <p:nvPr/>
            </p:nvSpPr>
            <p:spPr>
              <a:xfrm>
                <a:off x="855322" y="26429"/>
                <a:ext cx="1363037" cy="2467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99" h="20332" fill="norm" stroke="1" extrusionOk="0">
                    <a:moveTo>
                      <a:pt x="31" y="364"/>
                    </a:moveTo>
                    <a:cubicBezTo>
                      <a:pt x="2762" y="1659"/>
                      <a:pt x="4299" y="-408"/>
                      <a:pt x="6965" y="364"/>
                    </a:cubicBezTo>
                    <a:cubicBezTo>
                      <a:pt x="9630" y="1136"/>
                      <a:pt x="11326" y="-756"/>
                      <a:pt x="13470" y="364"/>
                    </a:cubicBezTo>
                    <a:cubicBezTo>
                      <a:pt x="15613" y="1484"/>
                      <a:pt x="19369" y="1304"/>
                      <a:pt x="21476" y="364"/>
                    </a:cubicBezTo>
                    <a:cubicBezTo>
                      <a:pt x="21549" y="8786"/>
                      <a:pt x="21420" y="12756"/>
                      <a:pt x="21476" y="19711"/>
                    </a:cubicBezTo>
                    <a:cubicBezTo>
                      <a:pt x="19782" y="20844"/>
                      <a:pt x="16772" y="20167"/>
                      <a:pt x="14757" y="19711"/>
                    </a:cubicBezTo>
                    <a:cubicBezTo>
                      <a:pt x="12742" y="19256"/>
                      <a:pt x="10818" y="20654"/>
                      <a:pt x="7179" y="19711"/>
                    </a:cubicBezTo>
                    <a:cubicBezTo>
                      <a:pt x="3541" y="18768"/>
                      <a:pt x="2819" y="20729"/>
                      <a:pt x="31" y="19711"/>
                    </a:cubicBezTo>
                    <a:cubicBezTo>
                      <a:pt x="-51" y="11606"/>
                      <a:pt x="57" y="5355"/>
                      <a:pt x="31" y="364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38641" tIns="38641" rIns="38641" bIns="38641" numCol="1" anchor="ctr">
                <a:noAutofit/>
              </a:bodyPr>
              <a:lstStyle/>
              <a:p>
                <a:pPr algn="ctr">
                  <a:defRPr sz="1600"/>
                </a:pPr>
              </a:p>
            </p:txBody>
          </p:sp>
        </p:grpSp>
        <p:sp>
          <p:nvSpPr>
            <p:cNvPr id="357" name="TextBox 33"/>
            <p:cNvSpPr txBox="1"/>
            <p:nvPr/>
          </p:nvSpPr>
          <p:spPr>
            <a:xfrm>
              <a:off x="722658" y="3924432"/>
              <a:ext cx="822688" cy="2749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200"/>
              </a:lvl1pPr>
            </a:lstStyle>
            <a:p>
              <a:pPr/>
              <a:r>
                <a:t>Register 1</a:t>
              </a:r>
            </a:p>
          </p:txBody>
        </p:sp>
        <p:sp>
          <p:nvSpPr>
            <p:cNvPr id="358" name="Rectangle 38"/>
            <p:cNvSpPr/>
            <p:nvPr/>
          </p:nvSpPr>
          <p:spPr>
            <a:xfrm>
              <a:off x="1576707" y="3953521"/>
              <a:ext cx="1360509" cy="263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5" h="20012" fill="norm" stroke="1" extrusionOk="0">
                  <a:moveTo>
                    <a:pt x="12" y="791"/>
                  </a:moveTo>
                  <a:cubicBezTo>
                    <a:pt x="3241" y="407"/>
                    <a:pt x="7659" y="781"/>
                    <a:pt x="10557" y="791"/>
                  </a:cubicBezTo>
                  <a:cubicBezTo>
                    <a:pt x="13455" y="800"/>
                    <a:pt x="16772" y="-994"/>
                    <a:pt x="21533" y="791"/>
                  </a:cubicBezTo>
                  <a:cubicBezTo>
                    <a:pt x="21557" y="8082"/>
                    <a:pt x="21370" y="11661"/>
                    <a:pt x="21533" y="18637"/>
                  </a:cubicBezTo>
                  <a:cubicBezTo>
                    <a:pt x="16322" y="19573"/>
                    <a:pt x="13444" y="16668"/>
                    <a:pt x="10772" y="18637"/>
                  </a:cubicBezTo>
                  <a:cubicBezTo>
                    <a:pt x="8100" y="20606"/>
                    <a:pt x="3639" y="20327"/>
                    <a:pt x="12" y="18637"/>
                  </a:cubicBezTo>
                  <a:cubicBezTo>
                    <a:pt x="-43" y="13404"/>
                    <a:pt x="111" y="8672"/>
                    <a:pt x="12" y="791"/>
                  </a:cubicBezTo>
                  <a:close/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359" name="TextBox 39"/>
            <p:cNvSpPr txBox="1"/>
            <p:nvPr/>
          </p:nvSpPr>
          <p:spPr>
            <a:xfrm>
              <a:off x="719332" y="4251600"/>
              <a:ext cx="822688" cy="2749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200"/>
              </a:lvl1pPr>
            </a:lstStyle>
            <a:p>
              <a:pPr/>
              <a:r>
                <a:t>Register 2</a:t>
              </a:r>
            </a:p>
          </p:txBody>
        </p:sp>
        <p:sp>
          <p:nvSpPr>
            <p:cNvPr id="360" name="Rectangle 42"/>
            <p:cNvSpPr/>
            <p:nvPr/>
          </p:nvSpPr>
          <p:spPr>
            <a:xfrm>
              <a:off x="1564737" y="4272046"/>
              <a:ext cx="1360509" cy="263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5" h="20012" fill="norm" stroke="1" extrusionOk="0">
                  <a:moveTo>
                    <a:pt x="12" y="791"/>
                  </a:moveTo>
                  <a:cubicBezTo>
                    <a:pt x="3241" y="407"/>
                    <a:pt x="7659" y="781"/>
                    <a:pt x="10557" y="791"/>
                  </a:cubicBezTo>
                  <a:cubicBezTo>
                    <a:pt x="13455" y="800"/>
                    <a:pt x="16772" y="-994"/>
                    <a:pt x="21533" y="791"/>
                  </a:cubicBezTo>
                  <a:cubicBezTo>
                    <a:pt x="21557" y="8082"/>
                    <a:pt x="21370" y="11661"/>
                    <a:pt x="21533" y="18637"/>
                  </a:cubicBezTo>
                  <a:cubicBezTo>
                    <a:pt x="16322" y="19573"/>
                    <a:pt x="13444" y="16668"/>
                    <a:pt x="10772" y="18637"/>
                  </a:cubicBezTo>
                  <a:cubicBezTo>
                    <a:pt x="8100" y="20606"/>
                    <a:pt x="3639" y="20327"/>
                    <a:pt x="12" y="18637"/>
                  </a:cubicBezTo>
                  <a:cubicBezTo>
                    <a:pt x="-43" y="13404"/>
                    <a:pt x="111" y="8672"/>
                    <a:pt x="12" y="791"/>
                  </a:cubicBezTo>
                  <a:close/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361" name="TextBox 45"/>
            <p:cNvSpPr txBox="1"/>
            <p:nvPr/>
          </p:nvSpPr>
          <p:spPr>
            <a:xfrm>
              <a:off x="2066489" y="571180"/>
              <a:ext cx="4533238" cy="11184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/>
            <a:p>
              <a:pPr marL="300037" indent="-300037">
                <a:buSzPct val="100000"/>
                <a:buAutoNum type="arabicPeriod" startAt="1"/>
                <a:defRPr sz="1400"/>
              </a:pPr>
              <a:r>
                <a:t>open_window(“Test Color", 800, 600);</a:t>
              </a:r>
            </a:p>
            <a:p>
              <a:pPr marL="300037" indent="-300037">
                <a:buSzPct val="100000"/>
                <a:buAutoNum type="arabicPeriod" startAt="1"/>
                <a:defRPr sz="1400">
                  <a:solidFill>
                    <a:srgbClr val="A6A6A6"/>
                  </a:solidFill>
                </a:defRPr>
              </a:pPr>
              <a:r>
                <a:t>clear_screen(COLOR_BLUE);</a:t>
              </a:r>
            </a:p>
            <a:p>
              <a:pPr marL="300037" indent="-300037">
                <a:buSzPct val="100000"/>
                <a:buAutoNum type="arabicPeriod" startAt="1"/>
                <a:defRPr sz="1400">
                  <a:solidFill>
                    <a:srgbClr val="A6A6A6"/>
                  </a:solidFill>
                </a:defRPr>
              </a:pPr>
              <a:r>
                <a:t>refresh_screen();</a:t>
              </a:r>
            </a:p>
            <a:p>
              <a:pPr marL="300037" indent="-300037">
                <a:buSzPct val="100000"/>
                <a:buAutoNum type="arabicPeriod" startAt="1"/>
                <a:defRPr sz="1400">
                  <a:solidFill>
                    <a:srgbClr val="A6A6A6"/>
                  </a:solidFill>
                </a:defRPr>
              </a:pPr>
              <a:r>
                <a:t>delay(5000);</a:t>
              </a:r>
            </a:p>
          </p:txBody>
        </p:sp>
        <p:sp>
          <p:nvSpPr>
            <p:cNvPr id="362" name="TextBox 46"/>
            <p:cNvSpPr txBox="1"/>
            <p:nvPr/>
          </p:nvSpPr>
          <p:spPr>
            <a:xfrm>
              <a:off x="3093495" y="3332980"/>
              <a:ext cx="1330381" cy="336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>
                <a:defRPr sz="1600"/>
              </a:lvl1pPr>
            </a:lstStyle>
            <a:p>
              <a:pPr/>
              <a:r>
                <a:t>./screen-test</a:t>
              </a:r>
            </a:p>
          </p:txBody>
        </p:sp>
        <p:sp>
          <p:nvSpPr>
            <p:cNvPr id="363" name="Straight Arrow Connector 55"/>
            <p:cNvSpPr/>
            <p:nvPr/>
          </p:nvSpPr>
          <p:spPr>
            <a:xfrm rot="16200000">
              <a:off x="1485820" y="2583946"/>
              <a:ext cx="342158" cy="8843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21462" y="21600"/>
                  </a:lnTo>
                </a:path>
              </a:pathLst>
            </a:custGeom>
            <a:noFill/>
            <a:ln w="12700" cap="flat">
              <a:solidFill>
                <a:srgbClr val="000000"/>
              </a:solidFill>
              <a:custDash>
                <a:ds d="300000" sp="400000"/>
              </a:custDash>
              <a:round/>
              <a:tailEnd type="triangle" w="med" len="med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364" name="TextBox 50"/>
            <p:cNvSpPr txBox="1"/>
            <p:nvPr/>
          </p:nvSpPr>
          <p:spPr>
            <a:xfrm>
              <a:off x="847706" y="3189722"/>
              <a:ext cx="739591" cy="336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600"/>
              </a:lvl1pPr>
            </a:lstStyle>
            <a:p>
              <a:pPr/>
              <a:r>
                <a:t>197</a:t>
              </a:r>
            </a:p>
          </p:txBody>
        </p:sp>
        <p:sp>
          <p:nvSpPr>
            <p:cNvPr id="365" name="TextBox 52"/>
            <p:cNvSpPr txBox="1"/>
            <p:nvPr/>
          </p:nvSpPr>
          <p:spPr>
            <a:xfrm>
              <a:off x="3331081" y="355601"/>
              <a:ext cx="3003805" cy="336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/>
            <a:p>
              <a:pPr>
                <a:defRPr sz="1600">
                  <a:solidFill>
                    <a:srgbClr val="C00000"/>
                  </a:solidFill>
                </a:defRPr>
              </a:pPr>
              <a:r>
                <a:t>d</a:t>
              </a:r>
              <a:r>
                <a:rPr>
                  <a:solidFill>
                    <a:srgbClr val="A6A6A6"/>
                  </a:solidFill>
                </a:rPr>
                <a:t>            a          b     c</a:t>
              </a:r>
            </a:p>
          </p:txBody>
        </p:sp>
        <p:sp>
          <p:nvSpPr>
            <p:cNvPr id="366" name="TextBox 6"/>
            <p:cNvSpPr txBox="1"/>
            <p:nvPr/>
          </p:nvSpPr>
          <p:spPr>
            <a:xfrm>
              <a:off x="1615063" y="3612361"/>
              <a:ext cx="1276634" cy="2749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>
                <a:defRPr sz="1200"/>
              </a:lvl1pPr>
            </a:lstStyle>
            <a:p>
              <a:pPr/>
              <a:r>
                <a:t>"Test Color"</a:t>
              </a:r>
            </a:p>
          </p:txBody>
        </p:sp>
        <p:sp>
          <p:nvSpPr>
            <p:cNvPr id="367" name="TextBox 5"/>
            <p:cNvSpPr txBox="1"/>
            <p:nvPr/>
          </p:nvSpPr>
          <p:spPr>
            <a:xfrm>
              <a:off x="1622270" y="3926663"/>
              <a:ext cx="1276634" cy="2749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200"/>
              </a:lvl1pPr>
            </a:lstStyle>
            <a:p>
              <a:pPr/>
              <a:r>
                <a:t>800</a:t>
              </a:r>
            </a:p>
          </p:txBody>
        </p:sp>
        <p:sp>
          <p:nvSpPr>
            <p:cNvPr id="368" name="TextBox 7"/>
            <p:cNvSpPr txBox="1"/>
            <p:nvPr/>
          </p:nvSpPr>
          <p:spPr>
            <a:xfrm>
              <a:off x="1615063" y="4250886"/>
              <a:ext cx="1276634" cy="2749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200"/>
              </a:lvl1pPr>
            </a:lstStyle>
            <a:p>
              <a:pPr/>
              <a:r>
                <a:t>600</a:t>
              </a:r>
            </a:p>
          </p:txBody>
        </p:sp>
        <p:sp>
          <p:nvSpPr>
            <p:cNvPr id="369" name="TextBox 8"/>
            <p:cNvSpPr txBox="1"/>
            <p:nvPr/>
          </p:nvSpPr>
          <p:spPr>
            <a:xfrm>
              <a:off x="76847" y="1854167"/>
              <a:ext cx="1017737" cy="4986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/>
            <a:p>
              <a:pPr algn="ctr">
                <a:defRPr sz="1200"/>
              </a:pPr>
              <a:r>
                <a:t>Old Program</a:t>
              </a:r>
            </a:p>
            <a:p>
              <a:pPr algn="ctr">
                <a:defRPr sz="1200"/>
              </a:pPr>
              <a:r>
                <a:t>Counter</a:t>
              </a:r>
            </a:p>
          </p:txBody>
        </p:sp>
        <p:grpSp>
          <p:nvGrpSpPr>
            <p:cNvPr id="372" name="Rectangle 24"/>
            <p:cNvGrpSpPr/>
            <p:nvPr/>
          </p:nvGrpSpPr>
          <p:grpSpPr>
            <a:xfrm>
              <a:off x="163639" y="2394553"/>
              <a:ext cx="850379" cy="336375"/>
              <a:chOff x="0" y="-2888"/>
              <a:chExt cx="850377" cy="336373"/>
            </a:xfrm>
          </p:grpSpPr>
          <p:sp>
            <p:nvSpPr>
              <p:cNvPr id="370" name="Shape"/>
              <p:cNvSpPr/>
              <p:nvPr/>
            </p:nvSpPr>
            <p:spPr>
              <a:xfrm>
                <a:off x="0" y="5389"/>
                <a:ext cx="850378" cy="3184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38" h="20789" fill="norm" stroke="1" extrusionOk="0">
                    <a:moveTo>
                      <a:pt x="62" y="468"/>
                    </a:moveTo>
                    <a:cubicBezTo>
                      <a:pt x="4396" y="730"/>
                      <a:pt x="7646" y="1130"/>
                      <a:pt x="10536" y="468"/>
                    </a:cubicBezTo>
                    <a:cubicBezTo>
                      <a:pt x="13427" y="-194"/>
                      <a:pt x="18140" y="-118"/>
                      <a:pt x="21438" y="468"/>
                    </a:cubicBezTo>
                    <a:cubicBezTo>
                      <a:pt x="21167" y="4501"/>
                      <a:pt x="21162" y="14670"/>
                      <a:pt x="21438" y="20409"/>
                    </a:cubicBezTo>
                    <a:cubicBezTo>
                      <a:pt x="19153" y="20087"/>
                      <a:pt x="14888" y="21406"/>
                      <a:pt x="10750" y="20409"/>
                    </a:cubicBezTo>
                    <a:cubicBezTo>
                      <a:pt x="6612" y="19413"/>
                      <a:pt x="3395" y="21240"/>
                      <a:pt x="62" y="20409"/>
                    </a:cubicBezTo>
                    <a:cubicBezTo>
                      <a:pt x="309" y="11565"/>
                      <a:pt x="-162" y="4735"/>
                      <a:pt x="62" y="468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38641" tIns="38641" rIns="38641" bIns="38641" numCol="1" anchor="ctr">
                <a:noAutofit/>
              </a:bodyPr>
              <a:lstStyle/>
              <a:p>
                <a:pPr algn="ctr">
                  <a:defRPr sz="1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71" name="1d"/>
              <p:cNvSpPr txBox="1"/>
              <p:nvPr/>
            </p:nvSpPr>
            <p:spPr>
              <a:xfrm>
                <a:off x="60455" y="-2889"/>
                <a:ext cx="731940" cy="33637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641" tIns="38641" rIns="38641" bIns="38641" numCol="1" anchor="ctr">
                <a:noAutofit/>
              </a:bodyPr>
              <a:lstStyle>
                <a:lvl1pPr algn="ctr">
                  <a:defRPr sz="1600"/>
                </a:lvl1pPr>
              </a:lstStyle>
              <a:p>
                <a:pPr/>
                <a:r>
                  <a:t>1d</a:t>
                </a:r>
              </a:p>
            </p:txBody>
          </p:sp>
        </p:grpSp>
        <p:sp>
          <p:nvSpPr>
            <p:cNvPr id="373" name="TextBox 9"/>
            <p:cNvSpPr txBox="1"/>
            <p:nvPr/>
          </p:nvSpPr>
          <p:spPr>
            <a:xfrm>
              <a:off x="2062223" y="1699024"/>
              <a:ext cx="4704572" cy="1386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/>
            <a:p>
              <a:pPr marL="300037" indent="-300037">
                <a:buSzPct val="100000"/>
                <a:buAutoNum type="arabicPeriod" startAt="127"/>
                <a:defRPr sz="1400">
                  <a:solidFill>
                    <a:srgbClr val="A6A6A6"/>
                  </a:solidFill>
                </a:defRPr>
              </a:pPr>
              <a:r>
                <a:t> … Open Window First Instruction …</a:t>
              </a:r>
            </a:p>
            <a:p>
              <a:pPr marL="300037" indent="-300037">
                <a:buSzPct val="100000"/>
                <a:buAutoNum type="arabicPeriod" startAt="127"/>
                <a:defRPr sz="1400">
                  <a:solidFill>
                    <a:srgbClr val="A6A6A6"/>
                  </a:solidFill>
                </a:defRPr>
              </a:pPr>
              <a:r>
                <a:t> … Open Window Second Instruction …</a:t>
              </a:r>
            </a:p>
            <a:p>
              <a:pPr marL="300037" indent="-300037">
                <a:buSzPct val="100000"/>
                <a:buAutoNum type="arabicPeriod" startAt="127"/>
                <a:defRPr sz="1400">
                  <a:solidFill>
                    <a:srgbClr val="A6A6A6"/>
                  </a:solidFill>
                </a:defRPr>
              </a:pPr>
              <a:r>
                <a:t> …</a:t>
              </a:r>
            </a:p>
            <a:p>
              <a:pPr>
                <a:defRPr sz="1400">
                  <a:solidFill>
                    <a:srgbClr val="A6A6A6"/>
                  </a:solidFill>
                </a:defRPr>
              </a:pPr>
              <a:r>
                <a:t>…</a:t>
              </a:r>
            </a:p>
            <a:p>
              <a:pPr>
                <a:defRPr sz="1400"/>
              </a:pPr>
              <a:r>
                <a:t>197.   … Open Windows Returns</a:t>
              </a:r>
            </a:p>
          </p:txBody>
        </p:sp>
        <p:grpSp>
          <p:nvGrpSpPr>
            <p:cNvPr id="378" name="Rectangle 23"/>
            <p:cNvGrpSpPr/>
            <p:nvPr/>
          </p:nvGrpSpPr>
          <p:grpSpPr>
            <a:xfrm>
              <a:off x="4767560" y="2471254"/>
              <a:ext cx="2085338" cy="262780"/>
              <a:chOff x="0" y="4454"/>
              <a:chExt cx="2085337" cy="262779"/>
            </a:xfrm>
          </p:grpSpPr>
          <p:grpSp>
            <p:nvGrpSpPr>
              <p:cNvPr id="376" name="Group"/>
              <p:cNvGrpSpPr/>
              <p:nvPr/>
            </p:nvGrpSpPr>
            <p:grpSpPr>
              <a:xfrm>
                <a:off x="-1" y="4608"/>
                <a:ext cx="2085339" cy="259194"/>
                <a:chOff x="0" y="0"/>
                <a:chExt cx="2085337" cy="259192"/>
              </a:xfrm>
            </p:grpSpPr>
            <p:sp>
              <p:nvSpPr>
                <p:cNvPr id="374" name="Shape"/>
                <p:cNvSpPr/>
                <p:nvPr/>
              </p:nvSpPr>
              <p:spPr>
                <a:xfrm>
                  <a:off x="226" y="-1"/>
                  <a:ext cx="2085112" cy="25919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91" h="20056" fill="norm" stroke="1" extrusionOk="0">
                      <a:moveTo>
                        <a:pt x="23" y="1053"/>
                      </a:moveTo>
                      <a:cubicBezTo>
                        <a:pt x="2197" y="1618"/>
                        <a:pt x="3883" y="129"/>
                        <a:pt x="6958" y="1053"/>
                      </a:cubicBezTo>
                      <a:cubicBezTo>
                        <a:pt x="10033" y="1976"/>
                        <a:pt x="10458" y="2329"/>
                        <a:pt x="13464" y="1053"/>
                      </a:cubicBezTo>
                      <a:cubicBezTo>
                        <a:pt x="16470" y="-224"/>
                        <a:pt x="19769" y="-473"/>
                        <a:pt x="21471" y="1053"/>
                      </a:cubicBezTo>
                      <a:cubicBezTo>
                        <a:pt x="21549" y="6738"/>
                        <a:pt x="21364" y="14286"/>
                        <a:pt x="21471" y="19257"/>
                      </a:cubicBezTo>
                      <a:cubicBezTo>
                        <a:pt x="18313" y="19559"/>
                        <a:pt x="17798" y="20894"/>
                        <a:pt x="14751" y="19257"/>
                      </a:cubicBezTo>
                      <a:cubicBezTo>
                        <a:pt x="11704" y="17620"/>
                        <a:pt x="10254" y="21127"/>
                        <a:pt x="7172" y="19257"/>
                      </a:cubicBezTo>
                      <a:cubicBezTo>
                        <a:pt x="4091" y="17387"/>
                        <a:pt x="3590" y="16797"/>
                        <a:pt x="23" y="19257"/>
                      </a:cubicBezTo>
                      <a:cubicBezTo>
                        <a:pt x="86" y="10749"/>
                        <a:pt x="-51" y="5539"/>
                        <a:pt x="23" y="1053"/>
                      </a:cubicBezTo>
                      <a:close/>
                    </a:path>
                  </a:pathLst>
                </a:custGeom>
                <a:solidFill>
                  <a:srgbClr val="FFD966"/>
                </a:solidFill>
                <a:ln w="3175" cap="flat">
                  <a:noFill/>
                  <a:miter lim="400000"/>
                </a:ln>
                <a:effectLst/>
              </p:spPr>
              <p:txBody>
                <a:bodyPr wrap="square" lIns="38641" tIns="38641" rIns="38641" bIns="38641" numCol="1" anchor="ctr">
                  <a:noAutofit/>
                </a:bodyPr>
                <a:lstStyle/>
                <a:p>
                  <a:pPr algn="ctr">
                    <a:defRPr sz="1600"/>
                  </a:pPr>
                </a:p>
              </p:txBody>
            </p:sp>
            <p:sp>
              <p:nvSpPr>
                <p:cNvPr id="375" name="Shape"/>
                <p:cNvSpPr/>
                <p:nvPr/>
              </p:nvSpPr>
              <p:spPr>
                <a:xfrm>
                  <a:off x="-1" y="739"/>
                  <a:ext cx="2083433" cy="2544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86" h="19772" fill="norm" stroke="1" extrusionOk="0">
                      <a:moveTo>
                        <a:pt x="25" y="999"/>
                      </a:moveTo>
                      <a:cubicBezTo>
                        <a:pt x="3202" y="1392"/>
                        <a:pt x="5978" y="1575"/>
                        <a:pt x="7643" y="999"/>
                      </a:cubicBezTo>
                      <a:cubicBezTo>
                        <a:pt x="9308" y="424"/>
                        <a:pt x="13251" y="1567"/>
                        <a:pt x="15046" y="999"/>
                      </a:cubicBezTo>
                      <a:cubicBezTo>
                        <a:pt x="16840" y="432"/>
                        <a:pt x="19365" y="-934"/>
                        <a:pt x="21586" y="999"/>
                      </a:cubicBezTo>
                      <a:cubicBezTo>
                        <a:pt x="21526" y="7832"/>
                        <a:pt x="21568" y="10652"/>
                        <a:pt x="21586" y="19278"/>
                      </a:cubicBezTo>
                      <a:cubicBezTo>
                        <a:pt x="19622" y="20666"/>
                        <a:pt x="16762" y="18619"/>
                        <a:pt x="14830" y="19278"/>
                      </a:cubicBezTo>
                      <a:cubicBezTo>
                        <a:pt x="12898" y="19936"/>
                        <a:pt x="10810" y="18494"/>
                        <a:pt x="7643" y="19278"/>
                      </a:cubicBezTo>
                      <a:cubicBezTo>
                        <a:pt x="4476" y="20061"/>
                        <a:pt x="3602" y="17202"/>
                        <a:pt x="25" y="19278"/>
                      </a:cubicBezTo>
                      <a:cubicBezTo>
                        <a:pt x="-3" y="11481"/>
                        <a:pt x="-14" y="8095"/>
                        <a:pt x="25" y="999"/>
                      </a:cubicBezTo>
                      <a:close/>
                    </a:path>
                  </a:pathLst>
                </a:custGeom>
                <a:noFill/>
                <a:ln w="317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ctr">
                  <a:noAutofit/>
                </a:bodyPr>
                <a:lstStyle/>
                <a:p>
                  <a:pPr algn="ctr">
                    <a:defRPr sz="1600"/>
                  </a:pPr>
                </a:p>
              </p:txBody>
            </p:sp>
          </p:grpSp>
          <p:sp>
            <p:nvSpPr>
              <p:cNvPr id="377" name="A new window has opened"/>
              <p:cNvSpPr txBox="1"/>
              <p:nvPr/>
            </p:nvSpPr>
            <p:spPr>
              <a:xfrm>
                <a:off x="59389" y="4454"/>
                <a:ext cx="1967069" cy="26278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641" tIns="38641" rIns="38641" bIns="38641" numCol="1" anchor="ctr">
                <a:noAutofit/>
              </a:bodyPr>
              <a:lstStyle>
                <a:lvl1pPr algn="ctr">
                  <a:defRPr sz="1100"/>
                </a:lvl1pPr>
              </a:lstStyle>
              <a:p>
                <a:pPr/>
                <a:r>
                  <a:t>A new window has opened</a:t>
                </a:r>
              </a:p>
            </p:txBody>
          </p:sp>
        </p:grpSp>
      </p:grpSp>
      <p:grpSp>
        <p:nvGrpSpPr>
          <p:cNvPr id="387" name="Group"/>
          <p:cNvGrpSpPr/>
          <p:nvPr/>
        </p:nvGrpSpPr>
        <p:grpSpPr>
          <a:xfrm>
            <a:off x="4814852" y="3391865"/>
            <a:ext cx="2271567" cy="1532409"/>
            <a:chOff x="0" y="0"/>
            <a:chExt cx="2271565" cy="1532407"/>
          </a:xfrm>
        </p:grpSpPr>
        <p:sp>
          <p:nvSpPr>
            <p:cNvPr id="380" name="Rectangle 34"/>
            <p:cNvSpPr/>
            <p:nvPr/>
          </p:nvSpPr>
          <p:spPr>
            <a:xfrm>
              <a:off x="21354" y="38563"/>
              <a:ext cx="2245106" cy="253475"/>
            </a:xfrm>
            <a:prstGeom prst="rect">
              <a:avLst/>
            </a:prstGeom>
            <a:solidFill>
              <a:srgbClr val="FFE699"/>
            </a:solidFill>
            <a:ln w="3175" cap="flat">
              <a:solidFill>
                <a:srgbClr val="1D3053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385" name="Group 3"/>
            <p:cNvGrpSpPr/>
            <p:nvPr/>
          </p:nvGrpSpPr>
          <p:grpSpPr>
            <a:xfrm>
              <a:off x="-1" y="0"/>
              <a:ext cx="2271567" cy="1532408"/>
              <a:chOff x="0" y="0"/>
              <a:chExt cx="2271565" cy="1532407"/>
            </a:xfrm>
          </p:grpSpPr>
          <p:sp>
            <p:nvSpPr>
              <p:cNvPr id="381" name="Rectangle 28"/>
              <p:cNvSpPr/>
              <p:nvPr/>
            </p:nvSpPr>
            <p:spPr>
              <a:xfrm>
                <a:off x="-1" y="29680"/>
                <a:ext cx="2271567" cy="15027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30" h="21224" fill="norm" stroke="1" extrusionOk="0">
                    <a:moveTo>
                      <a:pt x="68" y="200"/>
                    </a:moveTo>
                    <a:cubicBezTo>
                      <a:pt x="1358" y="547"/>
                      <a:pt x="3121" y="260"/>
                      <a:pt x="5173" y="200"/>
                    </a:cubicBezTo>
                    <a:cubicBezTo>
                      <a:pt x="7226" y="140"/>
                      <a:pt x="8752" y="321"/>
                      <a:pt x="9853" y="200"/>
                    </a:cubicBezTo>
                    <a:cubicBezTo>
                      <a:pt x="10955" y="79"/>
                      <a:pt x="14130" y="598"/>
                      <a:pt x="15597" y="200"/>
                    </a:cubicBezTo>
                    <a:cubicBezTo>
                      <a:pt x="17064" y="-198"/>
                      <a:pt x="18621" y="105"/>
                      <a:pt x="21341" y="200"/>
                    </a:cubicBezTo>
                    <a:cubicBezTo>
                      <a:pt x="21341" y="1592"/>
                      <a:pt x="21287" y="5394"/>
                      <a:pt x="21341" y="6929"/>
                    </a:cubicBezTo>
                    <a:cubicBezTo>
                      <a:pt x="21395" y="8465"/>
                      <a:pt x="21282" y="11758"/>
                      <a:pt x="21341" y="13451"/>
                    </a:cubicBezTo>
                    <a:cubicBezTo>
                      <a:pt x="21399" y="15143"/>
                      <a:pt x="21507" y="17551"/>
                      <a:pt x="21341" y="21013"/>
                    </a:cubicBezTo>
                    <a:cubicBezTo>
                      <a:pt x="19602" y="20924"/>
                      <a:pt x="18099" y="21224"/>
                      <a:pt x="16023" y="21013"/>
                    </a:cubicBezTo>
                    <a:cubicBezTo>
                      <a:pt x="13946" y="20801"/>
                      <a:pt x="12346" y="20886"/>
                      <a:pt x="11342" y="21013"/>
                    </a:cubicBezTo>
                    <a:cubicBezTo>
                      <a:pt x="10339" y="21140"/>
                      <a:pt x="8157" y="20623"/>
                      <a:pt x="6024" y="21013"/>
                    </a:cubicBezTo>
                    <a:cubicBezTo>
                      <a:pt x="3891" y="21402"/>
                      <a:pt x="2915" y="21162"/>
                      <a:pt x="68" y="21013"/>
                    </a:cubicBezTo>
                    <a:cubicBezTo>
                      <a:pt x="85" y="18728"/>
                      <a:pt x="-93" y="15779"/>
                      <a:pt x="68" y="14283"/>
                    </a:cubicBezTo>
                    <a:cubicBezTo>
                      <a:pt x="228" y="12787"/>
                      <a:pt x="-78" y="10782"/>
                      <a:pt x="68" y="7554"/>
                    </a:cubicBezTo>
                    <a:cubicBezTo>
                      <a:pt x="213" y="4326"/>
                      <a:pt x="225" y="3626"/>
                      <a:pt x="68" y="200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38641" tIns="38641" rIns="38641" bIns="38641" numCol="1" anchor="ctr">
                <a:noAutofit/>
              </a:bodyPr>
              <a:lstStyle/>
              <a:p>
                <a:pPr algn="ctr">
                  <a:defRPr sz="20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82" name="Straight Connector 29"/>
              <p:cNvSpPr/>
              <p:nvPr/>
            </p:nvSpPr>
            <p:spPr>
              <a:xfrm flipH="1" flipV="1">
                <a:off x="7177" y="297301"/>
                <a:ext cx="22549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38641" tIns="38641" rIns="38641" bIns="38641" numCol="1" anchor="t">
                <a:noAutofit/>
              </a:bodyPr>
              <a:lstStyle/>
              <a:p>
                <a:pPr>
                  <a:defRPr sz="1600"/>
                </a:pPr>
              </a:p>
            </p:txBody>
          </p:sp>
          <p:sp>
            <p:nvSpPr>
              <p:cNvPr id="383" name="TextBox 32"/>
              <p:cNvSpPr txBox="1"/>
              <p:nvPr/>
            </p:nvSpPr>
            <p:spPr>
              <a:xfrm>
                <a:off x="499400" y="0"/>
                <a:ext cx="937531" cy="28048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641" tIns="38641" rIns="38641" bIns="38641" numCol="1" anchor="t">
                <a:spAutoFit/>
              </a:bodyPr>
              <a:lstStyle>
                <a:lvl1pPr>
                  <a:defRPr sz="1600">
                    <a:latin typeface="Gaegu Regular"/>
                    <a:ea typeface="Gaegu Regular"/>
                    <a:cs typeface="Gaegu Regular"/>
                    <a:sym typeface="Gaegu Regular"/>
                  </a:defRPr>
                </a:lvl1pPr>
              </a:lstStyle>
              <a:p>
                <a:pPr/>
                <a:r>
                  <a:t>Test Color</a:t>
                </a:r>
              </a:p>
            </p:txBody>
          </p:sp>
          <p:pic>
            <p:nvPicPr>
              <p:cNvPr id="384" name="Picture 31" descr="Picture 31"/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79311" y="91672"/>
                <a:ext cx="360057" cy="12880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386" name="Rectangle 35"/>
            <p:cNvSpPr/>
            <p:nvPr/>
          </p:nvSpPr>
          <p:spPr>
            <a:xfrm>
              <a:off x="21354" y="302591"/>
              <a:ext cx="2240820" cy="1214870"/>
            </a:xfrm>
            <a:prstGeom prst="rect">
              <a:avLst/>
            </a:prstGeom>
            <a:solidFill>
              <a:srgbClr val="FFFFFF"/>
            </a:solidFill>
            <a:ln w="3175" cap="flat">
              <a:solidFill>
                <a:srgbClr val="1D3053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"/>
          <p:cNvGrpSpPr/>
          <p:nvPr/>
        </p:nvGrpSpPr>
        <p:grpSpPr>
          <a:xfrm>
            <a:off x="247650" y="196370"/>
            <a:ext cx="7061201" cy="4636460"/>
            <a:chOff x="0" y="0"/>
            <a:chExt cx="7061200" cy="4636458"/>
          </a:xfrm>
        </p:grpSpPr>
        <p:grpSp>
          <p:nvGrpSpPr>
            <p:cNvPr id="405" name="Group 11"/>
            <p:cNvGrpSpPr/>
            <p:nvPr/>
          </p:nvGrpSpPr>
          <p:grpSpPr>
            <a:xfrm>
              <a:off x="0" y="0"/>
              <a:ext cx="7061201" cy="4636459"/>
              <a:chOff x="0" y="0"/>
              <a:chExt cx="7061200" cy="4636459"/>
            </a:xfrm>
          </p:grpSpPr>
          <p:grpSp>
            <p:nvGrpSpPr>
              <p:cNvPr id="391" name="Group 36"/>
              <p:cNvGrpSpPr/>
              <p:nvPr/>
            </p:nvGrpSpPr>
            <p:grpSpPr>
              <a:xfrm>
                <a:off x="140075" y="3804832"/>
                <a:ext cx="550812" cy="781301"/>
                <a:chOff x="0" y="0"/>
                <a:chExt cx="550810" cy="781299"/>
              </a:xfrm>
            </p:grpSpPr>
            <p:pic>
              <p:nvPicPr>
                <p:cNvPr id="389" name="Picture 12" descr="Picture 12"/>
                <p:cNvPicPr>
                  <a:picLocks noChangeAspect="1"/>
                </p:cNvPicPr>
                <p:nvPr/>
              </p:nvPicPr>
              <p:blipFill>
                <a:blip r:embed="rId3">
                  <a:extLst/>
                </a:blip>
                <a:stretch>
                  <a:fillRect/>
                </a:stretch>
              </p:blipFill>
              <p:spPr>
                <a:xfrm>
                  <a:off x="0" y="0"/>
                  <a:ext cx="550811" cy="50597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390" name="TextBox 17"/>
                <p:cNvSpPr txBox="1"/>
                <p:nvPr/>
              </p:nvSpPr>
              <p:spPr>
                <a:xfrm>
                  <a:off x="33409" y="451916"/>
                  <a:ext cx="489144" cy="32938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641" tIns="38641" rIns="38641" bIns="38641" numCol="1" anchor="t">
                  <a:noAutofit/>
                </a:bodyPr>
                <a:lstStyle>
                  <a:lvl1pPr>
                    <a:defRPr sz="1600">
                      <a:latin typeface="Gaegu Regular"/>
                      <a:ea typeface="Gaegu Regular"/>
                      <a:cs typeface="Gaegu Regular"/>
                      <a:sym typeface="Gaegu Regular"/>
                    </a:defRPr>
                  </a:lvl1pPr>
                </a:lstStyle>
                <a:p>
                  <a:pPr/>
                  <a:r>
                    <a:t>CPU</a:t>
                  </a:r>
                </a:p>
              </p:txBody>
            </p:sp>
          </p:grpSp>
          <p:grpSp>
            <p:nvGrpSpPr>
              <p:cNvPr id="394" name="Group 51"/>
              <p:cNvGrpSpPr/>
              <p:nvPr/>
            </p:nvGrpSpPr>
            <p:grpSpPr>
              <a:xfrm>
                <a:off x="0" y="339014"/>
                <a:ext cx="7061201" cy="2623861"/>
                <a:chOff x="0" y="0"/>
                <a:chExt cx="7061200" cy="2623860"/>
              </a:xfrm>
            </p:grpSpPr>
            <p:sp>
              <p:nvSpPr>
                <p:cNvPr id="392" name="Straight Connector 4"/>
                <p:cNvSpPr/>
                <p:nvPr/>
              </p:nvSpPr>
              <p:spPr>
                <a:xfrm flipH="1">
                  <a:off x="1971910" y="34747"/>
                  <a:ext cx="1" cy="2583015"/>
                </a:xfrm>
                <a:prstGeom prst="line">
                  <a:avLst/>
                </a:prstGeom>
                <a:noFill/>
                <a:ln w="3175" cap="flat">
                  <a:solidFill>
                    <a:srgbClr val="808080"/>
                  </a:solidFill>
                  <a:prstDash val="dashDot"/>
                  <a:miter lim="800000"/>
                </a:ln>
                <a:effectLst/>
              </p:spPr>
              <p:txBody>
                <a:bodyPr wrap="square" lIns="38641" tIns="38641" rIns="38641" bIns="38641" numCol="1" anchor="t">
                  <a:noAutofit/>
                </a:bodyPr>
                <a:lstStyle/>
                <a:p>
                  <a:pPr>
                    <a:defRPr sz="1600"/>
                  </a:pPr>
                </a:p>
              </p:txBody>
            </p:sp>
            <p:sp>
              <p:nvSpPr>
                <p:cNvPr id="393" name="Rectangle 20"/>
                <p:cNvSpPr/>
                <p:nvPr/>
              </p:nvSpPr>
              <p:spPr>
                <a:xfrm>
                  <a:off x="0" y="0"/>
                  <a:ext cx="7061201" cy="262386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88" h="21487" fill="norm" stroke="1" extrusionOk="0">
                      <a:moveTo>
                        <a:pt x="53" y="31"/>
                      </a:moveTo>
                      <a:cubicBezTo>
                        <a:pt x="688" y="97"/>
                        <a:pt x="1302" y="95"/>
                        <a:pt x="1784" y="31"/>
                      </a:cubicBezTo>
                      <a:cubicBezTo>
                        <a:pt x="2266" y="-34"/>
                        <a:pt x="2447" y="33"/>
                        <a:pt x="3086" y="31"/>
                      </a:cubicBezTo>
                      <a:cubicBezTo>
                        <a:pt x="3726" y="29"/>
                        <a:pt x="4933" y="61"/>
                        <a:pt x="5458" y="31"/>
                      </a:cubicBezTo>
                      <a:cubicBezTo>
                        <a:pt x="5984" y="0"/>
                        <a:pt x="6833" y="45"/>
                        <a:pt x="7189" y="31"/>
                      </a:cubicBezTo>
                      <a:cubicBezTo>
                        <a:pt x="7544" y="16"/>
                        <a:pt x="8314" y="-30"/>
                        <a:pt x="8919" y="31"/>
                      </a:cubicBezTo>
                      <a:cubicBezTo>
                        <a:pt x="9524" y="92"/>
                        <a:pt x="10434" y="-58"/>
                        <a:pt x="11291" y="31"/>
                      </a:cubicBezTo>
                      <a:cubicBezTo>
                        <a:pt x="12149" y="119"/>
                        <a:pt x="12221" y="35"/>
                        <a:pt x="12808" y="31"/>
                      </a:cubicBezTo>
                      <a:cubicBezTo>
                        <a:pt x="13394" y="26"/>
                        <a:pt x="14112" y="71"/>
                        <a:pt x="15180" y="31"/>
                      </a:cubicBezTo>
                      <a:cubicBezTo>
                        <a:pt x="16248" y="-10"/>
                        <a:pt x="16841" y="20"/>
                        <a:pt x="17552" y="31"/>
                      </a:cubicBezTo>
                      <a:cubicBezTo>
                        <a:pt x="18263" y="41"/>
                        <a:pt x="19031" y="-24"/>
                        <a:pt x="19496" y="31"/>
                      </a:cubicBezTo>
                      <a:cubicBezTo>
                        <a:pt x="19962" y="85"/>
                        <a:pt x="20676" y="92"/>
                        <a:pt x="21440" y="31"/>
                      </a:cubicBezTo>
                      <a:cubicBezTo>
                        <a:pt x="21458" y="623"/>
                        <a:pt x="21354" y="1055"/>
                        <a:pt x="21440" y="1763"/>
                      </a:cubicBezTo>
                      <a:cubicBezTo>
                        <a:pt x="21527" y="2471"/>
                        <a:pt x="21434" y="2599"/>
                        <a:pt x="21440" y="3067"/>
                      </a:cubicBezTo>
                      <a:cubicBezTo>
                        <a:pt x="21447" y="3535"/>
                        <a:pt x="21411" y="4258"/>
                        <a:pt x="21440" y="5013"/>
                      </a:cubicBezTo>
                      <a:cubicBezTo>
                        <a:pt x="21470" y="5767"/>
                        <a:pt x="21385" y="6136"/>
                        <a:pt x="21440" y="6959"/>
                      </a:cubicBezTo>
                      <a:cubicBezTo>
                        <a:pt x="21496" y="7782"/>
                        <a:pt x="21469" y="8275"/>
                        <a:pt x="21440" y="8905"/>
                      </a:cubicBezTo>
                      <a:cubicBezTo>
                        <a:pt x="21412" y="9535"/>
                        <a:pt x="21397" y="10422"/>
                        <a:pt x="21440" y="11065"/>
                      </a:cubicBezTo>
                      <a:cubicBezTo>
                        <a:pt x="21484" y="11708"/>
                        <a:pt x="21503" y="12309"/>
                        <a:pt x="21440" y="13225"/>
                      </a:cubicBezTo>
                      <a:cubicBezTo>
                        <a:pt x="21378" y="14141"/>
                        <a:pt x="21334" y="14310"/>
                        <a:pt x="21440" y="15385"/>
                      </a:cubicBezTo>
                      <a:cubicBezTo>
                        <a:pt x="21547" y="16460"/>
                        <a:pt x="21441" y="16261"/>
                        <a:pt x="21440" y="16689"/>
                      </a:cubicBezTo>
                      <a:cubicBezTo>
                        <a:pt x="21440" y="17117"/>
                        <a:pt x="21399" y="17724"/>
                        <a:pt x="21440" y="18207"/>
                      </a:cubicBezTo>
                      <a:cubicBezTo>
                        <a:pt x="21482" y="18689"/>
                        <a:pt x="21521" y="19893"/>
                        <a:pt x="21440" y="21437"/>
                      </a:cubicBezTo>
                      <a:cubicBezTo>
                        <a:pt x="21059" y="21419"/>
                        <a:pt x="20529" y="21383"/>
                        <a:pt x="19710" y="21437"/>
                      </a:cubicBezTo>
                      <a:cubicBezTo>
                        <a:pt x="18891" y="21492"/>
                        <a:pt x="18254" y="21487"/>
                        <a:pt x="17766" y="21437"/>
                      </a:cubicBezTo>
                      <a:cubicBezTo>
                        <a:pt x="17277" y="21387"/>
                        <a:pt x="16821" y="21499"/>
                        <a:pt x="16463" y="21437"/>
                      </a:cubicBezTo>
                      <a:cubicBezTo>
                        <a:pt x="16105" y="21376"/>
                        <a:pt x="15599" y="21441"/>
                        <a:pt x="15160" y="21437"/>
                      </a:cubicBezTo>
                      <a:cubicBezTo>
                        <a:pt x="14722" y="21434"/>
                        <a:pt x="14040" y="21430"/>
                        <a:pt x="13216" y="21437"/>
                      </a:cubicBezTo>
                      <a:cubicBezTo>
                        <a:pt x="12392" y="21444"/>
                        <a:pt x="12035" y="21479"/>
                        <a:pt x="11700" y="21437"/>
                      </a:cubicBezTo>
                      <a:cubicBezTo>
                        <a:pt x="11364" y="21396"/>
                        <a:pt x="10480" y="21450"/>
                        <a:pt x="9541" y="21437"/>
                      </a:cubicBezTo>
                      <a:cubicBezTo>
                        <a:pt x="8602" y="21425"/>
                        <a:pt x="8447" y="21422"/>
                        <a:pt x="8025" y="21437"/>
                      </a:cubicBezTo>
                      <a:cubicBezTo>
                        <a:pt x="7602" y="21453"/>
                        <a:pt x="6619" y="21333"/>
                        <a:pt x="5867" y="21437"/>
                      </a:cubicBezTo>
                      <a:cubicBezTo>
                        <a:pt x="5115" y="21542"/>
                        <a:pt x="5089" y="21452"/>
                        <a:pt x="4564" y="21437"/>
                      </a:cubicBezTo>
                      <a:cubicBezTo>
                        <a:pt x="4039" y="21423"/>
                        <a:pt x="2859" y="21541"/>
                        <a:pt x="2406" y="21437"/>
                      </a:cubicBezTo>
                      <a:cubicBezTo>
                        <a:pt x="1953" y="21334"/>
                        <a:pt x="604" y="21432"/>
                        <a:pt x="53" y="21437"/>
                      </a:cubicBezTo>
                      <a:cubicBezTo>
                        <a:pt x="106" y="20923"/>
                        <a:pt x="112" y="20560"/>
                        <a:pt x="53" y="20134"/>
                      </a:cubicBezTo>
                      <a:cubicBezTo>
                        <a:pt x="-5" y="19707"/>
                        <a:pt x="-30" y="19043"/>
                        <a:pt x="53" y="18402"/>
                      </a:cubicBezTo>
                      <a:cubicBezTo>
                        <a:pt x="136" y="17760"/>
                        <a:pt x="157" y="16858"/>
                        <a:pt x="53" y="16027"/>
                      </a:cubicBezTo>
                      <a:cubicBezTo>
                        <a:pt x="-51" y="15196"/>
                        <a:pt x="121" y="15079"/>
                        <a:pt x="53" y="14509"/>
                      </a:cubicBezTo>
                      <a:cubicBezTo>
                        <a:pt x="-14" y="13940"/>
                        <a:pt x="25" y="13783"/>
                        <a:pt x="53" y="13206"/>
                      </a:cubicBezTo>
                      <a:cubicBezTo>
                        <a:pt x="81" y="12628"/>
                        <a:pt x="90" y="12222"/>
                        <a:pt x="53" y="11902"/>
                      </a:cubicBezTo>
                      <a:cubicBezTo>
                        <a:pt x="17" y="11581"/>
                        <a:pt x="47" y="10240"/>
                        <a:pt x="53" y="9742"/>
                      </a:cubicBezTo>
                      <a:cubicBezTo>
                        <a:pt x="60" y="9243"/>
                        <a:pt x="36" y="8963"/>
                        <a:pt x="53" y="8438"/>
                      </a:cubicBezTo>
                      <a:cubicBezTo>
                        <a:pt x="70" y="7912"/>
                        <a:pt x="-34" y="6906"/>
                        <a:pt x="53" y="6492"/>
                      </a:cubicBezTo>
                      <a:cubicBezTo>
                        <a:pt x="140" y="6077"/>
                        <a:pt x="46" y="5326"/>
                        <a:pt x="53" y="4974"/>
                      </a:cubicBezTo>
                      <a:cubicBezTo>
                        <a:pt x="61" y="4621"/>
                        <a:pt x="38" y="3703"/>
                        <a:pt x="53" y="3028"/>
                      </a:cubicBezTo>
                      <a:cubicBezTo>
                        <a:pt x="69" y="2352"/>
                        <a:pt x="-53" y="922"/>
                        <a:pt x="53" y="31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  <p:grpSp>
            <p:nvGrpSpPr>
              <p:cNvPr id="398" name="Group 43"/>
              <p:cNvGrpSpPr/>
              <p:nvPr/>
            </p:nvGrpSpPr>
            <p:grpSpPr>
              <a:xfrm>
                <a:off x="3082118" y="3047751"/>
                <a:ext cx="3975905" cy="1582614"/>
                <a:chOff x="0" y="0"/>
                <a:chExt cx="3975904" cy="1582613"/>
              </a:xfrm>
            </p:grpSpPr>
            <p:sp>
              <p:nvSpPr>
                <p:cNvPr id="395" name="Rectangle 2"/>
                <p:cNvSpPr/>
                <p:nvPr/>
              </p:nvSpPr>
              <p:spPr>
                <a:xfrm>
                  <a:off x="0" y="40080"/>
                  <a:ext cx="3973085" cy="154253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29" h="21324" fill="norm" stroke="1" extrusionOk="0">
                      <a:moveTo>
                        <a:pt x="52" y="128"/>
                      </a:moveTo>
                      <a:cubicBezTo>
                        <a:pt x="686" y="189"/>
                        <a:pt x="1311" y="-176"/>
                        <a:pt x="1981" y="128"/>
                      </a:cubicBezTo>
                      <a:cubicBezTo>
                        <a:pt x="2651" y="433"/>
                        <a:pt x="3152" y="353"/>
                        <a:pt x="3481" y="128"/>
                      </a:cubicBezTo>
                      <a:cubicBezTo>
                        <a:pt x="3809" y="-96"/>
                        <a:pt x="4799" y="423"/>
                        <a:pt x="6052" y="128"/>
                      </a:cubicBezTo>
                      <a:cubicBezTo>
                        <a:pt x="7305" y="-166"/>
                        <a:pt x="7346" y="239"/>
                        <a:pt x="7981" y="128"/>
                      </a:cubicBezTo>
                      <a:cubicBezTo>
                        <a:pt x="8615" y="18"/>
                        <a:pt x="9153" y="-11"/>
                        <a:pt x="9909" y="128"/>
                      </a:cubicBezTo>
                      <a:cubicBezTo>
                        <a:pt x="10665" y="268"/>
                        <a:pt x="11479" y="282"/>
                        <a:pt x="12480" y="128"/>
                      </a:cubicBezTo>
                      <a:cubicBezTo>
                        <a:pt x="13482" y="-25"/>
                        <a:pt x="13747" y="362"/>
                        <a:pt x="14195" y="128"/>
                      </a:cubicBezTo>
                      <a:cubicBezTo>
                        <a:pt x="14642" y="-105"/>
                        <a:pt x="16007" y="281"/>
                        <a:pt x="16766" y="128"/>
                      </a:cubicBezTo>
                      <a:cubicBezTo>
                        <a:pt x="17525" y="-24"/>
                        <a:pt x="18070" y="197"/>
                        <a:pt x="19337" y="128"/>
                      </a:cubicBezTo>
                      <a:cubicBezTo>
                        <a:pt x="20605" y="60"/>
                        <a:pt x="20463" y="-123"/>
                        <a:pt x="21480" y="128"/>
                      </a:cubicBezTo>
                      <a:cubicBezTo>
                        <a:pt x="21519" y="3504"/>
                        <a:pt x="21520" y="5518"/>
                        <a:pt x="21480" y="7574"/>
                      </a:cubicBezTo>
                      <a:cubicBezTo>
                        <a:pt x="21441" y="9630"/>
                        <a:pt x="21394" y="12321"/>
                        <a:pt x="21480" y="14809"/>
                      </a:cubicBezTo>
                      <a:cubicBezTo>
                        <a:pt x="21566" y="17297"/>
                        <a:pt x="21523" y="19895"/>
                        <a:pt x="21480" y="21201"/>
                      </a:cubicBezTo>
                      <a:cubicBezTo>
                        <a:pt x="20987" y="21326"/>
                        <a:pt x="20111" y="21320"/>
                        <a:pt x="19337" y="21201"/>
                      </a:cubicBezTo>
                      <a:cubicBezTo>
                        <a:pt x="18564" y="21081"/>
                        <a:pt x="18116" y="21123"/>
                        <a:pt x="17623" y="21201"/>
                      </a:cubicBezTo>
                      <a:cubicBezTo>
                        <a:pt x="17131" y="21278"/>
                        <a:pt x="15980" y="21008"/>
                        <a:pt x="15480" y="21201"/>
                      </a:cubicBezTo>
                      <a:cubicBezTo>
                        <a:pt x="14980" y="21393"/>
                        <a:pt x="13762" y="21002"/>
                        <a:pt x="12909" y="21201"/>
                      </a:cubicBezTo>
                      <a:cubicBezTo>
                        <a:pt x="12056" y="21399"/>
                        <a:pt x="11283" y="21014"/>
                        <a:pt x="10766" y="21201"/>
                      </a:cubicBezTo>
                      <a:cubicBezTo>
                        <a:pt x="10250" y="21387"/>
                        <a:pt x="9963" y="21074"/>
                        <a:pt x="9266" y="21201"/>
                      </a:cubicBezTo>
                      <a:cubicBezTo>
                        <a:pt x="8569" y="21327"/>
                        <a:pt x="8233" y="21144"/>
                        <a:pt x="7552" y="21201"/>
                      </a:cubicBezTo>
                      <a:cubicBezTo>
                        <a:pt x="6871" y="21258"/>
                        <a:pt x="5903" y="21109"/>
                        <a:pt x="4981" y="21201"/>
                      </a:cubicBezTo>
                      <a:cubicBezTo>
                        <a:pt x="4058" y="21292"/>
                        <a:pt x="3537" y="21424"/>
                        <a:pt x="2838" y="21201"/>
                      </a:cubicBezTo>
                      <a:cubicBezTo>
                        <a:pt x="2139" y="20978"/>
                        <a:pt x="890" y="21294"/>
                        <a:pt x="52" y="21201"/>
                      </a:cubicBezTo>
                      <a:cubicBezTo>
                        <a:pt x="-34" y="19084"/>
                        <a:pt x="2" y="16536"/>
                        <a:pt x="52" y="14177"/>
                      </a:cubicBezTo>
                      <a:cubicBezTo>
                        <a:pt x="102" y="11817"/>
                        <a:pt x="70" y="10520"/>
                        <a:pt x="52" y="7785"/>
                      </a:cubicBezTo>
                      <a:cubicBezTo>
                        <a:pt x="35" y="5049"/>
                        <a:pt x="120" y="2341"/>
                        <a:pt x="52" y="128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A6A6A6"/>
                      </a:solidFill>
                    </a:defRPr>
                  </a:pPr>
                </a:p>
              </p:txBody>
            </p:sp>
            <p:sp>
              <p:nvSpPr>
                <p:cNvPr id="396" name="Straight Connector 25"/>
                <p:cNvSpPr/>
                <p:nvPr/>
              </p:nvSpPr>
              <p:spPr>
                <a:xfrm flipH="1">
                  <a:off x="9574" y="299990"/>
                  <a:ext cx="3966331" cy="1434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t">
                  <a:noAutofit/>
                </a:bodyPr>
                <a:lstStyle/>
                <a:p>
                  <a:pPr>
                    <a:defRPr sz="1600"/>
                  </a:pPr>
                </a:p>
              </p:txBody>
            </p:sp>
            <p:sp>
              <p:nvSpPr>
                <p:cNvPr id="397" name="TextBox 30"/>
                <p:cNvSpPr txBox="1"/>
                <p:nvPr/>
              </p:nvSpPr>
              <p:spPr>
                <a:xfrm>
                  <a:off x="550042" y="0"/>
                  <a:ext cx="956853" cy="32938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641" tIns="38641" rIns="38641" bIns="38641" numCol="1" anchor="t">
                  <a:noAutofit/>
                </a:bodyPr>
                <a:lstStyle>
                  <a:lvl1pPr>
                    <a:defRPr sz="1600">
                      <a:latin typeface="Gaegu Regular"/>
                      <a:ea typeface="Gaegu Regular"/>
                      <a:cs typeface="Gaegu Regular"/>
                      <a:sym typeface="Gaegu Regular"/>
                    </a:defRPr>
                  </a:lvl1pPr>
                </a:lstStyle>
                <a:p>
                  <a:pPr/>
                  <a:r>
                    <a:t>Terminal</a:t>
                  </a:r>
                </a:p>
              </p:txBody>
            </p:sp>
          </p:grpSp>
          <p:grpSp>
            <p:nvGrpSpPr>
              <p:cNvPr id="401" name="Group 13"/>
              <p:cNvGrpSpPr/>
              <p:nvPr/>
            </p:nvGrpSpPr>
            <p:grpSpPr>
              <a:xfrm>
                <a:off x="76596" y="3115233"/>
                <a:ext cx="1568067" cy="498683"/>
                <a:chOff x="0" y="0"/>
                <a:chExt cx="1568066" cy="498682"/>
              </a:xfrm>
            </p:grpSpPr>
            <p:sp>
              <p:nvSpPr>
                <p:cNvPr id="399" name="TextBox 14"/>
                <p:cNvSpPr txBox="1"/>
                <p:nvPr/>
              </p:nvSpPr>
              <p:spPr>
                <a:xfrm>
                  <a:off x="0" y="0"/>
                  <a:ext cx="723677" cy="49868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641" tIns="38641" rIns="38641" bIns="38641" numCol="1" anchor="t">
                  <a:noAutofit/>
                </a:bodyPr>
                <a:lstStyle/>
                <a:p>
                  <a:pPr>
                    <a:defRPr sz="1200"/>
                  </a:pPr>
                  <a:r>
                    <a:t>Program</a:t>
                  </a:r>
                </a:p>
                <a:p>
                  <a:pPr>
                    <a:defRPr sz="1200"/>
                  </a:pPr>
                  <a:r>
                    <a:t>Counter</a:t>
                  </a:r>
                </a:p>
              </p:txBody>
            </p:sp>
            <p:sp>
              <p:nvSpPr>
                <p:cNvPr id="400" name="Rectangle 16"/>
                <p:cNvSpPr/>
                <p:nvPr/>
              </p:nvSpPr>
              <p:spPr>
                <a:xfrm>
                  <a:off x="717688" y="102984"/>
                  <a:ext cx="850379" cy="31846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38" h="20789" fill="norm" stroke="1" extrusionOk="0">
                      <a:moveTo>
                        <a:pt x="62" y="468"/>
                      </a:moveTo>
                      <a:cubicBezTo>
                        <a:pt x="4396" y="730"/>
                        <a:pt x="7646" y="1130"/>
                        <a:pt x="10536" y="468"/>
                      </a:cubicBezTo>
                      <a:cubicBezTo>
                        <a:pt x="13427" y="-194"/>
                        <a:pt x="18140" y="-118"/>
                        <a:pt x="21438" y="468"/>
                      </a:cubicBezTo>
                      <a:cubicBezTo>
                        <a:pt x="21167" y="4501"/>
                        <a:pt x="21162" y="14670"/>
                        <a:pt x="21438" y="20409"/>
                      </a:cubicBezTo>
                      <a:cubicBezTo>
                        <a:pt x="19153" y="20087"/>
                        <a:pt x="14888" y="21406"/>
                        <a:pt x="10750" y="20409"/>
                      </a:cubicBezTo>
                      <a:cubicBezTo>
                        <a:pt x="6612" y="19413"/>
                        <a:pt x="3395" y="21240"/>
                        <a:pt x="62" y="20409"/>
                      </a:cubicBezTo>
                      <a:cubicBezTo>
                        <a:pt x="309" y="11565"/>
                        <a:pt x="-162" y="4735"/>
                        <a:pt x="62" y="468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ctr">
                  <a:noAutofit/>
                </a:bodyPr>
                <a:lstStyle/>
                <a:p>
                  <a:pPr algn="ctr">
                    <a:defRPr sz="1600"/>
                  </a:pPr>
                </a:p>
              </p:txBody>
            </p:sp>
          </p:grpSp>
          <p:sp>
            <p:nvSpPr>
              <p:cNvPr id="402" name="Rectangle 37"/>
              <p:cNvSpPr/>
              <p:nvPr/>
            </p:nvSpPr>
            <p:spPr>
              <a:xfrm>
                <a:off x="8457" y="3107818"/>
                <a:ext cx="3003015" cy="15286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61" h="21229" fill="norm" stroke="1" extrusionOk="0">
                    <a:moveTo>
                      <a:pt x="93" y="147"/>
                    </a:moveTo>
                    <a:cubicBezTo>
                      <a:pt x="1527" y="156"/>
                      <a:pt x="2742" y="-188"/>
                      <a:pt x="4144" y="147"/>
                    </a:cubicBezTo>
                    <a:cubicBezTo>
                      <a:pt x="5546" y="482"/>
                      <a:pt x="6786" y="220"/>
                      <a:pt x="7768" y="147"/>
                    </a:cubicBezTo>
                    <a:cubicBezTo>
                      <a:pt x="8751" y="75"/>
                      <a:pt x="11208" y="173"/>
                      <a:pt x="12459" y="147"/>
                    </a:cubicBezTo>
                    <a:cubicBezTo>
                      <a:pt x="13710" y="121"/>
                      <a:pt x="14966" y="-109"/>
                      <a:pt x="16510" y="147"/>
                    </a:cubicBezTo>
                    <a:cubicBezTo>
                      <a:pt x="18054" y="403"/>
                      <a:pt x="19766" y="-280"/>
                      <a:pt x="21414" y="147"/>
                    </a:cubicBezTo>
                    <a:cubicBezTo>
                      <a:pt x="21354" y="3318"/>
                      <a:pt x="21384" y="4316"/>
                      <a:pt x="21414" y="7523"/>
                    </a:cubicBezTo>
                    <a:cubicBezTo>
                      <a:pt x="21444" y="10729"/>
                      <a:pt x="21419" y="12620"/>
                      <a:pt x="21414" y="14481"/>
                    </a:cubicBezTo>
                    <a:cubicBezTo>
                      <a:pt x="21409" y="16341"/>
                      <a:pt x="21522" y="17780"/>
                      <a:pt x="21414" y="21021"/>
                    </a:cubicBezTo>
                    <a:cubicBezTo>
                      <a:pt x="20240" y="21193"/>
                      <a:pt x="18564" y="21099"/>
                      <a:pt x="17576" y="21021"/>
                    </a:cubicBezTo>
                    <a:cubicBezTo>
                      <a:pt x="16588" y="20944"/>
                      <a:pt x="14967" y="20968"/>
                      <a:pt x="13312" y="21021"/>
                    </a:cubicBezTo>
                    <a:cubicBezTo>
                      <a:pt x="11657" y="21075"/>
                      <a:pt x="10619" y="20797"/>
                      <a:pt x="9048" y="21021"/>
                    </a:cubicBezTo>
                    <a:cubicBezTo>
                      <a:pt x="7477" y="21246"/>
                      <a:pt x="6607" y="20723"/>
                      <a:pt x="4997" y="21021"/>
                    </a:cubicBezTo>
                    <a:cubicBezTo>
                      <a:pt x="3387" y="21320"/>
                      <a:pt x="2263" y="21277"/>
                      <a:pt x="93" y="21021"/>
                    </a:cubicBezTo>
                    <a:cubicBezTo>
                      <a:pt x="19" y="19440"/>
                      <a:pt x="-73" y="16863"/>
                      <a:pt x="93" y="13646"/>
                    </a:cubicBezTo>
                    <a:cubicBezTo>
                      <a:pt x="259" y="10429"/>
                      <a:pt x="264" y="7833"/>
                      <a:pt x="93" y="6270"/>
                    </a:cubicBezTo>
                    <a:cubicBezTo>
                      <a:pt x="-78" y="4708"/>
                      <a:pt x="221" y="3023"/>
                      <a:pt x="93" y="147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38641" tIns="38641" rIns="38641" bIns="38641" numCol="1" anchor="ctr">
                <a:noAutofit/>
              </a:bodyPr>
              <a:lstStyle/>
              <a:p>
                <a:pPr algn="ctr">
                  <a:defRPr sz="2000">
                    <a:solidFill>
                      <a:srgbClr val="FFFFFF"/>
                    </a:solidFill>
                  </a:defRPr>
                </a:pPr>
              </a:p>
            </p:txBody>
          </p:sp>
          <p:pic>
            <p:nvPicPr>
              <p:cNvPr id="403" name="Picture 62" descr="Picture 62"/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3186444" y="3160863"/>
                <a:ext cx="422831" cy="15126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404" name="TextBox 10"/>
              <p:cNvSpPr txBox="1"/>
              <p:nvPr/>
            </p:nvSpPr>
            <p:spPr>
              <a:xfrm>
                <a:off x="6098993" y="0"/>
                <a:ext cx="868322" cy="32938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641" tIns="38641" rIns="38641" bIns="38641" numCol="1" anchor="t">
                <a:noAutofit/>
              </a:bodyPr>
              <a:lstStyle>
                <a:lvl1pPr>
                  <a:defRPr sz="1600">
                    <a:latin typeface="Gaegu Regular"/>
                    <a:ea typeface="Gaegu Regular"/>
                    <a:cs typeface="Gaegu Regular"/>
                    <a:sym typeface="Gaegu Regular"/>
                  </a:defRPr>
                </a:lvl1pPr>
              </a:lstStyle>
              <a:p>
                <a:pPr/>
                <a:r>
                  <a:t>Memory</a:t>
                </a:r>
              </a:p>
            </p:txBody>
          </p:sp>
        </p:grpSp>
        <p:sp>
          <p:nvSpPr>
            <p:cNvPr id="406" name="Straight Connector 40"/>
            <p:cNvSpPr/>
            <p:nvPr/>
          </p:nvSpPr>
          <p:spPr>
            <a:xfrm flipV="1">
              <a:off x="3166026" y="3687737"/>
              <a:ext cx="1" cy="18943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t">
              <a:noAutofit/>
            </a:bodyPr>
            <a:lstStyle/>
            <a:p>
              <a:pPr>
                <a:defRPr sz="1600"/>
              </a:pPr>
            </a:p>
          </p:txBody>
        </p:sp>
        <p:grpSp>
          <p:nvGrpSpPr>
            <p:cNvPr id="409" name="Group 19"/>
            <p:cNvGrpSpPr/>
            <p:nvPr/>
          </p:nvGrpSpPr>
          <p:grpSpPr>
            <a:xfrm>
              <a:off x="714015" y="3616436"/>
              <a:ext cx="2224521" cy="274970"/>
              <a:chOff x="-6162" y="0"/>
              <a:chExt cx="2224520" cy="274969"/>
            </a:xfrm>
          </p:grpSpPr>
          <p:sp>
            <p:nvSpPr>
              <p:cNvPr id="407" name="TextBox 21"/>
              <p:cNvSpPr txBox="1"/>
              <p:nvPr/>
            </p:nvSpPr>
            <p:spPr>
              <a:xfrm>
                <a:off x="-6163" y="0"/>
                <a:ext cx="822688" cy="2749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641" tIns="38641" rIns="38641" bIns="38641" numCol="1" anchor="t">
                <a:noAutofit/>
              </a:bodyPr>
              <a:lstStyle>
                <a:lvl1pPr algn="ctr">
                  <a:defRPr sz="1200"/>
                </a:lvl1pPr>
              </a:lstStyle>
              <a:p>
                <a:pPr/>
                <a:r>
                  <a:t>Register 0</a:t>
                </a:r>
              </a:p>
            </p:txBody>
          </p:sp>
          <p:sp>
            <p:nvSpPr>
              <p:cNvPr id="408" name="Rectangle 22"/>
              <p:cNvSpPr/>
              <p:nvPr/>
            </p:nvSpPr>
            <p:spPr>
              <a:xfrm>
                <a:off x="855322" y="26429"/>
                <a:ext cx="1363037" cy="2467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99" h="20332" fill="norm" stroke="1" extrusionOk="0">
                    <a:moveTo>
                      <a:pt x="31" y="364"/>
                    </a:moveTo>
                    <a:cubicBezTo>
                      <a:pt x="2762" y="1659"/>
                      <a:pt x="4299" y="-408"/>
                      <a:pt x="6965" y="364"/>
                    </a:cubicBezTo>
                    <a:cubicBezTo>
                      <a:pt x="9630" y="1136"/>
                      <a:pt x="11326" y="-756"/>
                      <a:pt x="13470" y="364"/>
                    </a:cubicBezTo>
                    <a:cubicBezTo>
                      <a:pt x="15613" y="1484"/>
                      <a:pt x="19369" y="1304"/>
                      <a:pt x="21476" y="364"/>
                    </a:cubicBezTo>
                    <a:cubicBezTo>
                      <a:pt x="21549" y="8786"/>
                      <a:pt x="21420" y="12756"/>
                      <a:pt x="21476" y="19711"/>
                    </a:cubicBezTo>
                    <a:cubicBezTo>
                      <a:pt x="19782" y="20844"/>
                      <a:pt x="16772" y="20167"/>
                      <a:pt x="14757" y="19711"/>
                    </a:cubicBezTo>
                    <a:cubicBezTo>
                      <a:pt x="12742" y="19256"/>
                      <a:pt x="10818" y="20654"/>
                      <a:pt x="7179" y="19711"/>
                    </a:cubicBezTo>
                    <a:cubicBezTo>
                      <a:pt x="3541" y="18768"/>
                      <a:pt x="2819" y="20729"/>
                      <a:pt x="31" y="19711"/>
                    </a:cubicBezTo>
                    <a:cubicBezTo>
                      <a:pt x="-51" y="11606"/>
                      <a:pt x="57" y="5355"/>
                      <a:pt x="31" y="364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38641" tIns="38641" rIns="38641" bIns="38641" numCol="1" anchor="ctr">
                <a:noAutofit/>
              </a:bodyPr>
              <a:lstStyle/>
              <a:p>
                <a:pPr algn="ctr">
                  <a:defRPr sz="1600"/>
                </a:pPr>
              </a:p>
            </p:txBody>
          </p:sp>
        </p:grpSp>
        <p:sp>
          <p:nvSpPr>
            <p:cNvPr id="410" name="TextBox 33"/>
            <p:cNvSpPr txBox="1"/>
            <p:nvPr/>
          </p:nvSpPr>
          <p:spPr>
            <a:xfrm>
              <a:off x="722658" y="3924432"/>
              <a:ext cx="822688" cy="2749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200"/>
              </a:lvl1pPr>
            </a:lstStyle>
            <a:p>
              <a:pPr/>
              <a:r>
                <a:t>Register 1</a:t>
              </a:r>
            </a:p>
          </p:txBody>
        </p:sp>
        <p:sp>
          <p:nvSpPr>
            <p:cNvPr id="411" name="Rectangle 38"/>
            <p:cNvSpPr/>
            <p:nvPr/>
          </p:nvSpPr>
          <p:spPr>
            <a:xfrm>
              <a:off x="1576707" y="3953521"/>
              <a:ext cx="1360509" cy="263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5" h="20012" fill="norm" stroke="1" extrusionOk="0">
                  <a:moveTo>
                    <a:pt x="12" y="791"/>
                  </a:moveTo>
                  <a:cubicBezTo>
                    <a:pt x="3241" y="407"/>
                    <a:pt x="7659" y="781"/>
                    <a:pt x="10557" y="791"/>
                  </a:cubicBezTo>
                  <a:cubicBezTo>
                    <a:pt x="13455" y="800"/>
                    <a:pt x="16772" y="-994"/>
                    <a:pt x="21533" y="791"/>
                  </a:cubicBezTo>
                  <a:cubicBezTo>
                    <a:pt x="21557" y="8082"/>
                    <a:pt x="21370" y="11661"/>
                    <a:pt x="21533" y="18637"/>
                  </a:cubicBezTo>
                  <a:cubicBezTo>
                    <a:pt x="16322" y="19573"/>
                    <a:pt x="13444" y="16668"/>
                    <a:pt x="10772" y="18637"/>
                  </a:cubicBezTo>
                  <a:cubicBezTo>
                    <a:pt x="8100" y="20606"/>
                    <a:pt x="3639" y="20327"/>
                    <a:pt x="12" y="18637"/>
                  </a:cubicBezTo>
                  <a:cubicBezTo>
                    <a:pt x="-43" y="13404"/>
                    <a:pt x="111" y="8672"/>
                    <a:pt x="12" y="791"/>
                  </a:cubicBezTo>
                  <a:close/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412" name="TextBox 39"/>
            <p:cNvSpPr txBox="1"/>
            <p:nvPr/>
          </p:nvSpPr>
          <p:spPr>
            <a:xfrm>
              <a:off x="719332" y="4251600"/>
              <a:ext cx="822688" cy="2749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200"/>
              </a:lvl1pPr>
            </a:lstStyle>
            <a:p>
              <a:pPr/>
              <a:r>
                <a:t>Register 2</a:t>
              </a:r>
            </a:p>
          </p:txBody>
        </p:sp>
        <p:sp>
          <p:nvSpPr>
            <p:cNvPr id="413" name="Rectangle 42"/>
            <p:cNvSpPr/>
            <p:nvPr/>
          </p:nvSpPr>
          <p:spPr>
            <a:xfrm>
              <a:off x="1564737" y="4272046"/>
              <a:ext cx="1360509" cy="263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5" h="20012" fill="norm" stroke="1" extrusionOk="0">
                  <a:moveTo>
                    <a:pt x="12" y="791"/>
                  </a:moveTo>
                  <a:cubicBezTo>
                    <a:pt x="3241" y="407"/>
                    <a:pt x="7659" y="781"/>
                    <a:pt x="10557" y="791"/>
                  </a:cubicBezTo>
                  <a:cubicBezTo>
                    <a:pt x="13455" y="800"/>
                    <a:pt x="16772" y="-994"/>
                    <a:pt x="21533" y="791"/>
                  </a:cubicBezTo>
                  <a:cubicBezTo>
                    <a:pt x="21557" y="8082"/>
                    <a:pt x="21370" y="11661"/>
                    <a:pt x="21533" y="18637"/>
                  </a:cubicBezTo>
                  <a:cubicBezTo>
                    <a:pt x="16322" y="19573"/>
                    <a:pt x="13444" y="16668"/>
                    <a:pt x="10772" y="18637"/>
                  </a:cubicBezTo>
                  <a:cubicBezTo>
                    <a:pt x="8100" y="20606"/>
                    <a:pt x="3639" y="20327"/>
                    <a:pt x="12" y="18637"/>
                  </a:cubicBezTo>
                  <a:cubicBezTo>
                    <a:pt x="-43" y="13404"/>
                    <a:pt x="111" y="8672"/>
                    <a:pt x="12" y="791"/>
                  </a:cubicBezTo>
                  <a:close/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414" name="TextBox 45"/>
            <p:cNvSpPr txBox="1"/>
            <p:nvPr/>
          </p:nvSpPr>
          <p:spPr>
            <a:xfrm>
              <a:off x="2066489" y="571180"/>
              <a:ext cx="4533238" cy="11184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/>
            <a:p>
              <a:pPr marL="300037" indent="-300037">
                <a:buSzPct val="100000"/>
                <a:buAutoNum type="arabicPeriod" startAt="1"/>
                <a:defRPr sz="1400"/>
              </a:pPr>
              <a:r>
                <a:t>open_window(“Test Color", 800, 600);</a:t>
              </a:r>
            </a:p>
            <a:p>
              <a:pPr marL="300037" indent="-300037">
                <a:buSzPct val="100000"/>
                <a:buAutoNum type="arabicPeriod" startAt="1"/>
                <a:defRPr sz="1400">
                  <a:solidFill>
                    <a:srgbClr val="A6A6A6"/>
                  </a:solidFill>
                </a:defRPr>
              </a:pPr>
              <a:r>
                <a:t>clear_screen(COLOR_BLUE);</a:t>
              </a:r>
            </a:p>
            <a:p>
              <a:pPr marL="300037" indent="-300037">
                <a:buSzPct val="100000"/>
                <a:buAutoNum type="arabicPeriod" startAt="1"/>
                <a:defRPr sz="1400">
                  <a:solidFill>
                    <a:srgbClr val="A6A6A6"/>
                  </a:solidFill>
                </a:defRPr>
              </a:pPr>
              <a:r>
                <a:t>refresh_screen();</a:t>
              </a:r>
            </a:p>
            <a:p>
              <a:pPr marL="300037" indent="-300037">
                <a:buSzPct val="100000"/>
                <a:buAutoNum type="arabicPeriod" startAt="1"/>
                <a:defRPr sz="1400">
                  <a:solidFill>
                    <a:srgbClr val="A6A6A6"/>
                  </a:solidFill>
                </a:defRPr>
              </a:pPr>
              <a:r>
                <a:t>delay(5000);</a:t>
              </a:r>
            </a:p>
          </p:txBody>
        </p:sp>
        <p:sp>
          <p:nvSpPr>
            <p:cNvPr id="415" name="TextBox 46"/>
            <p:cNvSpPr txBox="1"/>
            <p:nvPr/>
          </p:nvSpPr>
          <p:spPr>
            <a:xfrm>
              <a:off x="3093495" y="3332980"/>
              <a:ext cx="1330381" cy="336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>
                <a:defRPr sz="1600"/>
              </a:lvl1pPr>
            </a:lstStyle>
            <a:p>
              <a:pPr/>
              <a:r>
                <a:t>./screen-test</a:t>
              </a:r>
            </a:p>
          </p:txBody>
        </p:sp>
        <p:sp>
          <p:nvSpPr>
            <p:cNvPr id="416" name="Straight Arrow Connector 55"/>
            <p:cNvSpPr/>
            <p:nvPr/>
          </p:nvSpPr>
          <p:spPr>
            <a:xfrm rot="16200000">
              <a:off x="428443" y="1538305"/>
              <a:ext cx="2456912" cy="8843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21462" y="21600"/>
                  </a:lnTo>
                </a:path>
              </a:pathLst>
            </a:custGeom>
            <a:noFill/>
            <a:ln w="12700" cap="flat">
              <a:solidFill>
                <a:srgbClr val="000000"/>
              </a:solidFill>
              <a:custDash>
                <a:ds d="300000" sp="400000"/>
              </a:custDash>
              <a:round/>
              <a:tailEnd type="triangle" w="med" len="med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17" name="TextBox 50"/>
            <p:cNvSpPr txBox="1"/>
            <p:nvPr/>
          </p:nvSpPr>
          <p:spPr>
            <a:xfrm>
              <a:off x="847706" y="3189722"/>
              <a:ext cx="739591" cy="336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600"/>
              </a:lvl1pPr>
            </a:lstStyle>
            <a:p>
              <a:pPr/>
              <a:r>
                <a:t>1d</a:t>
              </a:r>
            </a:p>
          </p:txBody>
        </p:sp>
        <p:sp>
          <p:nvSpPr>
            <p:cNvPr id="418" name="TextBox 52"/>
            <p:cNvSpPr txBox="1"/>
            <p:nvPr/>
          </p:nvSpPr>
          <p:spPr>
            <a:xfrm>
              <a:off x="3331081" y="355601"/>
              <a:ext cx="3003805" cy="336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>
                <a:defRPr sz="1600">
                  <a:solidFill>
                    <a:srgbClr val="A6A6A6"/>
                  </a:solidFill>
                </a:defRPr>
              </a:lvl1pPr>
            </a:lstStyle>
            <a:p>
              <a:pPr/>
              <a:r>
                <a:t>d            a          b     c</a:t>
              </a:r>
            </a:p>
          </p:txBody>
        </p:sp>
        <p:sp>
          <p:nvSpPr>
            <p:cNvPr id="419" name="TextBox 6"/>
            <p:cNvSpPr txBox="1"/>
            <p:nvPr/>
          </p:nvSpPr>
          <p:spPr>
            <a:xfrm>
              <a:off x="1615063" y="3612361"/>
              <a:ext cx="1276634" cy="2749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>
                <a:defRPr sz="1200"/>
              </a:lvl1pPr>
            </a:lstStyle>
            <a:p>
              <a:pPr/>
              <a:r>
                <a:t>"Test Color"</a:t>
              </a:r>
            </a:p>
          </p:txBody>
        </p:sp>
        <p:sp>
          <p:nvSpPr>
            <p:cNvPr id="420" name="TextBox 5"/>
            <p:cNvSpPr txBox="1"/>
            <p:nvPr/>
          </p:nvSpPr>
          <p:spPr>
            <a:xfrm>
              <a:off x="1622270" y="3926663"/>
              <a:ext cx="1276634" cy="2749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200"/>
              </a:lvl1pPr>
            </a:lstStyle>
            <a:p>
              <a:pPr/>
              <a:r>
                <a:t>800</a:t>
              </a:r>
            </a:p>
          </p:txBody>
        </p:sp>
        <p:sp>
          <p:nvSpPr>
            <p:cNvPr id="421" name="TextBox 7"/>
            <p:cNvSpPr txBox="1"/>
            <p:nvPr/>
          </p:nvSpPr>
          <p:spPr>
            <a:xfrm>
              <a:off x="1615063" y="4250886"/>
              <a:ext cx="1276634" cy="2749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200"/>
              </a:lvl1pPr>
            </a:lstStyle>
            <a:p>
              <a:pPr/>
              <a:r>
                <a:t>600</a:t>
              </a:r>
            </a:p>
          </p:txBody>
        </p:sp>
        <p:sp>
          <p:nvSpPr>
            <p:cNvPr id="422" name="TextBox 8"/>
            <p:cNvSpPr txBox="1"/>
            <p:nvPr/>
          </p:nvSpPr>
          <p:spPr>
            <a:xfrm>
              <a:off x="76847" y="1854167"/>
              <a:ext cx="1017737" cy="4986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/>
            <a:p>
              <a:pPr algn="ctr">
                <a:defRPr sz="1200"/>
              </a:pPr>
              <a:r>
                <a:t>Old Program</a:t>
              </a:r>
            </a:p>
            <a:p>
              <a:pPr algn="ctr">
                <a:defRPr sz="1200"/>
              </a:pPr>
              <a:r>
                <a:t>Counter</a:t>
              </a:r>
            </a:p>
          </p:txBody>
        </p:sp>
        <p:grpSp>
          <p:nvGrpSpPr>
            <p:cNvPr id="425" name="Rectangle 24"/>
            <p:cNvGrpSpPr/>
            <p:nvPr/>
          </p:nvGrpSpPr>
          <p:grpSpPr>
            <a:xfrm>
              <a:off x="163639" y="2394553"/>
              <a:ext cx="850379" cy="336375"/>
              <a:chOff x="0" y="-2888"/>
              <a:chExt cx="850377" cy="336373"/>
            </a:xfrm>
          </p:grpSpPr>
          <p:sp>
            <p:nvSpPr>
              <p:cNvPr id="423" name="Shape"/>
              <p:cNvSpPr/>
              <p:nvPr/>
            </p:nvSpPr>
            <p:spPr>
              <a:xfrm>
                <a:off x="0" y="5389"/>
                <a:ext cx="850378" cy="3184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38" h="20789" fill="norm" stroke="1" extrusionOk="0">
                    <a:moveTo>
                      <a:pt x="62" y="468"/>
                    </a:moveTo>
                    <a:cubicBezTo>
                      <a:pt x="4396" y="730"/>
                      <a:pt x="7646" y="1130"/>
                      <a:pt x="10536" y="468"/>
                    </a:cubicBezTo>
                    <a:cubicBezTo>
                      <a:pt x="13427" y="-194"/>
                      <a:pt x="18140" y="-118"/>
                      <a:pt x="21438" y="468"/>
                    </a:cubicBezTo>
                    <a:cubicBezTo>
                      <a:pt x="21167" y="4501"/>
                      <a:pt x="21162" y="14670"/>
                      <a:pt x="21438" y="20409"/>
                    </a:cubicBezTo>
                    <a:cubicBezTo>
                      <a:pt x="19153" y="20087"/>
                      <a:pt x="14888" y="21406"/>
                      <a:pt x="10750" y="20409"/>
                    </a:cubicBezTo>
                    <a:cubicBezTo>
                      <a:pt x="6612" y="19413"/>
                      <a:pt x="3395" y="21240"/>
                      <a:pt x="62" y="20409"/>
                    </a:cubicBezTo>
                    <a:cubicBezTo>
                      <a:pt x="309" y="11565"/>
                      <a:pt x="-162" y="4735"/>
                      <a:pt x="62" y="468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38641" tIns="38641" rIns="38641" bIns="38641" numCol="1" anchor="ctr">
                <a:noAutofit/>
              </a:bodyPr>
              <a:lstStyle/>
              <a:p>
                <a:pPr algn="ctr">
                  <a:defRPr sz="1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24" name="1d"/>
              <p:cNvSpPr txBox="1"/>
              <p:nvPr/>
            </p:nvSpPr>
            <p:spPr>
              <a:xfrm>
                <a:off x="60455" y="-2889"/>
                <a:ext cx="731940" cy="33637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641" tIns="38641" rIns="38641" bIns="38641" numCol="1" anchor="ctr">
                <a:noAutofit/>
              </a:bodyPr>
              <a:lstStyle>
                <a:lvl1pPr algn="ctr">
                  <a:defRPr sz="1600"/>
                </a:lvl1pPr>
              </a:lstStyle>
              <a:p>
                <a:pPr/>
                <a:r>
                  <a:t>1d</a:t>
                </a:r>
              </a:p>
            </p:txBody>
          </p:sp>
        </p:grpSp>
        <p:sp>
          <p:nvSpPr>
            <p:cNvPr id="426" name="TextBox 9"/>
            <p:cNvSpPr txBox="1"/>
            <p:nvPr/>
          </p:nvSpPr>
          <p:spPr>
            <a:xfrm>
              <a:off x="2062223" y="1699024"/>
              <a:ext cx="4704572" cy="1386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/>
            <a:p>
              <a:pPr marL="300037" indent="-300037">
                <a:buSzPct val="100000"/>
                <a:buAutoNum type="arabicPeriod" startAt="127"/>
                <a:defRPr sz="1400">
                  <a:solidFill>
                    <a:srgbClr val="A6A6A6"/>
                  </a:solidFill>
                </a:defRPr>
              </a:pPr>
              <a:r>
                <a:t> … Open Window First Instruction …</a:t>
              </a:r>
            </a:p>
            <a:p>
              <a:pPr marL="300037" indent="-300037">
                <a:buSzPct val="100000"/>
                <a:buAutoNum type="arabicPeriod" startAt="127"/>
                <a:defRPr sz="1400">
                  <a:solidFill>
                    <a:srgbClr val="A6A6A6"/>
                  </a:solidFill>
                </a:defRPr>
              </a:pPr>
              <a:r>
                <a:t> … Open Window Second Instruction …</a:t>
              </a:r>
            </a:p>
            <a:p>
              <a:pPr marL="300037" indent="-300037">
                <a:buSzPct val="100000"/>
                <a:buAutoNum type="arabicPeriod" startAt="127"/>
                <a:defRPr sz="1400">
                  <a:solidFill>
                    <a:srgbClr val="A6A6A6"/>
                  </a:solidFill>
                </a:defRPr>
              </a:pPr>
              <a:r>
                <a:t> …</a:t>
              </a:r>
            </a:p>
            <a:p>
              <a:pPr>
                <a:defRPr sz="1400">
                  <a:solidFill>
                    <a:srgbClr val="A6A6A6"/>
                  </a:solidFill>
                </a:defRPr>
              </a:pPr>
              <a:r>
                <a:t>…</a:t>
              </a:r>
            </a:p>
            <a:p>
              <a:pPr>
                <a:defRPr sz="1400">
                  <a:solidFill>
                    <a:srgbClr val="A6A6A6"/>
                  </a:solidFill>
                </a:defRPr>
              </a:pPr>
              <a:r>
                <a:t>197.   … Open Windows Returns</a:t>
              </a:r>
            </a:p>
          </p:txBody>
        </p:sp>
        <p:sp>
          <p:nvSpPr>
            <p:cNvPr id="438" name="Curved Connector 26"/>
            <p:cNvSpPr/>
            <p:nvPr/>
          </p:nvSpPr>
          <p:spPr>
            <a:xfrm>
              <a:off x="588828" y="2318229"/>
              <a:ext cx="2941772" cy="2445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</a:path>
              </a:pathLst>
            </a:custGeom>
            <a:noFill/>
            <a:ln w="25400" cap="flat">
              <a:solidFill>
                <a:srgbClr val="C55A11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/>
            <a:lstStyle/>
            <a:p>
              <a:pPr/>
            </a:p>
          </p:txBody>
        </p:sp>
        <p:sp>
          <p:nvSpPr>
            <p:cNvPr id="439" name="Curved Connector 3"/>
            <p:cNvSpPr/>
            <p:nvPr/>
          </p:nvSpPr>
          <p:spPr>
            <a:xfrm>
              <a:off x="588143" y="2697571"/>
              <a:ext cx="530692" cy="5244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5400" cap="flat">
              <a:solidFill>
                <a:srgbClr val="C55A11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/>
            <a:lstStyle/>
            <a:p>
              <a:pPr/>
            </a:p>
          </p:txBody>
        </p:sp>
      </p:grpSp>
      <p:grpSp>
        <p:nvGrpSpPr>
          <p:cNvPr id="437" name="Group"/>
          <p:cNvGrpSpPr/>
          <p:nvPr/>
        </p:nvGrpSpPr>
        <p:grpSpPr>
          <a:xfrm>
            <a:off x="4814852" y="3391865"/>
            <a:ext cx="2271567" cy="1532409"/>
            <a:chOff x="0" y="0"/>
            <a:chExt cx="2271565" cy="1532407"/>
          </a:xfrm>
        </p:grpSpPr>
        <p:sp>
          <p:nvSpPr>
            <p:cNvPr id="430" name="Rectangle 34"/>
            <p:cNvSpPr/>
            <p:nvPr/>
          </p:nvSpPr>
          <p:spPr>
            <a:xfrm>
              <a:off x="21354" y="38563"/>
              <a:ext cx="2245106" cy="253475"/>
            </a:xfrm>
            <a:prstGeom prst="rect">
              <a:avLst/>
            </a:prstGeom>
            <a:solidFill>
              <a:srgbClr val="FFE699"/>
            </a:solidFill>
            <a:ln w="3175" cap="flat">
              <a:solidFill>
                <a:srgbClr val="1D3053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435" name="Group 3"/>
            <p:cNvGrpSpPr/>
            <p:nvPr/>
          </p:nvGrpSpPr>
          <p:grpSpPr>
            <a:xfrm>
              <a:off x="-1" y="0"/>
              <a:ext cx="2271567" cy="1532408"/>
              <a:chOff x="0" y="0"/>
              <a:chExt cx="2271565" cy="1532407"/>
            </a:xfrm>
          </p:grpSpPr>
          <p:sp>
            <p:nvSpPr>
              <p:cNvPr id="431" name="Rectangle 28"/>
              <p:cNvSpPr/>
              <p:nvPr/>
            </p:nvSpPr>
            <p:spPr>
              <a:xfrm>
                <a:off x="-1" y="29680"/>
                <a:ext cx="2271567" cy="15027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30" h="21224" fill="norm" stroke="1" extrusionOk="0">
                    <a:moveTo>
                      <a:pt x="68" y="200"/>
                    </a:moveTo>
                    <a:cubicBezTo>
                      <a:pt x="1358" y="547"/>
                      <a:pt x="3121" y="260"/>
                      <a:pt x="5173" y="200"/>
                    </a:cubicBezTo>
                    <a:cubicBezTo>
                      <a:pt x="7226" y="140"/>
                      <a:pt x="8752" y="321"/>
                      <a:pt x="9853" y="200"/>
                    </a:cubicBezTo>
                    <a:cubicBezTo>
                      <a:pt x="10955" y="79"/>
                      <a:pt x="14130" y="598"/>
                      <a:pt x="15597" y="200"/>
                    </a:cubicBezTo>
                    <a:cubicBezTo>
                      <a:pt x="17064" y="-198"/>
                      <a:pt x="18621" y="105"/>
                      <a:pt x="21341" y="200"/>
                    </a:cubicBezTo>
                    <a:cubicBezTo>
                      <a:pt x="21341" y="1592"/>
                      <a:pt x="21287" y="5394"/>
                      <a:pt x="21341" y="6929"/>
                    </a:cubicBezTo>
                    <a:cubicBezTo>
                      <a:pt x="21395" y="8465"/>
                      <a:pt x="21282" y="11758"/>
                      <a:pt x="21341" y="13451"/>
                    </a:cubicBezTo>
                    <a:cubicBezTo>
                      <a:pt x="21399" y="15143"/>
                      <a:pt x="21507" y="17551"/>
                      <a:pt x="21341" y="21013"/>
                    </a:cubicBezTo>
                    <a:cubicBezTo>
                      <a:pt x="19602" y="20924"/>
                      <a:pt x="18099" y="21224"/>
                      <a:pt x="16023" y="21013"/>
                    </a:cubicBezTo>
                    <a:cubicBezTo>
                      <a:pt x="13946" y="20801"/>
                      <a:pt x="12346" y="20886"/>
                      <a:pt x="11342" y="21013"/>
                    </a:cubicBezTo>
                    <a:cubicBezTo>
                      <a:pt x="10339" y="21140"/>
                      <a:pt x="8157" y="20623"/>
                      <a:pt x="6024" y="21013"/>
                    </a:cubicBezTo>
                    <a:cubicBezTo>
                      <a:pt x="3891" y="21402"/>
                      <a:pt x="2915" y="21162"/>
                      <a:pt x="68" y="21013"/>
                    </a:cubicBezTo>
                    <a:cubicBezTo>
                      <a:pt x="85" y="18728"/>
                      <a:pt x="-93" y="15779"/>
                      <a:pt x="68" y="14283"/>
                    </a:cubicBezTo>
                    <a:cubicBezTo>
                      <a:pt x="228" y="12787"/>
                      <a:pt x="-78" y="10782"/>
                      <a:pt x="68" y="7554"/>
                    </a:cubicBezTo>
                    <a:cubicBezTo>
                      <a:pt x="213" y="4326"/>
                      <a:pt x="225" y="3626"/>
                      <a:pt x="68" y="200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38641" tIns="38641" rIns="38641" bIns="38641" numCol="1" anchor="ctr">
                <a:noAutofit/>
              </a:bodyPr>
              <a:lstStyle/>
              <a:p>
                <a:pPr algn="ctr">
                  <a:defRPr sz="20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32" name="Straight Connector 29"/>
              <p:cNvSpPr/>
              <p:nvPr/>
            </p:nvSpPr>
            <p:spPr>
              <a:xfrm flipH="1" flipV="1">
                <a:off x="7177" y="297301"/>
                <a:ext cx="22549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38641" tIns="38641" rIns="38641" bIns="38641" numCol="1" anchor="t">
                <a:noAutofit/>
              </a:bodyPr>
              <a:lstStyle/>
              <a:p>
                <a:pPr>
                  <a:defRPr sz="1600"/>
                </a:pPr>
              </a:p>
            </p:txBody>
          </p:sp>
          <p:sp>
            <p:nvSpPr>
              <p:cNvPr id="433" name="TextBox 32"/>
              <p:cNvSpPr txBox="1"/>
              <p:nvPr/>
            </p:nvSpPr>
            <p:spPr>
              <a:xfrm>
                <a:off x="499400" y="0"/>
                <a:ext cx="937531" cy="28048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641" tIns="38641" rIns="38641" bIns="38641" numCol="1" anchor="t">
                <a:spAutoFit/>
              </a:bodyPr>
              <a:lstStyle>
                <a:lvl1pPr>
                  <a:defRPr sz="1600">
                    <a:latin typeface="Gaegu Regular"/>
                    <a:ea typeface="Gaegu Regular"/>
                    <a:cs typeface="Gaegu Regular"/>
                    <a:sym typeface="Gaegu Regular"/>
                  </a:defRPr>
                </a:lvl1pPr>
              </a:lstStyle>
              <a:p>
                <a:pPr/>
                <a:r>
                  <a:t>Test Color</a:t>
                </a:r>
              </a:p>
            </p:txBody>
          </p:sp>
          <p:pic>
            <p:nvPicPr>
              <p:cNvPr id="434" name="Picture 31" descr="Picture 31"/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79311" y="91672"/>
                <a:ext cx="360057" cy="12880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436" name="Rectangle 35"/>
            <p:cNvSpPr/>
            <p:nvPr/>
          </p:nvSpPr>
          <p:spPr>
            <a:xfrm>
              <a:off x="21354" y="302591"/>
              <a:ext cx="2240820" cy="1214870"/>
            </a:xfrm>
            <a:prstGeom prst="rect">
              <a:avLst/>
            </a:prstGeom>
            <a:solidFill>
              <a:srgbClr val="FFFFFF"/>
            </a:solidFill>
            <a:ln w="3175" cap="flat">
              <a:solidFill>
                <a:srgbClr val="1D3053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5" name="Group"/>
          <p:cNvGrpSpPr/>
          <p:nvPr/>
        </p:nvGrpSpPr>
        <p:grpSpPr>
          <a:xfrm>
            <a:off x="247650" y="196370"/>
            <a:ext cx="7061201" cy="4636460"/>
            <a:chOff x="0" y="0"/>
            <a:chExt cx="7061200" cy="4636458"/>
          </a:xfrm>
        </p:grpSpPr>
        <p:grpSp>
          <p:nvGrpSpPr>
            <p:cNvPr id="457" name="Group 11"/>
            <p:cNvGrpSpPr/>
            <p:nvPr/>
          </p:nvGrpSpPr>
          <p:grpSpPr>
            <a:xfrm>
              <a:off x="0" y="0"/>
              <a:ext cx="7061201" cy="4636459"/>
              <a:chOff x="0" y="0"/>
              <a:chExt cx="7061200" cy="4636459"/>
            </a:xfrm>
          </p:grpSpPr>
          <p:grpSp>
            <p:nvGrpSpPr>
              <p:cNvPr id="443" name="Group 36"/>
              <p:cNvGrpSpPr/>
              <p:nvPr/>
            </p:nvGrpSpPr>
            <p:grpSpPr>
              <a:xfrm>
                <a:off x="140075" y="3804832"/>
                <a:ext cx="550812" cy="781301"/>
                <a:chOff x="0" y="0"/>
                <a:chExt cx="550810" cy="781299"/>
              </a:xfrm>
            </p:grpSpPr>
            <p:pic>
              <p:nvPicPr>
                <p:cNvPr id="441" name="Picture 12" descr="Picture 12"/>
                <p:cNvPicPr>
                  <a:picLocks noChangeAspect="1"/>
                </p:cNvPicPr>
                <p:nvPr/>
              </p:nvPicPr>
              <p:blipFill>
                <a:blip r:embed="rId3">
                  <a:extLst/>
                </a:blip>
                <a:stretch>
                  <a:fillRect/>
                </a:stretch>
              </p:blipFill>
              <p:spPr>
                <a:xfrm>
                  <a:off x="0" y="0"/>
                  <a:ext cx="550811" cy="50597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442" name="TextBox 17"/>
                <p:cNvSpPr txBox="1"/>
                <p:nvPr/>
              </p:nvSpPr>
              <p:spPr>
                <a:xfrm>
                  <a:off x="33409" y="451916"/>
                  <a:ext cx="489144" cy="32938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641" tIns="38641" rIns="38641" bIns="38641" numCol="1" anchor="t">
                  <a:noAutofit/>
                </a:bodyPr>
                <a:lstStyle>
                  <a:lvl1pPr>
                    <a:defRPr sz="1600">
                      <a:latin typeface="Gaegu Regular"/>
                      <a:ea typeface="Gaegu Regular"/>
                      <a:cs typeface="Gaegu Regular"/>
                      <a:sym typeface="Gaegu Regular"/>
                    </a:defRPr>
                  </a:lvl1pPr>
                </a:lstStyle>
                <a:p>
                  <a:pPr/>
                  <a:r>
                    <a:t>CPU</a:t>
                  </a:r>
                </a:p>
              </p:txBody>
            </p:sp>
          </p:grpSp>
          <p:grpSp>
            <p:nvGrpSpPr>
              <p:cNvPr id="446" name="Group 51"/>
              <p:cNvGrpSpPr/>
              <p:nvPr/>
            </p:nvGrpSpPr>
            <p:grpSpPr>
              <a:xfrm>
                <a:off x="0" y="339014"/>
                <a:ext cx="7061201" cy="2623861"/>
                <a:chOff x="0" y="0"/>
                <a:chExt cx="7061200" cy="2623860"/>
              </a:xfrm>
            </p:grpSpPr>
            <p:sp>
              <p:nvSpPr>
                <p:cNvPr id="444" name="Straight Connector 4"/>
                <p:cNvSpPr/>
                <p:nvPr/>
              </p:nvSpPr>
              <p:spPr>
                <a:xfrm flipH="1">
                  <a:off x="1971910" y="34747"/>
                  <a:ext cx="1" cy="2583015"/>
                </a:xfrm>
                <a:prstGeom prst="line">
                  <a:avLst/>
                </a:prstGeom>
                <a:noFill/>
                <a:ln w="3175" cap="flat">
                  <a:solidFill>
                    <a:srgbClr val="808080"/>
                  </a:solidFill>
                  <a:prstDash val="dashDot"/>
                  <a:miter lim="800000"/>
                </a:ln>
                <a:effectLst/>
              </p:spPr>
              <p:txBody>
                <a:bodyPr wrap="square" lIns="38641" tIns="38641" rIns="38641" bIns="38641" numCol="1" anchor="t">
                  <a:noAutofit/>
                </a:bodyPr>
                <a:lstStyle/>
                <a:p>
                  <a:pPr>
                    <a:defRPr sz="1600"/>
                  </a:pPr>
                </a:p>
              </p:txBody>
            </p:sp>
            <p:sp>
              <p:nvSpPr>
                <p:cNvPr id="445" name="Rectangle 20"/>
                <p:cNvSpPr/>
                <p:nvPr/>
              </p:nvSpPr>
              <p:spPr>
                <a:xfrm>
                  <a:off x="0" y="0"/>
                  <a:ext cx="7061201" cy="262386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88" h="21487" fill="norm" stroke="1" extrusionOk="0">
                      <a:moveTo>
                        <a:pt x="53" y="31"/>
                      </a:moveTo>
                      <a:cubicBezTo>
                        <a:pt x="688" y="97"/>
                        <a:pt x="1302" y="95"/>
                        <a:pt x="1784" y="31"/>
                      </a:cubicBezTo>
                      <a:cubicBezTo>
                        <a:pt x="2266" y="-34"/>
                        <a:pt x="2447" y="33"/>
                        <a:pt x="3086" y="31"/>
                      </a:cubicBezTo>
                      <a:cubicBezTo>
                        <a:pt x="3726" y="29"/>
                        <a:pt x="4933" y="61"/>
                        <a:pt x="5458" y="31"/>
                      </a:cubicBezTo>
                      <a:cubicBezTo>
                        <a:pt x="5984" y="0"/>
                        <a:pt x="6833" y="45"/>
                        <a:pt x="7189" y="31"/>
                      </a:cubicBezTo>
                      <a:cubicBezTo>
                        <a:pt x="7544" y="16"/>
                        <a:pt x="8314" y="-30"/>
                        <a:pt x="8919" y="31"/>
                      </a:cubicBezTo>
                      <a:cubicBezTo>
                        <a:pt x="9524" y="92"/>
                        <a:pt x="10434" y="-58"/>
                        <a:pt x="11291" y="31"/>
                      </a:cubicBezTo>
                      <a:cubicBezTo>
                        <a:pt x="12149" y="119"/>
                        <a:pt x="12221" y="35"/>
                        <a:pt x="12808" y="31"/>
                      </a:cubicBezTo>
                      <a:cubicBezTo>
                        <a:pt x="13394" y="26"/>
                        <a:pt x="14112" y="71"/>
                        <a:pt x="15180" y="31"/>
                      </a:cubicBezTo>
                      <a:cubicBezTo>
                        <a:pt x="16248" y="-10"/>
                        <a:pt x="16841" y="20"/>
                        <a:pt x="17552" y="31"/>
                      </a:cubicBezTo>
                      <a:cubicBezTo>
                        <a:pt x="18263" y="41"/>
                        <a:pt x="19031" y="-24"/>
                        <a:pt x="19496" y="31"/>
                      </a:cubicBezTo>
                      <a:cubicBezTo>
                        <a:pt x="19962" y="85"/>
                        <a:pt x="20676" y="92"/>
                        <a:pt x="21440" y="31"/>
                      </a:cubicBezTo>
                      <a:cubicBezTo>
                        <a:pt x="21458" y="623"/>
                        <a:pt x="21354" y="1055"/>
                        <a:pt x="21440" y="1763"/>
                      </a:cubicBezTo>
                      <a:cubicBezTo>
                        <a:pt x="21527" y="2471"/>
                        <a:pt x="21434" y="2599"/>
                        <a:pt x="21440" y="3067"/>
                      </a:cubicBezTo>
                      <a:cubicBezTo>
                        <a:pt x="21447" y="3535"/>
                        <a:pt x="21411" y="4258"/>
                        <a:pt x="21440" y="5013"/>
                      </a:cubicBezTo>
                      <a:cubicBezTo>
                        <a:pt x="21470" y="5767"/>
                        <a:pt x="21385" y="6136"/>
                        <a:pt x="21440" y="6959"/>
                      </a:cubicBezTo>
                      <a:cubicBezTo>
                        <a:pt x="21496" y="7782"/>
                        <a:pt x="21469" y="8275"/>
                        <a:pt x="21440" y="8905"/>
                      </a:cubicBezTo>
                      <a:cubicBezTo>
                        <a:pt x="21412" y="9535"/>
                        <a:pt x="21397" y="10422"/>
                        <a:pt x="21440" y="11065"/>
                      </a:cubicBezTo>
                      <a:cubicBezTo>
                        <a:pt x="21484" y="11708"/>
                        <a:pt x="21503" y="12309"/>
                        <a:pt x="21440" y="13225"/>
                      </a:cubicBezTo>
                      <a:cubicBezTo>
                        <a:pt x="21378" y="14141"/>
                        <a:pt x="21334" y="14310"/>
                        <a:pt x="21440" y="15385"/>
                      </a:cubicBezTo>
                      <a:cubicBezTo>
                        <a:pt x="21547" y="16460"/>
                        <a:pt x="21441" y="16261"/>
                        <a:pt x="21440" y="16689"/>
                      </a:cubicBezTo>
                      <a:cubicBezTo>
                        <a:pt x="21440" y="17117"/>
                        <a:pt x="21399" y="17724"/>
                        <a:pt x="21440" y="18207"/>
                      </a:cubicBezTo>
                      <a:cubicBezTo>
                        <a:pt x="21482" y="18689"/>
                        <a:pt x="21521" y="19893"/>
                        <a:pt x="21440" y="21437"/>
                      </a:cubicBezTo>
                      <a:cubicBezTo>
                        <a:pt x="21059" y="21419"/>
                        <a:pt x="20529" y="21383"/>
                        <a:pt x="19710" y="21437"/>
                      </a:cubicBezTo>
                      <a:cubicBezTo>
                        <a:pt x="18891" y="21492"/>
                        <a:pt x="18254" y="21487"/>
                        <a:pt x="17766" y="21437"/>
                      </a:cubicBezTo>
                      <a:cubicBezTo>
                        <a:pt x="17277" y="21387"/>
                        <a:pt x="16821" y="21499"/>
                        <a:pt x="16463" y="21437"/>
                      </a:cubicBezTo>
                      <a:cubicBezTo>
                        <a:pt x="16105" y="21376"/>
                        <a:pt x="15599" y="21441"/>
                        <a:pt x="15160" y="21437"/>
                      </a:cubicBezTo>
                      <a:cubicBezTo>
                        <a:pt x="14722" y="21434"/>
                        <a:pt x="14040" y="21430"/>
                        <a:pt x="13216" y="21437"/>
                      </a:cubicBezTo>
                      <a:cubicBezTo>
                        <a:pt x="12392" y="21444"/>
                        <a:pt x="12035" y="21479"/>
                        <a:pt x="11700" y="21437"/>
                      </a:cubicBezTo>
                      <a:cubicBezTo>
                        <a:pt x="11364" y="21396"/>
                        <a:pt x="10480" y="21450"/>
                        <a:pt x="9541" y="21437"/>
                      </a:cubicBezTo>
                      <a:cubicBezTo>
                        <a:pt x="8602" y="21425"/>
                        <a:pt x="8447" y="21422"/>
                        <a:pt x="8025" y="21437"/>
                      </a:cubicBezTo>
                      <a:cubicBezTo>
                        <a:pt x="7602" y="21453"/>
                        <a:pt x="6619" y="21333"/>
                        <a:pt x="5867" y="21437"/>
                      </a:cubicBezTo>
                      <a:cubicBezTo>
                        <a:pt x="5115" y="21542"/>
                        <a:pt x="5089" y="21452"/>
                        <a:pt x="4564" y="21437"/>
                      </a:cubicBezTo>
                      <a:cubicBezTo>
                        <a:pt x="4039" y="21423"/>
                        <a:pt x="2859" y="21541"/>
                        <a:pt x="2406" y="21437"/>
                      </a:cubicBezTo>
                      <a:cubicBezTo>
                        <a:pt x="1953" y="21334"/>
                        <a:pt x="604" y="21432"/>
                        <a:pt x="53" y="21437"/>
                      </a:cubicBezTo>
                      <a:cubicBezTo>
                        <a:pt x="106" y="20923"/>
                        <a:pt x="112" y="20560"/>
                        <a:pt x="53" y="20134"/>
                      </a:cubicBezTo>
                      <a:cubicBezTo>
                        <a:pt x="-5" y="19707"/>
                        <a:pt x="-30" y="19043"/>
                        <a:pt x="53" y="18402"/>
                      </a:cubicBezTo>
                      <a:cubicBezTo>
                        <a:pt x="136" y="17760"/>
                        <a:pt x="157" y="16858"/>
                        <a:pt x="53" y="16027"/>
                      </a:cubicBezTo>
                      <a:cubicBezTo>
                        <a:pt x="-51" y="15196"/>
                        <a:pt x="121" y="15079"/>
                        <a:pt x="53" y="14509"/>
                      </a:cubicBezTo>
                      <a:cubicBezTo>
                        <a:pt x="-14" y="13940"/>
                        <a:pt x="25" y="13783"/>
                        <a:pt x="53" y="13206"/>
                      </a:cubicBezTo>
                      <a:cubicBezTo>
                        <a:pt x="81" y="12628"/>
                        <a:pt x="90" y="12222"/>
                        <a:pt x="53" y="11902"/>
                      </a:cubicBezTo>
                      <a:cubicBezTo>
                        <a:pt x="17" y="11581"/>
                        <a:pt x="47" y="10240"/>
                        <a:pt x="53" y="9742"/>
                      </a:cubicBezTo>
                      <a:cubicBezTo>
                        <a:pt x="60" y="9243"/>
                        <a:pt x="36" y="8963"/>
                        <a:pt x="53" y="8438"/>
                      </a:cubicBezTo>
                      <a:cubicBezTo>
                        <a:pt x="70" y="7912"/>
                        <a:pt x="-34" y="6906"/>
                        <a:pt x="53" y="6492"/>
                      </a:cubicBezTo>
                      <a:cubicBezTo>
                        <a:pt x="140" y="6077"/>
                        <a:pt x="46" y="5326"/>
                        <a:pt x="53" y="4974"/>
                      </a:cubicBezTo>
                      <a:cubicBezTo>
                        <a:pt x="61" y="4621"/>
                        <a:pt x="38" y="3703"/>
                        <a:pt x="53" y="3028"/>
                      </a:cubicBezTo>
                      <a:cubicBezTo>
                        <a:pt x="69" y="2352"/>
                        <a:pt x="-53" y="922"/>
                        <a:pt x="53" y="31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  <p:grpSp>
            <p:nvGrpSpPr>
              <p:cNvPr id="450" name="Group 43"/>
              <p:cNvGrpSpPr/>
              <p:nvPr/>
            </p:nvGrpSpPr>
            <p:grpSpPr>
              <a:xfrm>
                <a:off x="3082118" y="3047751"/>
                <a:ext cx="3975905" cy="1582614"/>
                <a:chOff x="0" y="0"/>
                <a:chExt cx="3975904" cy="1582613"/>
              </a:xfrm>
            </p:grpSpPr>
            <p:sp>
              <p:nvSpPr>
                <p:cNvPr id="447" name="Rectangle 2"/>
                <p:cNvSpPr/>
                <p:nvPr/>
              </p:nvSpPr>
              <p:spPr>
                <a:xfrm>
                  <a:off x="0" y="40080"/>
                  <a:ext cx="3973085" cy="154253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29" h="21324" fill="norm" stroke="1" extrusionOk="0">
                      <a:moveTo>
                        <a:pt x="52" y="128"/>
                      </a:moveTo>
                      <a:cubicBezTo>
                        <a:pt x="686" y="189"/>
                        <a:pt x="1311" y="-176"/>
                        <a:pt x="1981" y="128"/>
                      </a:cubicBezTo>
                      <a:cubicBezTo>
                        <a:pt x="2651" y="433"/>
                        <a:pt x="3152" y="353"/>
                        <a:pt x="3481" y="128"/>
                      </a:cubicBezTo>
                      <a:cubicBezTo>
                        <a:pt x="3809" y="-96"/>
                        <a:pt x="4799" y="423"/>
                        <a:pt x="6052" y="128"/>
                      </a:cubicBezTo>
                      <a:cubicBezTo>
                        <a:pt x="7305" y="-166"/>
                        <a:pt x="7346" y="239"/>
                        <a:pt x="7981" y="128"/>
                      </a:cubicBezTo>
                      <a:cubicBezTo>
                        <a:pt x="8615" y="18"/>
                        <a:pt x="9153" y="-11"/>
                        <a:pt x="9909" y="128"/>
                      </a:cubicBezTo>
                      <a:cubicBezTo>
                        <a:pt x="10665" y="268"/>
                        <a:pt x="11479" y="282"/>
                        <a:pt x="12480" y="128"/>
                      </a:cubicBezTo>
                      <a:cubicBezTo>
                        <a:pt x="13482" y="-25"/>
                        <a:pt x="13747" y="362"/>
                        <a:pt x="14195" y="128"/>
                      </a:cubicBezTo>
                      <a:cubicBezTo>
                        <a:pt x="14642" y="-105"/>
                        <a:pt x="16007" y="281"/>
                        <a:pt x="16766" y="128"/>
                      </a:cubicBezTo>
                      <a:cubicBezTo>
                        <a:pt x="17525" y="-24"/>
                        <a:pt x="18070" y="197"/>
                        <a:pt x="19337" y="128"/>
                      </a:cubicBezTo>
                      <a:cubicBezTo>
                        <a:pt x="20605" y="60"/>
                        <a:pt x="20463" y="-123"/>
                        <a:pt x="21480" y="128"/>
                      </a:cubicBezTo>
                      <a:cubicBezTo>
                        <a:pt x="21519" y="3504"/>
                        <a:pt x="21520" y="5518"/>
                        <a:pt x="21480" y="7574"/>
                      </a:cubicBezTo>
                      <a:cubicBezTo>
                        <a:pt x="21441" y="9630"/>
                        <a:pt x="21394" y="12321"/>
                        <a:pt x="21480" y="14809"/>
                      </a:cubicBezTo>
                      <a:cubicBezTo>
                        <a:pt x="21566" y="17297"/>
                        <a:pt x="21523" y="19895"/>
                        <a:pt x="21480" y="21201"/>
                      </a:cubicBezTo>
                      <a:cubicBezTo>
                        <a:pt x="20987" y="21326"/>
                        <a:pt x="20111" y="21320"/>
                        <a:pt x="19337" y="21201"/>
                      </a:cubicBezTo>
                      <a:cubicBezTo>
                        <a:pt x="18564" y="21081"/>
                        <a:pt x="18116" y="21123"/>
                        <a:pt x="17623" y="21201"/>
                      </a:cubicBezTo>
                      <a:cubicBezTo>
                        <a:pt x="17131" y="21278"/>
                        <a:pt x="15980" y="21008"/>
                        <a:pt x="15480" y="21201"/>
                      </a:cubicBezTo>
                      <a:cubicBezTo>
                        <a:pt x="14980" y="21393"/>
                        <a:pt x="13762" y="21002"/>
                        <a:pt x="12909" y="21201"/>
                      </a:cubicBezTo>
                      <a:cubicBezTo>
                        <a:pt x="12056" y="21399"/>
                        <a:pt x="11283" y="21014"/>
                        <a:pt x="10766" y="21201"/>
                      </a:cubicBezTo>
                      <a:cubicBezTo>
                        <a:pt x="10250" y="21387"/>
                        <a:pt x="9963" y="21074"/>
                        <a:pt x="9266" y="21201"/>
                      </a:cubicBezTo>
                      <a:cubicBezTo>
                        <a:pt x="8569" y="21327"/>
                        <a:pt x="8233" y="21144"/>
                        <a:pt x="7552" y="21201"/>
                      </a:cubicBezTo>
                      <a:cubicBezTo>
                        <a:pt x="6871" y="21258"/>
                        <a:pt x="5903" y="21109"/>
                        <a:pt x="4981" y="21201"/>
                      </a:cubicBezTo>
                      <a:cubicBezTo>
                        <a:pt x="4058" y="21292"/>
                        <a:pt x="3537" y="21424"/>
                        <a:pt x="2838" y="21201"/>
                      </a:cubicBezTo>
                      <a:cubicBezTo>
                        <a:pt x="2139" y="20978"/>
                        <a:pt x="890" y="21294"/>
                        <a:pt x="52" y="21201"/>
                      </a:cubicBezTo>
                      <a:cubicBezTo>
                        <a:pt x="-34" y="19084"/>
                        <a:pt x="2" y="16536"/>
                        <a:pt x="52" y="14177"/>
                      </a:cubicBezTo>
                      <a:cubicBezTo>
                        <a:pt x="102" y="11817"/>
                        <a:pt x="70" y="10520"/>
                        <a:pt x="52" y="7785"/>
                      </a:cubicBezTo>
                      <a:cubicBezTo>
                        <a:pt x="35" y="5049"/>
                        <a:pt x="120" y="2341"/>
                        <a:pt x="52" y="128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A6A6A6"/>
                      </a:solidFill>
                    </a:defRPr>
                  </a:pPr>
                </a:p>
              </p:txBody>
            </p:sp>
            <p:sp>
              <p:nvSpPr>
                <p:cNvPr id="448" name="Straight Connector 25"/>
                <p:cNvSpPr/>
                <p:nvPr/>
              </p:nvSpPr>
              <p:spPr>
                <a:xfrm flipH="1">
                  <a:off x="9574" y="299990"/>
                  <a:ext cx="3966331" cy="1434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t">
                  <a:noAutofit/>
                </a:bodyPr>
                <a:lstStyle/>
                <a:p>
                  <a:pPr>
                    <a:defRPr sz="1600"/>
                  </a:pPr>
                </a:p>
              </p:txBody>
            </p:sp>
            <p:sp>
              <p:nvSpPr>
                <p:cNvPr id="449" name="TextBox 30"/>
                <p:cNvSpPr txBox="1"/>
                <p:nvPr/>
              </p:nvSpPr>
              <p:spPr>
                <a:xfrm>
                  <a:off x="550042" y="0"/>
                  <a:ext cx="956853" cy="32938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641" tIns="38641" rIns="38641" bIns="38641" numCol="1" anchor="t">
                  <a:noAutofit/>
                </a:bodyPr>
                <a:lstStyle>
                  <a:lvl1pPr>
                    <a:defRPr sz="1600">
                      <a:latin typeface="Gaegu Regular"/>
                      <a:ea typeface="Gaegu Regular"/>
                      <a:cs typeface="Gaegu Regular"/>
                      <a:sym typeface="Gaegu Regular"/>
                    </a:defRPr>
                  </a:lvl1pPr>
                </a:lstStyle>
                <a:p>
                  <a:pPr/>
                  <a:r>
                    <a:t>Terminal</a:t>
                  </a:r>
                </a:p>
              </p:txBody>
            </p:sp>
          </p:grpSp>
          <p:grpSp>
            <p:nvGrpSpPr>
              <p:cNvPr id="453" name="Group 13"/>
              <p:cNvGrpSpPr/>
              <p:nvPr/>
            </p:nvGrpSpPr>
            <p:grpSpPr>
              <a:xfrm>
                <a:off x="76596" y="3115233"/>
                <a:ext cx="1568067" cy="498683"/>
                <a:chOff x="0" y="0"/>
                <a:chExt cx="1568066" cy="498682"/>
              </a:xfrm>
            </p:grpSpPr>
            <p:sp>
              <p:nvSpPr>
                <p:cNvPr id="451" name="TextBox 14"/>
                <p:cNvSpPr txBox="1"/>
                <p:nvPr/>
              </p:nvSpPr>
              <p:spPr>
                <a:xfrm>
                  <a:off x="0" y="0"/>
                  <a:ext cx="723677" cy="49868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8641" tIns="38641" rIns="38641" bIns="38641" numCol="1" anchor="t">
                  <a:noAutofit/>
                </a:bodyPr>
                <a:lstStyle/>
                <a:p>
                  <a:pPr>
                    <a:defRPr sz="1200"/>
                  </a:pPr>
                  <a:r>
                    <a:t>Program</a:t>
                  </a:r>
                </a:p>
                <a:p>
                  <a:pPr>
                    <a:defRPr sz="1200"/>
                  </a:pPr>
                  <a:r>
                    <a:t>Counter</a:t>
                  </a:r>
                </a:p>
              </p:txBody>
            </p:sp>
            <p:sp>
              <p:nvSpPr>
                <p:cNvPr id="452" name="Rectangle 16"/>
                <p:cNvSpPr/>
                <p:nvPr/>
              </p:nvSpPr>
              <p:spPr>
                <a:xfrm>
                  <a:off x="717688" y="102984"/>
                  <a:ext cx="850379" cy="31846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38" h="20789" fill="norm" stroke="1" extrusionOk="0">
                      <a:moveTo>
                        <a:pt x="62" y="468"/>
                      </a:moveTo>
                      <a:cubicBezTo>
                        <a:pt x="4396" y="730"/>
                        <a:pt x="7646" y="1130"/>
                        <a:pt x="10536" y="468"/>
                      </a:cubicBezTo>
                      <a:cubicBezTo>
                        <a:pt x="13427" y="-194"/>
                        <a:pt x="18140" y="-118"/>
                        <a:pt x="21438" y="468"/>
                      </a:cubicBezTo>
                      <a:cubicBezTo>
                        <a:pt x="21167" y="4501"/>
                        <a:pt x="21162" y="14670"/>
                        <a:pt x="21438" y="20409"/>
                      </a:cubicBezTo>
                      <a:cubicBezTo>
                        <a:pt x="19153" y="20087"/>
                        <a:pt x="14888" y="21406"/>
                        <a:pt x="10750" y="20409"/>
                      </a:cubicBezTo>
                      <a:cubicBezTo>
                        <a:pt x="6612" y="19413"/>
                        <a:pt x="3395" y="21240"/>
                        <a:pt x="62" y="20409"/>
                      </a:cubicBezTo>
                      <a:cubicBezTo>
                        <a:pt x="309" y="11565"/>
                        <a:pt x="-162" y="4735"/>
                        <a:pt x="62" y="468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38641" tIns="38641" rIns="38641" bIns="38641" numCol="1" anchor="ctr">
                  <a:noAutofit/>
                </a:bodyPr>
                <a:lstStyle/>
                <a:p>
                  <a:pPr algn="ctr">
                    <a:defRPr sz="1600"/>
                  </a:pPr>
                </a:p>
              </p:txBody>
            </p:sp>
          </p:grpSp>
          <p:sp>
            <p:nvSpPr>
              <p:cNvPr id="454" name="Rectangle 37"/>
              <p:cNvSpPr/>
              <p:nvPr/>
            </p:nvSpPr>
            <p:spPr>
              <a:xfrm>
                <a:off x="8457" y="3107818"/>
                <a:ext cx="3003015" cy="15286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61" h="21229" fill="norm" stroke="1" extrusionOk="0">
                    <a:moveTo>
                      <a:pt x="93" y="147"/>
                    </a:moveTo>
                    <a:cubicBezTo>
                      <a:pt x="1527" y="156"/>
                      <a:pt x="2742" y="-188"/>
                      <a:pt x="4144" y="147"/>
                    </a:cubicBezTo>
                    <a:cubicBezTo>
                      <a:pt x="5546" y="482"/>
                      <a:pt x="6786" y="220"/>
                      <a:pt x="7768" y="147"/>
                    </a:cubicBezTo>
                    <a:cubicBezTo>
                      <a:pt x="8751" y="75"/>
                      <a:pt x="11208" y="173"/>
                      <a:pt x="12459" y="147"/>
                    </a:cubicBezTo>
                    <a:cubicBezTo>
                      <a:pt x="13710" y="121"/>
                      <a:pt x="14966" y="-109"/>
                      <a:pt x="16510" y="147"/>
                    </a:cubicBezTo>
                    <a:cubicBezTo>
                      <a:pt x="18054" y="403"/>
                      <a:pt x="19766" y="-280"/>
                      <a:pt x="21414" y="147"/>
                    </a:cubicBezTo>
                    <a:cubicBezTo>
                      <a:pt x="21354" y="3318"/>
                      <a:pt x="21384" y="4316"/>
                      <a:pt x="21414" y="7523"/>
                    </a:cubicBezTo>
                    <a:cubicBezTo>
                      <a:pt x="21444" y="10729"/>
                      <a:pt x="21419" y="12620"/>
                      <a:pt x="21414" y="14481"/>
                    </a:cubicBezTo>
                    <a:cubicBezTo>
                      <a:pt x="21409" y="16341"/>
                      <a:pt x="21522" y="17780"/>
                      <a:pt x="21414" y="21021"/>
                    </a:cubicBezTo>
                    <a:cubicBezTo>
                      <a:pt x="20240" y="21193"/>
                      <a:pt x="18564" y="21099"/>
                      <a:pt x="17576" y="21021"/>
                    </a:cubicBezTo>
                    <a:cubicBezTo>
                      <a:pt x="16588" y="20944"/>
                      <a:pt x="14967" y="20968"/>
                      <a:pt x="13312" y="21021"/>
                    </a:cubicBezTo>
                    <a:cubicBezTo>
                      <a:pt x="11657" y="21075"/>
                      <a:pt x="10619" y="20797"/>
                      <a:pt x="9048" y="21021"/>
                    </a:cubicBezTo>
                    <a:cubicBezTo>
                      <a:pt x="7477" y="21246"/>
                      <a:pt x="6607" y="20723"/>
                      <a:pt x="4997" y="21021"/>
                    </a:cubicBezTo>
                    <a:cubicBezTo>
                      <a:pt x="3387" y="21320"/>
                      <a:pt x="2263" y="21277"/>
                      <a:pt x="93" y="21021"/>
                    </a:cubicBezTo>
                    <a:cubicBezTo>
                      <a:pt x="19" y="19440"/>
                      <a:pt x="-73" y="16863"/>
                      <a:pt x="93" y="13646"/>
                    </a:cubicBezTo>
                    <a:cubicBezTo>
                      <a:pt x="259" y="10429"/>
                      <a:pt x="264" y="7833"/>
                      <a:pt x="93" y="6270"/>
                    </a:cubicBezTo>
                    <a:cubicBezTo>
                      <a:pt x="-78" y="4708"/>
                      <a:pt x="221" y="3023"/>
                      <a:pt x="93" y="147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38641" tIns="38641" rIns="38641" bIns="38641" numCol="1" anchor="ctr">
                <a:noAutofit/>
              </a:bodyPr>
              <a:lstStyle/>
              <a:p>
                <a:pPr algn="ctr">
                  <a:defRPr sz="2000">
                    <a:solidFill>
                      <a:srgbClr val="FFFFFF"/>
                    </a:solidFill>
                  </a:defRPr>
                </a:pPr>
              </a:p>
            </p:txBody>
          </p:sp>
          <p:pic>
            <p:nvPicPr>
              <p:cNvPr id="455" name="Picture 62" descr="Picture 62"/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3186444" y="3160863"/>
                <a:ext cx="422831" cy="15126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456" name="TextBox 10"/>
              <p:cNvSpPr txBox="1"/>
              <p:nvPr/>
            </p:nvSpPr>
            <p:spPr>
              <a:xfrm>
                <a:off x="6098993" y="0"/>
                <a:ext cx="868322" cy="32938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641" tIns="38641" rIns="38641" bIns="38641" numCol="1" anchor="t">
                <a:noAutofit/>
              </a:bodyPr>
              <a:lstStyle>
                <a:lvl1pPr>
                  <a:defRPr sz="1600">
                    <a:latin typeface="Gaegu Regular"/>
                    <a:ea typeface="Gaegu Regular"/>
                    <a:cs typeface="Gaegu Regular"/>
                    <a:sym typeface="Gaegu Regular"/>
                  </a:defRPr>
                </a:lvl1pPr>
              </a:lstStyle>
              <a:p>
                <a:pPr/>
                <a:r>
                  <a:t>Memory</a:t>
                </a:r>
              </a:p>
            </p:txBody>
          </p:sp>
        </p:grpSp>
        <p:sp>
          <p:nvSpPr>
            <p:cNvPr id="458" name="Straight Connector 40"/>
            <p:cNvSpPr/>
            <p:nvPr/>
          </p:nvSpPr>
          <p:spPr>
            <a:xfrm flipV="1">
              <a:off x="3166026" y="3687737"/>
              <a:ext cx="1" cy="18943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t">
              <a:noAutofit/>
            </a:bodyPr>
            <a:lstStyle/>
            <a:p>
              <a:pPr>
                <a:defRPr sz="1600"/>
              </a:pPr>
            </a:p>
          </p:txBody>
        </p:sp>
        <p:grpSp>
          <p:nvGrpSpPr>
            <p:cNvPr id="461" name="Group 19"/>
            <p:cNvGrpSpPr/>
            <p:nvPr/>
          </p:nvGrpSpPr>
          <p:grpSpPr>
            <a:xfrm>
              <a:off x="714015" y="3616436"/>
              <a:ext cx="2224521" cy="274970"/>
              <a:chOff x="-6162" y="0"/>
              <a:chExt cx="2224520" cy="274969"/>
            </a:xfrm>
          </p:grpSpPr>
          <p:sp>
            <p:nvSpPr>
              <p:cNvPr id="459" name="TextBox 21"/>
              <p:cNvSpPr txBox="1"/>
              <p:nvPr/>
            </p:nvSpPr>
            <p:spPr>
              <a:xfrm>
                <a:off x="-6163" y="0"/>
                <a:ext cx="822688" cy="2749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641" tIns="38641" rIns="38641" bIns="38641" numCol="1" anchor="t">
                <a:noAutofit/>
              </a:bodyPr>
              <a:lstStyle>
                <a:lvl1pPr algn="ctr">
                  <a:defRPr sz="1200"/>
                </a:lvl1pPr>
              </a:lstStyle>
              <a:p>
                <a:pPr/>
                <a:r>
                  <a:t>Register 0</a:t>
                </a:r>
              </a:p>
            </p:txBody>
          </p:sp>
          <p:sp>
            <p:nvSpPr>
              <p:cNvPr id="460" name="Rectangle 22"/>
              <p:cNvSpPr/>
              <p:nvPr/>
            </p:nvSpPr>
            <p:spPr>
              <a:xfrm>
                <a:off x="855322" y="26429"/>
                <a:ext cx="1363037" cy="2467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99" h="20332" fill="norm" stroke="1" extrusionOk="0">
                    <a:moveTo>
                      <a:pt x="31" y="364"/>
                    </a:moveTo>
                    <a:cubicBezTo>
                      <a:pt x="2762" y="1659"/>
                      <a:pt x="4299" y="-408"/>
                      <a:pt x="6965" y="364"/>
                    </a:cubicBezTo>
                    <a:cubicBezTo>
                      <a:pt x="9630" y="1136"/>
                      <a:pt x="11326" y="-756"/>
                      <a:pt x="13470" y="364"/>
                    </a:cubicBezTo>
                    <a:cubicBezTo>
                      <a:pt x="15613" y="1484"/>
                      <a:pt x="19369" y="1304"/>
                      <a:pt x="21476" y="364"/>
                    </a:cubicBezTo>
                    <a:cubicBezTo>
                      <a:pt x="21549" y="8786"/>
                      <a:pt x="21420" y="12756"/>
                      <a:pt x="21476" y="19711"/>
                    </a:cubicBezTo>
                    <a:cubicBezTo>
                      <a:pt x="19782" y="20844"/>
                      <a:pt x="16772" y="20167"/>
                      <a:pt x="14757" y="19711"/>
                    </a:cubicBezTo>
                    <a:cubicBezTo>
                      <a:pt x="12742" y="19256"/>
                      <a:pt x="10818" y="20654"/>
                      <a:pt x="7179" y="19711"/>
                    </a:cubicBezTo>
                    <a:cubicBezTo>
                      <a:pt x="3541" y="18768"/>
                      <a:pt x="2819" y="20729"/>
                      <a:pt x="31" y="19711"/>
                    </a:cubicBezTo>
                    <a:cubicBezTo>
                      <a:pt x="-51" y="11606"/>
                      <a:pt x="57" y="5355"/>
                      <a:pt x="31" y="364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38641" tIns="38641" rIns="38641" bIns="38641" numCol="1" anchor="ctr">
                <a:noAutofit/>
              </a:bodyPr>
              <a:lstStyle/>
              <a:p>
                <a:pPr algn="ctr">
                  <a:defRPr sz="1600"/>
                </a:pPr>
              </a:p>
            </p:txBody>
          </p:sp>
        </p:grpSp>
        <p:sp>
          <p:nvSpPr>
            <p:cNvPr id="462" name="TextBox 33"/>
            <p:cNvSpPr txBox="1"/>
            <p:nvPr/>
          </p:nvSpPr>
          <p:spPr>
            <a:xfrm>
              <a:off x="722658" y="3924432"/>
              <a:ext cx="822688" cy="2749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200"/>
              </a:lvl1pPr>
            </a:lstStyle>
            <a:p>
              <a:pPr/>
              <a:r>
                <a:t>Register 1</a:t>
              </a:r>
            </a:p>
          </p:txBody>
        </p:sp>
        <p:sp>
          <p:nvSpPr>
            <p:cNvPr id="463" name="Rectangle 38"/>
            <p:cNvSpPr/>
            <p:nvPr/>
          </p:nvSpPr>
          <p:spPr>
            <a:xfrm>
              <a:off x="1576707" y="3953521"/>
              <a:ext cx="1360509" cy="263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5" h="20012" fill="norm" stroke="1" extrusionOk="0">
                  <a:moveTo>
                    <a:pt x="12" y="791"/>
                  </a:moveTo>
                  <a:cubicBezTo>
                    <a:pt x="3241" y="407"/>
                    <a:pt x="7659" y="781"/>
                    <a:pt x="10557" y="791"/>
                  </a:cubicBezTo>
                  <a:cubicBezTo>
                    <a:pt x="13455" y="800"/>
                    <a:pt x="16772" y="-994"/>
                    <a:pt x="21533" y="791"/>
                  </a:cubicBezTo>
                  <a:cubicBezTo>
                    <a:pt x="21557" y="8082"/>
                    <a:pt x="21370" y="11661"/>
                    <a:pt x="21533" y="18637"/>
                  </a:cubicBezTo>
                  <a:cubicBezTo>
                    <a:pt x="16322" y="19573"/>
                    <a:pt x="13444" y="16668"/>
                    <a:pt x="10772" y="18637"/>
                  </a:cubicBezTo>
                  <a:cubicBezTo>
                    <a:pt x="8100" y="20606"/>
                    <a:pt x="3639" y="20327"/>
                    <a:pt x="12" y="18637"/>
                  </a:cubicBezTo>
                  <a:cubicBezTo>
                    <a:pt x="-43" y="13404"/>
                    <a:pt x="111" y="8672"/>
                    <a:pt x="12" y="791"/>
                  </a:cubicBezTo>
                  <a:close/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464" name="TextBox 39"/>
            <p:cNvSpPr txBox="1"/>
            <p:nvPr/>
          </p:nvSpPr>
          <p:spPr>
            <a:xfrm>
              <a:off x="719332" y="4251600"/>
              <a:ext cx="822688" cy="2749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200"/>
              </a:lvl1pPr>
            </a:lstStyle>
            <a:p>
              <a:pPr/>
              <a:r>
                <a:t>Register 2</a:t>
              </a:r>
            </a:p>
          </p:txBody>
        </p:sp>
        <p:sp>
          <p:nvSpPr>
            <p:cNvPr id="465" name="Rectangle 42"/>
            <p:cNvSpPr/>
            <p:nvPr/>
          </p:nvSpPr>
          <p:spPr>
            <a:xfrm>
              <a:off x="1564737" y="4272046"/>
              <a:ext cx="1360509" cy="263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5" h="20012" fill="norm" stroke="1" extrusionOk="0">
                  <a:moveTo>
                    <a:pt x="12" y="791"/>
                  </a:moveTo>
                  <a:cubicBezTo>
                    <a:pt x="3241" y="407"/>
                    <a:pt x="7659" y="781"/>
                    <a:pt x="10557" y="791"/>
                  </a:cubicBezTo>
                  <a:cubicBezTo>
                    <a:pt x="13455" y="800"/>
                    <a:pt x="16772" y="-994"/>
                    <a:pt x="21533" y="791"/>
                  </a:cubicBezTo>
                  <a:cubicBezTo>
                    <a:pt x="21557" y="8082"/>
                    <a:pt x="21370" y="11661"/>
                    <a:pt x="21533" y="18637"/>
                  </a:cubicBezTo>
                  <a:cubicBezTo>
                    <a:pt x="16322" y="19573"/>
                    <a:pt x="13444" y="16668"/>
                    <a:pt x="10772" y="18637"/>
                  </a:cubicBezTo>
                  <a:cubicBezTo>
                    <a:pt x="8100" y="20606"/>
                    <a:pt x="3639" y="20327"/>
                    <a:pt x="12" y="18637"/>
                  </a:cubicBezTo>
                  <a:cubicBezTo>
                    <a:pt x="-43" y="13404"/>
                    <a:pt x="111" y="8672"/>
                    <a:pt x="12" y="791"/>
                  </a:cubicBezTo>
                  <a:close/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466" name="TextBox 45"/>
            <p:cNvSpPr txBox="1"/>
            <p:nvPr/>
          </p:nvSpPr>
          <p:spPr>
            <a:xfrm>
              <a:off x="2066489" y="571180"/>
              <a:ext cx="4533238" cy="11184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/>
            <a:p>
              <a:pPr marL="300037" indent="-300037">
                <a:buSzPct val="100000"/>
                <a:buAutoNum type="arabicPeriod" startAt="1"/>
                <a:defRPr sz="1400">
                  <a:solidFill>
                    <a:schemeClr val="accent3"/>
                  </a:solidFill>
                </a:defRPr>
              </a:pPr>
              <a:r>
                <a:t>open_window(“Test Color", 800, 600);</a:t>
              </a:r>
            </a:p>
            <a:p>
              <a:pPr marL="300037" indent="-300037">
                <a:buSzPct val="100000"/>
                <a:buAutoNum type="arabicPeriod" startAt="1"/>
                <a:defRPr sz="1400"/>
              </a:pPr>
              <a:r>
                <a:t>clear_screen(COLOR_BLUE);</a:t>
              </a:r>
            </a:p>
            <a:p>
              <a:pPr marL="300037" indent="-300037">
                <a:buSzPct val="100000"/>
                <a:buAutoNum type="arabicPeriod" startAt="1"/>
                <a:defRPr sz="1400">
                  <a:solidFill>
                    <a:schemeClr val="accent3"/>
                  </a:solidFill>
                </a:defRPr>
              </a:pPr>
              <a:r>
                <a:t>refresh_screen();</a:t>
              </a:r>
            </a:p>
            <a:p>
              <a:pPr marL="300037" indent="-300037">
                <a:buSzPct val="100000"/>
                <a:buAutoNum type="arabicPeriod" startAt="1"/>
                <a:defRPr sz="1400">
                  <a:solidFill>
                    <a:schemeClr val="accent3"/>
                  </a:solidFill>
                </a:defRPr>
              </a:pPr>
              <a:r>
                <a:t>delay(5000);</a:t>
              </a:r>
            </a:p>
          </p:txBody>
        </p:sp>
        <p:sp>
          <p:nvSpPr>
            <p:cNvPr id="467" name="TextBox 46"/>
            <p:cNvSpPr txBox="1"/>
            <p:nvPr/>
          </p:nvSpPr>
          <p:spPr>
            <a:xfrm>
              <a:off x="3093495" y="3332980"/>
              <a:ext cx="1330381" cy="336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>
                <a:defRPr sz="1600"/>
              </a:lvl1pPr>
            </a:lstStyle>
            <a:p>
              <a:pPr/>
              <a:r>
                <a:t>./screen-test</a:t>
              </a:r>
            </a:p>
          </p:txBody>
        </p:sp>
        <p:sp>
          <p:nvSpPr>
            <p:cNvPr id="468" name="Straight Arrow Connector 55"/>
            <p:cNvSpPr/>
            <p:nvPr/>
          </p:nvSpPr>
          <p:spPr>
            <a:xfrm rot="16200000">
              <a:off x="538777" y="1668344"/>
              <a:ext cx="2236244" cy="8843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21462" y="21600"/>
                  </a:lnTo>
                </a:path>
              </a:pathLst>
            </a:custGeom>
            <a:noFill/>
            <a:ln w="12700" cap="flat">
              <a:solidFill>
                <a:srgbClr val="000000"/>
              </a:solidFill>
              <a:custDash>
                <a:ds d="300000" sp="400000"/>
              </a:custDash>
              <a:round/>
              <a:tailEnd type="triangle" w="med" len="med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69" name="TextBox 50"/>
            <p:cNvSpPr txBox="1"/>
            <p:nvPr/>
          </p:nvSpPr>
          <p:spPr>
            <a:xfrm>
              <a:off x="847706" y="3189722"/>
              <a:ext cx="739591" cy="336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600"/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470" name="TextBox 52"/>
            <p:cNvSpPr txBox="1"/>
            <p:nvPr/>
          </p:nvSpPr>
          <p:spPr>
            <a:xfrm>
              <a:off x="3331081" y="355601"/>
              <a:ext cx="3003805" cy="336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>
                <a:defRPr sz="1600">
                  <a:solidFill>
                    <a:srgbClr val="A6A6A6"/>
                  </a:solidFill>
                </a:defRPr>
              </a:lvl1pPr>
            </a:lstStyle>
            <a:p>
              <a:pPr/>
              <a:r>
                <a:t>d            a          b     c</a:t>
              </a:r>
            </a:p>
          </p:txBody>
        </p:sp>
        <p:sp>
          <p:nvSpPr>
            <p:cNvPr id="471" name="TextBox 6"/>
            <p:cNvSpPr txBox="1"/>
            <p:nvPr/>
          </p:nvSpPr>
          <p:spPr>
            <a:xfrm>
              <a:off x="1615063" y="3612361"/>
              <a:ext cx="1276634" cy="2749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>
                <a:defRPr sz="1200"/>
              </a:lvl1pPr>
            </a:lstStyle>
            <a:p>
              <a:pPr/>
              <a:r>
                <a:t>"Test Color"</a:t>
              </a:r>
            </a:p>
          </p:txBody>
        </p:sp>
        <p:sp>
          <p:nvSpPr>
            <p:cNvPr id="472" name="TextBox 5"/>
            <p:cNvSpPr txBox="1"/>
            <p:nvPr/>
          </p:nvSpPr>
          <p:spPr>
            <a:xfrm>
              <a:off x="1622270" y="3926663"/>
              <a:ext cx="1276634" cy="2749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200"/>
              </a:lvl1pPr>
            </a:lstStyle>
            <a:p>
              <a:pPr/>
              <a:r>
                <a:t>800</a:t>
              </a:r>
            </a:p>
          </p:txBody>
        </p:sp>
        <p:sp>
          <p:nvSpPr>
            <p:cNvPr id="473" name="TextBox 7"/>
            <p:cNvSpPr txBox="1"/>
            <p:nvPr/>
          </p:nvSpPr>
          <p:spPr>
            <a:xfrm>
              <a:off x="1615063" y="4250886"/>
              <a:ext cx="1276634" cy="2749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>
              <a:lvl1pPr algn="ctr">
                <a:defRPr sz="1200"/>
              </a:lvl1pPr>
            </a:lstStyle>
            <a:p>
              <a:pPr/>
              <a:r>
                <a:t>600</a:t>
              </a:r>
            </a:p>
          </p:txBody>
        </p:sp>
        <p:sp>
          <p:nvSpPr>
            <p:cNvPr id="474" name="TextBox 9"/>
            <p:cNvSpPr txBox="1"/>
            <p:nvPr/>
          </p:nvSpPr>
          <p:spPr>
            <a:xfrm>
              <a:off x="2062223" y="1699024"/>
              <a:ext cx="4704572" cy="1386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641" tIns="38641" rIns="38641" bIns="38641" numCol="1" anchor="t">
              <a:noAutofit/>
            </a:bodyPr>
            <a:lstStyle/>
            <a:p>
              <a:pPr marL="300037" indent="-300037">
                <a:buSzPct val="100000"/>
                <a:buAutoNum type="arabicPeriod" startAt="127"/>
                <a:defRPr sz="1400">
                  <a:solidFill>
                    <a:srgbClr val="A6A6A6"/>
                  </a:solidFill>
                </a:defRPr>
              </a:pPr>
              <a:r>
                <a:t> … Open Window First Instruction …</a:t>
              </a:r>
            </a:p>
            <a:p>
              <a:pPr marL="300037" indent="-300037">
                <a:buSzPct val="100000"/>
                <a:buAutoNum type="arabicPeriod" startAt="127"/>
                <a:defRPr sz="1400">
                  <a:solidFill>
                    <a:srgbClr val="A6A6A6"/>
                  </a:solidFill>
                </a:defRPr>
              </a:pPr>
              <a:r>
                <a:t> … Open Window Second Instruction …</a:t>
              </a:r>
            </a:p>
            <a:p>
              <a:pPr marL="300037" indent="-300037">
                <a:buSzPct val="100000"/>
                <a:buAutoNum type="arabicPeriod" startAt="127"/>
                <a:defRPr sz="1400">
                  <a:solidFill>
                    <a:srgbClr val="A6A6A6"/>
                  </a:solidFill>
                </a:defRPr>
              </a:pPr>
              <a:r>
                <a:t> …</a:t>
              </a:r>
            </a:p>
            <a:p>
              <a:pPr>
                <a:defRPr sz="1400">
                  <a:solidFill>
                    <a:srgbClr val="A6A6A6"/>
                  </a:solidFill>
                </a:defRPr>
              </a:pPr>
              <a:r>
                <a:t>…</a:t>
              </a:r>
            </a:p>
            <a:p>
              <a:pPr>
                <a:defRPr sz="1400">
                  <a:solidFill>
                    <a:srgbClr val="A6A6A6"/>
                  </a:solidFill>
                </a:defRPr>
              </a:pPr>
              <a:r>
                <a:t>197.   … Open Windows Returns</a:t>
              </a:r>
            </a:p>
          </p:txBody>
        </p:sp>
      </p:grpSp>
      <p:grpSp>
        <p:nvGrpSpPr>
          <p:cNvPr id="483" name="Group"/>
          <p:cNvGrpSpPr/>
          <p:nvPr/>
        </p:nvGrpSpPr>
        <p:grpSpPr>
          <a:xfrm>
            <a:off x="4814852" y="3391865"/>
            <a:ext cx="2271567" cy="1532409"/>
            <a:chOff x="0" y="0"/>
            <a:chExt cx="2271565" cy="1532407"/>
          </a:xfrm>
        </p:grpSpPr>
        <p:sp>
          <p:nvSpPr>
            <p:cNvPr id="476" name="Rectangle 34"/>
            <p:cNvSpPr/>
            <p:nvPr/>
          </p:nvSpPr>
          <p:spPr>
            <a:xfrm>
              <a:off x="21354" y="38563"/>
              <a:ext cx="2245106" cy="253475"/>
            </a:xfrm>
            <a:prstGeom prst="rect">
              <a:avLst/>
            </a:prstGeom>
            <a:solidFill>
              <a:srgbClr val="FFE699"/>
            </a:solidFill>
            <a:ln w="3175" cap="flat">
              <a:solidFill>
                <a:srgbClr val="1D3053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481" name="Group 3"/>
            <p:cNvGrpSpPr/>
            <p:nvPr/>
          </p:nvGrpSpPr>
          <p:grpSpPr>
            <a:xfrm>
              <a:off x="-1" y="0"/>
              <a:ext cx="2271567" cy="1532408"/>
              <a:chOff x="0" y="0"/>
              <a:chExt cx="2271565" cy="1532407"/>
            </a:xfrm>
          </p:grpSpPr>
          <p:sp>
            <p:nvSpPr>
              <p:cNvPr id="477" name="Rectangle 28"/>
              <p:cNvSpPr/>
              <p:nvPr/>
            </p:nvSpPr>
            <p:spPr>
              <a:xfrm>
                <a:off x="-1" y="29680"/>
                <a:ext cx="2271567" cy="15027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30" h="21224" fill="norm" stroke="1" extrusionOk="0">
                    <a:moveTo>
                      <a:pt x="68" y="200"/>
                    </a:moveTo>
                    <a:cubicBezTo>
                      <a:pt x="1358" y="547"/>
                      <a:pt x="3121" y="260"/>
                      <a:pt x="5173" y="200"/>
                    </a:cubicBezTo>
                    <a:cubicBezTo>
                      <a:pt x="7226" y="140"/>
                      <a:pt x="8752" y="321"/>
                      <a:pt x="9853" y="200"/>
                    </a:cubicBezTo>
                    <a:cubicBezTo>
                      <a:pt x="10955" y="79"/>
                      <a:pt x="14130" y="598"/>
                      <a:pt x="15597" y="200"/>
                    </a:cubicBezTo>
                    <a:cubicBezTo>
                      <a:pt x="17064" y="-198"/>
                      <a:pt x="18621" y="105"/>
                      <a:pt x="21341" y="200"/>
                    </a:cubicBezTo>
                    <a:cubicBezTo>
                      <a:pt x="21341" y="1592"/>
                      <a:pt x="21287" y="5394"/>
                      <a:pt x="21341" y="6929"/>
                    </a:cubicBezTo>
                    <a:cubicBezTo>
                      <a:pt x="21395" y="8465"/>
                      <a:pt x="21282" y="11758"/>
                      <a:pt x="21341" y="13451"/>
                    </a:cubicBezTo>
                    <a:cubicBezTo>
                      <a:pt x="21399" y="15143"/>
                      <a:pt x="21507" y="17551"/>
                      <a:pt x="21341" y="21013"/>
                    </a:cubicBezTo>
                    <a:cubicBezTo>
                      <a:pt x="19602" y="20924"/>
                      <a:pt x="18099" y="21224"/>
                      <a:pt x="16023" y="21013"/>
                    </a:cubicBezTo>
                    <a:cubicBezTo>
                      <a:pt x="13946" y="20801"/>
                      <a:pt x="12346" y="20886"/>
                      <a:pt x="11342" y="21013"/>
                    </a:cubicBezTo>
                    <a:cubicBezTo>
                      <a:pt x="10339" y="21140"/>
                      <a:pt x="8157" y="20623"/>
                      <a:pt x="6024" y="21013"/>
                    </a:cubicBezTo>
                    <a:cubicBezTo>
                      <a:pt x="3891" y="21402"/>
                      <a:pt x="2915" y="21162"/>
                      <a:pt x="68" y="21013"/>
                    </a:cubicBezTo>
                    <a:cubicBezTo>
                      <a:pt x="85" y="18728"/>
                      <a:pt x="-93" y="15779"/>
                      <a:pt x="68" y="14283"/>
                    </a:cubicBezTo>
                    <a:cubicBezTo>
                      <a:pt x="228" y="12787"/>
                      <a:pt x="-78" y="10782"/>
                      <a:pt x="68" y="7554"/>
                    </a:cubicBezTo>
                    <a:cubicBezTo>
                      <a:pt x="213" y="4326"/>
                      <a:pt x="225" y="3626"/>
                      <a:pt x="68" y="200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38641" tIns="38641" rIns="38641" bIns="38641" numCol="1" anchor="ctr">
                <a:noAutofit/>
              </a:bodyPr>
              <a:lstStyle/>
              <a:p>
                <a:pPr algn="ctr">
                  <a:defRPr sz="20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78" name="Straight Connector 29"/>
              <p:cNvSpPr/>
              <p:nvPr/>
            </p:nvSpPr>
            <p:spPr>
              <a:xfrm flipH="1" flipV="1">
                <a:off x="7177" y="297301"/>
                <a:ext cx="22549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38641" tIns="38641" rIns="38641" bIns="38641" numCol="1" anchor="t">
                <a:noAutofit/>
              </a:bodyPr>
              <a:lstStyle/>
              <a:p>
                <a:pPr>
                  <a:defRPr sz="1600"/>
                </a:pPr>
              </a:p>
            </p:txBody>
          </p:sp>
          <p:sp>
            <p:nvSpPr>
              <p:cNvPr id="479" name="TextBox 32"/>
              <p:cNvSpPr txBox="1"/>
              <p:nvPr/>
            </p:nvSpPr>
            <p:spPr>
              <a:xfrm>
                <a:off x="499400" y="0"/>
                <a:ext cx="937531" cy="28048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641" tIns="38641" rIns="38641" bIns="38641" numCol="1" anchor="t">
                <a:spAutoFit/>
              </a:bodyPr>
              <a:lstStyle>
                <a:lvl1pPr>
                  <a:defRPr sz="1600">
                    <a:latin typeface="Gaegu Regular"/>
                    <a:ea typeface="Gaegu Regular"/>
                    <a:cs typeface="Gaegu Regular"/>
                    <a:sym typeface="Gaegu Regular"/>
                  </a:defRPr>
                </a:lvl1pPr>
              </a:lstStyle>
              <a:p>
                <a:pPr/>
                <a:r>
                  <a:t>Test Color</a:t>
                </a:r>
              </a:p>
            </p:txBody>
          </p:sp>
          <p:pic>
            <p:nvPicPr>
              <p:cNvPr id="480" name="Picture 31" descr="Picture 31"/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79311" y="91672"/>
                <a:ext cx="360057" cy="12880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482" name="Rectangle 35"/>
            <p:cNvSpPr/>
            <p:nvPr/>
          </p:nvSpPr>
          <p:spPr>
            <a:xfrm>
              <a:off x="21354" y="302591"/>
              <a:ext cx="2240820" cy="1214870"/>
            </a:xfrm>
            <a:prstGeom prst="rect">
              <a:avLst/>
            </a:prstGeom>
            <a:solidFill>
              <a:srgbClr val="FFFFFF"/>
            </a:solidFill>
            <a:ln w="3175" cap="flat">
              <a:solidFill>
                <a:srgbClr val="1D3053"/>
              </a:solidFill>
              <a:prstDash val="solid"/>
              <a:miter lim="800000"/>
            </a:ln>
            <a:effectLst/>
          </p:spPr>
          <p:txBody>
            <a:bodyPr wrap="square" lIns="38641" tIns="38641" rIns="38641" bIns="38641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2013 - 2022 Theme">
  <a:themeElements>
    <a:clrScheme name="Office 2013 - 2022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2013 - 2022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2013 - 2022 Theme">
  <a:themeElements>
    <a:clrScheme name="Office 2013 - 2022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2013 - 2022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