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7556500" cy="5029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566976" y="824885"/>
            <a:ext cx="6425725" cy="1754777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944959" y="2647331"/>
            <a:ext cx="5669757" cy="121691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700"/>
            </a:lvl1pPr>
            <a:lvl2pPr marL="0" indent="336041" algn="ctr">
              <a:buSzTx/>
              <a:buFontTx/>
              <a:buNone/>
              <a:defRPr sz="1700"/>
            </a:lvl2pPr>
            <a:lvl3pPr marL="0" indent="672083" algn="ctr">
              <a:buSzTx/>
              <a:buFontTx/>
              <a:buNone/>
              <a:defRPr sz="1700"/>
            </a:lvl3pPr>
            <a:lvl4pPr marL="0" indent="1008125" algn="ctr">
              <a:buSzTx/>
              <a:buFontTx/>
              <a:buNone/>
              <a:defRPr sz="1700"/>
            </a:lvl4pPr>
            <a:lvl5pPr marL="0" indent="1344167" algn="ctr">
              <a:buSzTx/>
              <a:buFontTx/>
              <a:buNone/>
              <a:defRPr sz="1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515790" y="1256579"/>
            <a:ext cx="6520221" cy="2096630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515790" y="3373044"/>
            <a:ext cx="6520221" cy="110256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700"/>
            </a:lvl1pPr>
            <a:lvl2pPr marL="0" indent="336041">
              <a:buSzTx/>
              <a:buFontTx/>
              <a:buNone/>
              <a:defRPr sz="1700"/>
            </a:lvl2pPr>
            <a:lvl3pPr marL="0" indent="672083">
              <a:buSzTx/>
              <a:buFontTx/>
              <a:buNone/>
              <a:defRPr sz="1700"/>
            </a:lvl3pPr>
            <a:lvl4pPr marL="0" indent="1008125">
              <a:buSzTx/>
              <a:buFontTx/>
              <a:buNone/>
              <a:defRPr sz="1700"/>
            </a:lvl4pPr>
            <a:lvl5pPr marL="0" indent="1344167">
              <a:buSzTx/>
              <a:buFontTx/>
              <a:buNone/>
              <a:defRPr sz="1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519728" y="1341749"/>
            <a:ext cx="3212863" cy="319803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520712" y="268350"/>
            <a:ext cx="6520220" cy="97423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520712" y="1235577"/>
            <a:ext cx="3198098" cy="60553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1700"/>
            </a:lvl1pPr>
            <a:lvl2pPr marL="0" indent="336041">
              <a:buSzTx/>
              <a:buFontTx/>
              <a:buNone/>
              <a:defRPr b="1" sz="1700"/>
            </a:lvl2pPr>
            <a:lvl3pPr marL="0" indent="672083">
              <a:buSzTx/>
              <a:buFontTx/>
              <a:buNone/>
              <a:defRPr b="1" sz="1700"/>
            </a:lvl3pPr>
            <a:lvl4pPr marL="0" indent="1008125">
              <a:buSzTx/>
              <a:buFontTx/>
              <a:buNone/>
              <a:defRPr b="1" sz="1700"/>
            </a:lvl4pPr>
            <a:lvl5pPr marL="0" indent="1344167">
              <a:buSzTx/>
              <a:buFontTx/>
              <a:buNone/>
              <a:defRPr b="1" sz="1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3827086" y="1235576"/>
            <a:ext cx="3213848" cy="605539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17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520712" y="336021"/>
            <a:ext cx="2438193" cy="1176073"/>
          </a:xfrm>
          <a:prstGeom prst="rect">
            <a:avLst/>
          </a:prstGeom>
        </p:spPr>
        <p:txBody>
          <a:bodyPr anchor="b"/>
          <a:lstStyle>
            <a:lvl1pPr>
              <a:defRPr sz="23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213847" y="725713"/>
            <a:ext cx="3827086" cy="3581890"/>
          </a:xfrm>
          <a:prstGeom prst="rect">
            <a:avLst/>
          </a:prstGeom>
        </p:spPr>
        <p:txBody>
          <a:bodyPr/>
          <a:lstStyle>
            <a:lvl1pPr>
              <a:defRPr sz="2300"/>
            </a:lvl1pPr>
            <a:lvl2pPr marL="529266" indent="-193224">
              <a:defRPr sz="2300"/>
            </a:lvl2pPr>
            <a:lvl3pPr marL="899406" indent="-227322">
              <a:defRPr sz="2300"/>
            </a:lvl3pPr>
            <a:lvl4pPr marL="1284160" indent="-276034">
              <a:defRPr sz="2300"/>
            </a:lvl4pPr>
            <a:lvl5pPr marL="1620202" indent="-276034">
              <a:defRPr sz="2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520711" y="1512094"/>
            <a:ext cx="2438194" cy="280134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1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520712" y="336021"/>
            <a:ext cx="2438193" cy="1176073"/>
          </a:xfrm>
          <a:prstGeom prst="rect">
            <a:avLst/>
          </a:prstGeom>
        </p:spPr>
        <p:txBody>
          <a:bodyPr anchor="b"/>
          <a:lstStyle>
            <a:lvl1pPr>
              <a:defRPr sz="23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213847" y="725713"/>
            <a:ext cx="3827086" cy="358189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520712" y="1512094"/>
            <a:ext cx="2438193" cy="280134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100"/>
            </a:lvl1pPr>
            <a:lvl2pPr marL="0" indent="336041">
              <a:buSzTx/>
              <a:buFontTx/>
              <a:buNone/>
              <a:defRPr sz="1100"/>
            </a:lvl2pPr>
            <a:lvl3pPr marL="0" indent="672083">
              <a:buSzTx/>
              <a:buFontTx/>
              <a:buNone/>
              <a:defRPr sz="1100"/>
            </a:lvl3pPr>
            <a:lvl4pPr marL="0" indent="1008125">
              <a:buSzTx/>
              <a:buFontTx/>
              <a:buNone/>
              <a:defRPr sz="1100"/>
            </a:lvl4pPr>
            <a:lvl5pPr marL="0" indent="1344167">
              <a:buSzTx/>
              <a:buFontTx/>
              <a:buNone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519728" y="268350"/>
            <a:ext cx="6520220" cy="974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9728" y="1341749"/>
            <a:ext cx="6520220" cy="319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832817" y="4707791"/>
            <a:ext cx="207130" cy="19601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8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168020" marR="0" indent="-168020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533713" marR="0" indent="-197671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912113" marR="0" indent="-240029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266619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1602661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1938703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2274745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2610787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2946829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96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94" name="Picture 12" descr="Picture 12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5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99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97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03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100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101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106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104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105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107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108" name="Picture 62" descr="Picture 62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9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111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4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112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113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115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116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17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118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19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120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121" name="Straight Arrow Connector 55"/>
          <p:cNvSpPr/>
          <p:nvPr/>
        </p:nvSpPr>
        <p:spPr>
          <a:xfrm flipH="1" flipV="1" rot="5400000">
            <a:off x="659048" y="1763559"/>
            <a:ext cx="2459518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22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123" name="TextBox 3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6A6A6"/>
                </a:solidFill>
              </a:defRPr>
            </a:lvl1pPr>
          </a:lstStyle>
          <a:p>
            <a:pPr/>
            <a:r>
              <a:t>d            a                  b    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127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125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26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130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128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29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34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131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132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33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137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135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136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138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139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0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142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5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143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144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146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147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48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149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50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151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152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1a </a:t>
            </a:r>
          </a:p>
        </p:txBody>
      </p:sp>
      <p:sp>
        <p:nvSpPr>
          <p:cNvPr id="153" name="TextBox 52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A6A6A6"/>
                </a:solidFill>
              </a:defRPr>
            </a:pPr>
            <a:r>
              <a:t>d</a:t>
            </a:r>
            <a:r>
              <a:rPr>
                <a:solidFill>
                  <a:srgbClr val="C55A11"/>
                </a:solidFill>
              </a:rPr>
              <a:t>            a                  </a:t>
            </a:r>
            <a:r>
              <a:t>b     c</a:t>
            </a:r>
          </a:p>
        </p:txBody>
      </p:sp>
      <p:sp>
        <p:nvSpPr>
          <p:cNvPr id="154" name="Curved Connector 3"/>
          <p:cNvSpPr/>
          <p:nvPr/>
        </p:nvSpPr>
        <p:spPr>
          <a:xfrm rot="5400000">
            <a:off x="2406129" y="1871903"/>
            <a:ext cx="2907550" cy="1362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0800" y="0"/>
                  <a:pt x="21600" y="10800"/>
                  <a:pt x="21600" y="21600"/>
                </a:cubicBez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5" name="TextBox 6"/>
          <p:cNvSpPr txBox="1"/>
          <p:nvPr/>
        </p:nvSpPr>
        <p:spPr>
          <a:xfrm>
            <a:off x="1846655" y="3853062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156" name="Straight Arrow Connector 18"/>
          <p:cNvSpPr/>
          <p:nvPr/>
        </p:nvSpPr>
        <p:spPr>
          <a:xfrm>
            <a:off x="1916271" y="3611803"/>
            <a:ext cx="34348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38100">
            <a:solidFill>
              <a:schemeClr val="accent2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7" name="TextBox 32"/>
          <p:cNvSpPr txBox="1"/>
          <p:nvPr/>
        </p:nvSpPr>
        <p:spPr>
          <a:xfrm>
            <a:off x="2203954" y="3418797"/>
            <a:ext cx="98616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1b</a:t>
            </a:r>
          </a:p>
        </p:txBody>
      </p:sp>
      <p:sp>
        <p:nvSpPr>
          <p:cNvPr id="158" name="Straight Arrow Connector 55"/>
          <p:cNvSpPr/>
          <p:nvPr/>
        </p:nvSpPr>
        <p:spPr>
          <a:xfrm flipH="1" flipV="1" rot="5400000">
            <a:off x="659048" y="1763559"/>
            <a:ext cx="2459518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162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160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61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165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163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4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69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166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167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8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172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170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171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173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174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5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177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0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178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179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181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182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83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184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85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186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187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1b </a:t>
            </a:r>
          </a:p>
        </p:txBody>
      </p:sp>
      <p:sp>
        <p:nvSpPr>
          <p:cNvPr id="188" name="TextBox 52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A6A6A6"/>
                </a:solidFill>
              </a:defRPr>
            </a:pPr>
            <a:r>
              <a:t>d            a                  </a:t>
            </a:r>
            <a:r>
              <a:rPr>
                <a:solidFill>
                  <a:srgbClr val="C55A11"/>
                </a:solidFill>
              </a:rPr>
              <a:t>b     </a:t>
            </a:r>
            <a:r>
              <a:rPr>
                <a:solidFill>
                  <a:schemeClr val="accent3"/>
                </a:solidFill>
              </a:rPr>
              <a:t>c</a:t>
            </a:r>
          </a:p>
        </p:txBody>
      </p:sp>
      <p:sp>
        <p:nvSpPr>
          <p:cNvPr id="189" name="Curved Connector 3"/>
          <p:cNvSpPr/>
          <p:nvPr/>
        </p:nvSpPr>
        <p:spPr>
          <a:xfrm rot="5400000">
            <a:off x="2731021" y="1554275"/>
            <a:ext cx="3224217" cy="23144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0800" y="0"/>
                  <a:pt x="21600" y="10800"/>
                  <a:pt x="21600" y="21600"/>
                </a:cubicBez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90" name="TextBox 6"/>
          <p:cNvSpPr txBox="1"/>
          <p:nvPr/>
        </p:nvSpPr>
        <p:spPr>
          <a:xfrm>
            <a:off x="1846655" y="3853062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191" name="Straight Arrow Connector 18"/>
          <p:cNvSpPr/>
          <p:nvPr/>
        </p:nvSpPr>
        <p:spPr>
          <a:xfrm>
            <a:off x="1916271" y="3611803"/>
            <a:ext cx="34348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38100">
            <a:solidFill>
              <a:schemeClr val="accent2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92" name="TextBox 27"/>
          <p:cNvSpPr txBox="1"/>
          <p:nvPr/>
        </p:nvSpPr>
        <p:spPr>
          <a:xfrm>
            <a:off x="2203954" y="3418797"/>
            <a:ext cx="98616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1c</a:t>
            </a:r>
          </a:p>
        </p:txBody>
      </p:sp>
      <p:sp>
        <p:nvSpPr>
          <p:cNvPr id="193" name="TextBox 5"/>
          <p:cNvSpPr txBox="1"/>
          <p:nvPr/>
        </p:nvSpPr>
        <p:spPr>
          <a:xfrm>
            <a:off x="1853917" y="4169733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800</a:t>
            </a:r>
          </a:p>
        </p:txBody>
      </p:sp>
      <p:sp>
        <p:nvSpPr>
          <p:cNvPr id="194" name="TextBox 7"/>
          <p:cNvSpPr txBox="1"/>
          <p:nvPr/>
        </p:nvSpPr>
        <p:spPr>
          <a:xfrm>
            <a:off x="1846655" y="4496399"/>
            <a:ext cx="1286255" cy="280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400"/>
            </a:pPr>
          </a:p>
        </p:txBody>
      </p:sp>
      <p:sp>
        <p:nvSpPr>
          <p:cNvPr id="195" name="Straight Arrow Connector 55"/>
          <p:cNvSpPr/>
          <p:nvPr/>
        </p:nvSpPr>
        <p:spPr>
          <a:xfrm flipH="1" flipV="1" rot="5400000">
            <a:off x="659048" y="1763559"/>
            <a:ext cx="2459518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199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2"/>
            </a:xfrm>
          </p:grpSpPr>
          <p:pic>
            <p:nvPicPr>
              <p:cNvPr id="197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98" name="TextBox 17"/>
              <p:cNvSpPr txBox="1"/>
              <p:nvPr/>
            </p:nvSpPr>
            <p:spPr>
              <a:xfrm>
                <a:off x="33660" y="455322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202" name="Group 51"/>
            <p:cNvGrpSpPr/>
            <p:nvPr/>
          </p:nvGrpSpPr>
          <p:grpSpPr>
            <a:xfrm>
              <a:off x="-1" y="341568"/>
              <a:ext cx="7114411" cy="2643634"/>
              <a:chOff x="0" y="0"/>
              <a:chExt cx="7114409" cy="2643632"/>
            </a:xfrm>
          </p:grpSpPr>
          <p:sp>
            <p:nvSpPr>
              <p:cNvPr id="200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1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206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203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204" name="Straight Connector 25"/>
              <p:cNvSpPr/>
              <p:nvPr/>
            </p:nvSpPr>
            <p:spPr>
              <a:xfrm flipH="1">
                <a:off x="9646" y="302250"/>
                <a:ext cx="3996219" cy="1445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5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209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207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208" name="Rectangle 16"/>
              <p:cNvSpPr/>
              <p:nvPr/>
            </p:nvSpPr>
            <p:spPr>
              <a:xfrm>
                <a:off x="723096" y="103760"/>
                <a:ext cx="856786" cy="3208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210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11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1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2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214" name="Straight Connector 40"/>
          <p:cNvSpPr/>
          <p:nvPr/>
        </p:nvSpPr>
        <p:spPr>
          <a:xfrm flipV="1">
            <a:off x="3409306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17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215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216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218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219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20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221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22" name="TextBox 45"/>
          <p:cNvSpPr txBox="1"/>
          <p:nvPr/>
        </p:nvSpPr>
        <p:spPr>
          <a:xfrm>
            <a:off x="2301484" y="788965"/>
            <a:ext cx="4567397" cy="1062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223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224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1c </a:t>
            </a:r>
          </a:p>
        </p:txBody>
      </p:sp>
      <p:sp>
        <p:nvSpPr>
          <p:cNvPr id="225" name="TextBox 52"/>
          <p:cNvSpPr txBox="1"/>
          <p:nvPr/>
        </p:nvSpPr>
        <p:spPr>
          <a:xfrm>
            <a:off x="3575605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A6A6A6"/>
                </a:solidFill>
              </a:defRPr>
            </a:pPr>
            <a:r>
              <a:t>d            a                  </a:t>
            </a:r>
            <a:r>
              <a:rPr>
                <a:solidFill>
                  <a:schemeClr val="accent3"/>
                </a:solidFill>
              </a:rPr>
              <a:t>b</a:t>
            </a:r>
            <a:r>
              <a:rPr>
                <a:solidFill>
                  <a:srgbClr val="C55A11"/>
                </a:solidFill>
              </a:rPr>
              <a:t>     c</a:t>
            </a:r>
          </a:p>
        </p:txBody>
      </p:sp>
      <p:sp>
        <p:nvSpPr>
          <p:cNvPr id="226" name="TextBox 6"/>
          <p:cNvSpPr txBox="1"/>
          <p:nvPr/>
        </p:nvSpPr>
        <p:spPr>
          <a:xfrm>
            <a:off x="1846655" y="3853062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227" name="Straight Arrow Connector 18"/>
          <p:cNvSpPr/>
          <p:nvPr/>
        </p:nvSpPr>
        <p:spPr>
          <a:xfrm>
            <a:off x="1916271" y="3611803"/>
            <a:ext cx="34348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38100">
            <a:solidFill>
              <a:schemeClr val="accent2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8" name="TextBox 27"/>
          <p:cNvSpPr txBox="1"/>
          <p:nvPr/>
        </p:nvSpPr>
        <p:spPr>
          <a:xfrm>
            <a:off x="2203955" y="3418797"/>
            <a:ext cx="98616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1d</a:t>
            </a:r>
          </a:p>
        </p:txBody>
      </p:sp>
      <p:sp>
        <p:nvSpPr>
          <p:cNvPr id="229" name="TextBox 5"/>
          <p:cNvSpPr txBox="1"/>
          <p:nvPr/>
        </p:nvSpPr>
        <p:spPr>
          <a:xfrm>
            <a:off x="1853917" y="4169733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800</a:t>
            </a:r>
          </a:p>
        </p:txBody>
      </p:sp>
      <p:sp>
        <p:nvSpPr>
          <p:cNvPr id="230" name="TextBox 7"/>
          <p:cNvSpPr txBox="1"/>
          <p:nvPr/>
        </p:nvSpPr>
        <p:spPr>
          <a:xfrm>
            <a:off x="1846655" y="4496399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600</a:t>
            </a:r>
          </a:p>
        </p:txBody>
      </p:sp>
      <p:sp>
        <p:nvSpPr>
          <p:cNvPr id="231" name="Curved Connector 23"/>
          <p:cNvSpPr/>
          <p:nvPr/>
        </p:nvSpPr>
        <p:spPr>
          <a:xfrm rot="5400000">
            <a:off x="2757420" y="1520616"/>
            <a:ext cx="3550883" cy="2708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0800" y="0"/>
                  <a:pt x="21600" y="10800"/>
                  <a:pt x="21600" y="21600"/>
                </a:cubicBez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2" name="Straight Arrow Connector 55"/>
          <p:cNvSpPr/>
          <p:nvPr/>
        </p:nvSpPr>
        <p:spPr>
          <a:xfrm flipH="1" flipV="1" rot="5400000">
            <a:off x="659048" y="1763559"/>
            <a:ext cx="2459518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236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234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35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239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237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38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243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240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241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42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246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244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245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247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48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9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251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54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252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253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255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256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57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258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59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260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261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1d</a:t>
            </a:r>
          </a:p>
        </p:txBody>
      </p:sp>
      <p:sp>
        <p:nvSpPr>
          <p:cNvPr id="262" name="TextBox 52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C55A11"/>
                </a:solidFill>
              </a:defRPr>
            </a:pPr>
            <a:r>
              <a:t>d            </a:t>
            </a:r>
            <a:r>
              <a:rPr>
                <a:solidFill>
                  <a:srgbClr val="A6A6A6"/>
                </a:solidFill>
              </a:rPr>
              <a:t>a                  b     c</a:t>
            </a:r>
          </a:p>
        </p:txBody>
      </p:sp>
      <p:sp>
        <p:nvSpPr>
          <p:cNvPr id="272" name="Curved Connector 3"/>
          <p:cNvSpPr/>
          <p:nvPr/>
        </p:nvSpPr>
        <p:spPr>
          <a:xfrm>
            <a:off x="949766" y="2968284"/>
            <a:ext cx="364181" cy="4589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64" name="TextBox 6"/>
          <p:cNvSpPr txBox="1"/>
          <p:nvPr/>
        </p:nvSpPr>
        <p:spPr>
          <a:xfrm>
            <a:off x="1846655" y="3853062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265" name="TextBox 5"/>
          <p:cNvSpPr txBox="1"/>
          <p:nvPr/>
        </p:nvSpPr>
        <p:spPr>
          <a:xfrm>
            <a:off x="1853917" y="4169733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800</a:t>
            </a:r>
          </a:p>
        </p:txBody>
      </p:sp>
      <p:sp>
        <p:nvSpPr>
          <p:cNvPr id="266" name="TextBox 7"/>
          <p:cNvSpPr txBox="1"/>
          <p:nvPr/>
        </p:nvSpPr>
        <p:spPr>
          <a:xfrm>
            <a:off x="1846655" y="4496399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600</a:t>
            </a:r>
          </a:p>
        </p:txBody>
      </p:sp>
      <p:sp>
        <p:nvSpPr>
          <p:cNvPr id="267" name="TextBox 8"/>
          <p:cNvSpPr txBox="1"/>
          <p:nvPr/>
        </p:nvSpPr>
        <p:spPr>
          <a:xfrm>
            <a:off x="304430" y="2081620"/>
            <a:ext cx="1010243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/>
            </a:pPr>
            <a:r>
              <a:t>Old Program</a:t>
            </a:r>
          </a:p>
          <a:p>
            <a:pPr algn="ctr">
              <a:defRPr sz="1400"/>
            </a:pPr>
            <a:r>
              <a:t>Counter</a:t>
            </a:r>
          </a:p>
        </p:txBody>
      </p:sp>
      <p:grpSp>
        <p:nvGrpSpPr>
          <p:cNvPr id="270" name="Rectangle 24"/>
          <p:cNvGrpSpPr/>
          <p:nvPr/>
        </p:nvGrpSpPr>
        <p:grpSpPr>
          <a:xfrm>
            <a:off x="384295" y="2628988"/>
            <a:ext cx="856787" cy="333089"/>
            <a:chOff x="0" y="0"/>
            <a:chExt cx="856785" cy="333087"/>
          </a:xfrm>
        </p:grpSpPr>
        <p:sp>
          <p:nvSpPr>
            <p:cNvPr id="268" name="Shape"/>
            <p:cNvSpPr/>
            <p:nvPr/>
          </p:nvSpPr>
          <p:spPr>
            <a:xfrm>
              <a:off x="0" y="5429"/>
              <a:ext cx="856786" cy="320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8" h="20789" fill="norm" stroke="1" extrusionOk="0">
                  <a:moveTo>
                    <a:pt x="62" y="468"/>
                  </a:moveTo>
                  <a:cubicBezTo>
                    <a:pt x="4396" y="730"/>
                    <a:pt x="7646" y="1130"/>
                    <a:pt x="10536" y="468"/>
                  </a:cubicBezTo>
                  <a:cubicBezTo>
                    <a:pt x="13427" y="-194"/>
                    <a:pt x="18140" y="-118"/>
                    <a:pt x="21438" y="468"/>
                  </a:cubicBezTo>
                  <a:cubicBezTo>
                    <a:pt x="21167" y="4501"/>
                    <a:pt x="21162" y="14670"/>
                    <a:pt x="21438" y="20409"/>
                  </a:cubicBezTo>
                  <a:cubicBezTo>
                    <a:pt x="19153" y="20087"/>
                    <a:pt x="14888" y="21406"/>
                    <a:pt x="10750" y="20409"/>
                  </a:cubicBezTo>
                  <a:cubicBezTo>
                    <a:pt x="6612" y="19413"/>
                    <a:pt x="3395" y="21240"/>
                    <a:pt x="62" y="20409"/>
                  </a:cubicBezTo>
                  <a:cubicBezTo>
                    <a:pt x="309" y="11565"/>
                    <a:pt x="-162" y="4735"/>
                    <a:pt x="62" y="468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9" name="1d"/>
            <p:cNvSpPr txBox="1"/>
            <p:nvPr/>
          </p:nvSpPr>
          <p:spPr>
            <a:xfrm>
              <a:off x="60911" y="0"/>
              <a:ext cx="737455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1d</a:t>
              </a:r>
            </a:p>
          </p:txBody>
        </p:sp>
      </p:grpSp>
      <p:sp>
        <p:nvSpPr>
          <p:cNvPr id="271" name="Straight Arrow Connector 55"/>
          <p:cNvSpPr/>
          <p:nvPr/>
        </p:nvSpPr>
        <p:spPr>
          <a:xfrm flipH="1" flipV="1" rot="5400000">
            <a:off x="659048" y="1763559"/>
            <a:ext cx="2459518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31"/>
          <p:cNvSpPr txBox="1"/>
          <p:nvPr/>
        </p:nvSpPr>
        <p:spPr>
          <a:xfrm>
            <a:off x="2297185" y="1925308"/>
            <a:ext cx="4740023" cy="808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27"/>
              <a:defRPr sz="1600"/>
            </a:pPr>
            <a:r>
              <a:t> … Open Window First Instruction …</a:t>
            </a:r>
          </a:p>
          <a:p>
            <a:pPr marL="342900" indent="-342900">
              <a:buSzPct val="100000"/>
              <a:buAutoNum type="arabicPeriod" startAt="127"/>
              <a:defRPr sz="1600"/>
            </a:pPr>
            <a:r>
              <a:t> … Open Window Second Instruction …</a:t>
            </a:r>
          </a:p>
          <a:p>
            <a:pPr marL="342900" indent="-342900">
              <a:buSzPct val="100000"/>
              <a:buAutoNum type="arabicPeriod" startAt="127"/>
              <a:defRPr sz="1600"/>
            </a:pPr>
            <a:r>
              <a:t> …</a:t>
            </a:r>
          </a:p>
        </p:txBody>
      </p:sp>
      <p:grpSp>
        <p:nvGrpSpPr>
          <p:cNvPr id="291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277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275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76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280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278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79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284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281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282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83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287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285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286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288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89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0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292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95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293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294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296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297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98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299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300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</a:t>
            </a:r>
            <a:r>
              <a:rPr>
                <a:solidFill>
                  <a:schemeClr val="accent3">
                    <a:lumOff val="-12941"/>
                  </a:schemeClr>
                </a:solidFill>
              </a:rPr>
              <a:t>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301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302" name="Straight Arrow Connector 55"/>
          <p:cNvSpPr/>
          <p:nvPr/>
        </p:nvSpPr>
        <p:spPr>
          <a:xfrm flipH="1" flipV="1" rot="5400000">
            <a:off x="1233085" y="2308646"/>
            <a:ext cx="1311445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3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127</a:t>
            </a:r>
          </a:p>
        </p:txBody>
      </p:sp>
      <p:sp>
        <p:nvSpPr>
          <p:cNvPr id="304" name="TextBox 52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C00000"/>
                </a:solidFill>
              </a:defRPr>
            </a:pPr>
            <a:r>
              <a:t>d</a:t>
            </a:r>
            <a:r>
              <a:rPr>
                <a:solidFill>
                  <a:srgbClr val="A6A6A6"/>
                </a:solidFill>
              </a:rPr>
              <a:t>            a                  b     c</a:t>
            </a:r>
          </a:p>
        </p:txBody>
      </p:sp>
      <p:sp>
        <p:nvSpPr>
          <p:cNvPr id="305" name="TextBox 6"/>
          <p:cNvSpPr txBox="1"/>
          <p:nvPr/>
        </p:nvSpPr>
        <p:spPr>
          <a:xfrm>
            <a:off x="1846655" y="3853062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306" name="TextBox 5"/>
          <p:cNvSpPr txBox="1"/>
          <p:nvPr/>
        </p:nvSpPr>
        <p:spPr>
          <a:xfrm>
            <a:off x="1853917" y="4169733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800</a:t>
            </a:r>
          </a:p>
        </p:txBody>
      </p:sp>
      <p:sp>
        <p:nvSpPr>
          <p:cNvPr id="307" name="TextBox 7"/>
          <p:cNvSpPr txBox="1"/>
          <p:nvPr/>
        </p:nvSpPr>
        <p:spPr>
          <a:xfrm>
            <a:off x="1846655" y="4496399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600</a:t>
            </a:r>
          </a:p>
        </p:txBody>
      </p:sp>
      <p:sp>
        <p:nvSpPr>
          <p:cNvPr id="308" name="TextBox 8"/>
          <p:cNvSpPr txBox="1"/>
          <p:nvPr/>
        </p:nvSpPr>
        <p:spPr>
          <a:xfrm>
            <a:off x="304430" y="2081620"/>
            <a:ext cx="1010243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/>
            </a:pPr>
            <a:r>
              <a:t>Old Program</a:t>
            </a:r>
          </a:p>
          <a:p>
            <a:pPr algn="ctr">
              <a:defRPr sz="1400"/>
            </a:pPr>
            <a:r>
              <a:t>Counter</a:t>
            </a:r>
          </a:p>
        </p:txBody>
      </p:sp>
      <p:grpSp>
        <p:nvGrpSpPr>
          <p:cNvPr id="311" name="Rectangle 24"/>
          <p:cNvGrpSpPr/>
          <p:nvPr/>
        </p:nvGrpSpPr>
        <p:grpSpPr>
          <a:xfrm>
            <a:off x="384295" y="2628988"/>
            <a:ext cx="856787" cy="333089"/>
            <a:chOff x="0" y="0"/>
            <a:chExt cx="856785" cy="333087"/>
          </a:xfrm>
        </p:grpSpPr>
        <p:sp>
          <p:nvSpPr>
            <p:cNvPr id="309" name="Shape"/>
            <p:cNvSpPr/>
            <p:nvPr/>
          </p:nvSpPr>
          <p:spPr>
            <a:xfrm>
              <a:off x="0" y="5429"/>
              <a:ext cx="856786" cy="320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8" h="20789" fill="norm" stroke="1" extrusionOk="0">
                  <a:moveTo>
                    <a:pt x="62" y="468"/>
                  </a:moveTo>
                  <a:cubicBezTo>
                    <a:pt x="4396" y="730"/>
                    <a:pt x="7646" y="1130"/>
                    <a:pt x="10536" y="468"/>
                  </a:cubicBezTo>
                  <a:cubicBezTo>
                    <a:pt x="13427" y="-194"/>
                    <a:pt x="18140" y="-118"/>
                    <a:pt x="21438" y="468"/>
                  </a:cubicBezTo>
                  <a:cubicBezTo>
                    <a:pt x="21167" y="4501"/>
                    <a:pt x="21162" y="14670"/>
                    <a:pt x="21438" y="20409"/>
                  </a:cubicBezTo>
                  <a:cubicBezTo>
                    <a:pt x="19153" y="20087"/>
                    <a:pt x="14888" y="21406"/>
                    <a:pt x="10750" y="20409"/>
                  </a:cubicBezTo>
                  <a:cubicBezTo>
                    <a:pt x="6612" y="19413"/>
                    <a:pt x="3395" y="21240"/>
                    <a:pt x="62" y="20409"/>
                  </a:cubicBezTo>
                  <a:cubicBezTo>
                    <a:pt x="309" y="11565"/>
                    <a:pt x="-162" y="4735"/>
                    <a:pt x="62" y="468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0" name="1d"/>
            <p:cNvSpPr txBox="1"/>
            <p:nvPr/>
          </p:nvSpPr>
          <p:spPr>
            <a:xfrm>
              <a:off x="60911" y="0"/>
              <a:ext cx="737455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1d</a:t>
              </a:r>
            </a:p>
          </p:txBody>
        </p:sp>
      </p:grpSp>
      <p:grpSp>
        <p:nvGrpSpPr>
          <p:cNvPr id="316" name="Rectangle 26"/>
          <p:cNvGrpSpPr/>
          <p:nvPr/>
        </p:nvGrpSpPr>
        <p:grpSpPr>
          <a:xfrm>
            <a:off x="5124896" y="1741113"/>
            <a:ext cx="1905859" cy="248305"/>
            <a:chOff x="0" y="0"/>
            <a:chExt cx="1905857" cy="248304"/>
          </a:xfrm>
        </p:grpSpPr>
        <p:grpSp>
          <p:nvGrpSpPr>
            <p:cNvPr id="314" name="Group"/>
            <p:cNvGrpSpPr/>
            <p:nvPr/>
          </p:nvGrpSpPr>
          <p:grpSpPr>
            <a:xfrm>
              <a:off x="0" y="4211"/>
              <a:ext cx="1905858" cy="236886"/>
              <a:chOff x="0" y="0"/>
              <a:chExt cx="1905857" cy="236884"/>
            </a:xfrm>
          </p:grpSpPr>
          <p:sp>
            <p:nvSpPr>
              <p:cNvPr id="312" name="Shape"/>
              <p:cNvSpPr/>
              <p:nvPr/>
            </p:nvSpPr>
            <p:spPr>
              <a:xfrm>
                <a:off x="206" y="0"/>
                <a:ext cx="1905652" cy="236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1" h="20056" fill="norm" stroke="1" extrusionOk="0">
                    <a:moveTo>
                      <a:pt x="23" y="1053"/>
                    </a:moveTo>
                    <a:cubicBezTo>
                      <a:pt x="2197" y="1618"/>
                      <a:pt x="3883" y="129"/>
                      <a:pt x="6958" y="1053"/>
                    </a:cubicBezTo>
                    <a:cubicBezTo>
                      <a:pt x="10033" y="1976"/>
                      <a:pt x="10458" y="2329"/>
                      <a:pt x="13464" y="1053"/>
                    </a:cubicBezTo>
                    <a:cubicBezTo>
                      <a:pt x="16470" y="-224"/>
                      <a:pt x="19769" y="-473"/>
                      <a:pt x="21471" y="1053"/>
                    </a:cubicBezTo>
                    <a:cubicBezTo>
                      <a:pt x="21549" y="6738"/>
                      <a:pt x="21364" y="14286"/>
                      <a:pt x="21471" y="19257"/>
                    </a:cubicBezTo>
                    <a:cubicBezTo>
                      <a:pt x="18313" y="19559"/>
                      <a:pt x="17798" y="20894"/>
                      <a:pt x="14751" y="19257"/>
                    </a:cubicBezTo>
                    <a:cubicBezTo>
                      <a:pt x="11704" y="17620"/>
                      <a:pt x="10254" y="21127"/>
                      <a:pt x="7172" y="19257"/>
                    </a:cubicBezTo>
                    <a:cubicBezTo>
                      <a:pt x="4091" y="17387"/>
                      <a:pt x="3590" y="16797"/>
                      <a:pt x="23" y="19257"/>
                    </a:cubicBezTo>
                    <a:cubicBezTo>
                      <a:pt x="86" y="10749"/>
                      <a:pt x="-51" y="5539"/>
                      <a:pt x="23" y="1053"/>
                    </a:cubicBezTo>
                    <a:close/>
                  </a:path>
                </a:pathLst>
              </a:custGeom>
              <a:solidFill>
                <a:srgbClr val="FFD96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13" name="Shape"/>
              <p:cNvSpPr/>
              <p:nvPr/>
            </p:nvSpPr>
            <p:spPr>
              <a:xfrm>
                <a:off x="0" y="675"/>
                <a:ext cx="1904116" cy="232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6" h="19772" fill="norm" stroke="1" extrusionOk="0">
                    <a:moveTo>
                      <a:pt x="25" y="999"/>
                    </a:moveTo>
                    <a:cubicBezTo>
                      <a:pt x="3202" y="1392"/>
                      <a:pt x="5978" y="1575"/>
                      <a:pt x="7643" y="999"/>
                    </a:cubicBezTo>
                    <a:cubicBezTo>
                      <a:pt x="9308" y="424"/>
                      <a:pt x="13251" y="1567"/>
                      <a:pt x="15046" y="999"/>
                    </a:cubicBezTo>
                    <a:cubicBezTo>
                      <a:pt x="16840" y="432"/>
                      <a:pt x="19365" y="-934"/>
                      <a:pt x="21586" y="999"/>
                    </a:cubicBezTo>
                    <a:cubicBezTo>
                      <a:pt x="21526" y="7832"/>
                      <a:pt x="21568" y="10652"/>
                      <a:pt x="21586" y="19278"/>
                    </a:cubicBezTo>
                    <a:cubicBezTo>
                      <a:pt x="19622" y="20666"/>
                      <a:pt x="16762" y="18619"/>
                      <a:pt x="14830" y="19278"/>
                    </a:cubicBezTo>
                    <a:cubicBezTo>
                      <a:pt x="12898" y="19936"/>
                      <a:pt x="10810" y="18494"/>
                      <a:pt x="7643" y="19278"/>
                    </a:cubicBezTo>
                    <a:cubicBezTo>
                      <a:pt x="4476" y="20061"/>
                      <a:pt x="3602" y="17202"/>
                      <a:pt x="25" y="19278"/>
                    </a:cubicBezTo>
                    <a:cubicBezTo>
                      <a:pt x="-3" y="11481"/>
                      <a:pt x="-14" y="8095"/>
                      <a:pt x="25" y="99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315" name="Method instructions run"/>
            <p:cNvSpPr txBox="1"/>
            <p:nvPr/>
          </p:nvSpPr>
          <p:spPr>
            <a:xfrm>
              <a:off x="54278" y="0"/>
              <a:ext cx="1797768" cy="248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/>
              </a:lvl1pPr>
            </a:lstStyle>
            <a:p>
              <a:pPr/>
              <a:r>
                <a:t>Method instructions run</a:t>
              </a:r>
            </a:p>
          </p:txBody>
        </p:sp>
      </p:grpSp>
      <p:sp>
        <p:nvSpPr>
          <p:cNvPr id="317" name="Curved Connector 27"/>
          <p:cNvSpPr/>
          <p:nvPr/>
        </p:nvSpPr>
        <p:spPr>
          <a:xfrm flipH="1" rot="16200000">
            <a:off x="5731904" y="2312575"/>
            <a:ext cx="69231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400" y="0"/>
                  <a:pt x="10800" y="7200"/>
                  <a:pt x="10800" y="14400"/>
                </a:cubicBezTo>
                <a:cubicBezTo>
                  <a:pt x="10800" y="14400"/>
                  <a:pt x="16200" y="21600"/>
                  <a:pt x="21600" y="21600"/>
                </a:cubicBez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8" name="Curved Connector 32"/>
          <p:cNvSpPr/>
          <p:nvPr/>
        </p:nvSpPr>
        <p:spPr>
          <a:xfrm>
            <a:off x="3166568" y="1064916"/>
            <a:ext cx="1960537" cy="800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80" y="0"/>
                  <a:pt x="160" y="5400"/>
                  <a:pt x="160" y="10800"/>
                </a:cubicBezTo>
                <a:cubicBezTo>
                  <a:pt x="160" y="16200"/>
                  <a:pt x="10880" y="21600"/>
                  <a:pt x="21600" y="21600"/>
                </a:cubicBez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9" name="Straight Arrow Connector 18"/>
          <p:cNvSpPr/>
          <p:nvPr/>
        </p:nvSpPr>
        <p:spPr>
          <a:xfrm>
            <a:off x="1890145" y="3611803"/>
            <a:ext cx="34348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38100">
            <a:solidFill>
              <a:schemeClr val="accent2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0" name="TextBox 9"/>
          <p:cNvSpPr txBox="1"/>
          <p:nvPr/>
        </p:nvSpPr>
        <p:spPr>
          <a:xfrm>
            <a:off x="2169119" y="3418797"/>
            <a:ext cx="114400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128, 129 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324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322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23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327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325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6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331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328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329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0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334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332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333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335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336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7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339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42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340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341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343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344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345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346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347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348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349" name="Straight Arrow Connector 55"/>
          <p:cNvSpPr/>
          <p:nvPr/>
        </p:nvSpPr>
        <p:spPr>
          <a:xfrm flipH="1" flipV="1" rot="5400000">
            <a:off x="1716439" y="2816898"/>
            <a:ext cx="344736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0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197</a:t>
            </a:r>
          </a:p>
        </p:txBody>
      </p:sp>
      <p:sp>
        <p:nvSpPr>
          <p:cNvPr id="351" name="TextBox 52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C00000"/>
                </a:solidFill>
              </a:defRPr>
            </a:pPr>
            <a:r>
              <a:t>d</a:t>
            </a:r>
            <a:r>
              <a:rPr>
                <a:solidFill>
                  <a:srgbClr val="A6A6A6"/>
                </a:solidFill>
              </a:rPr>
              <a:t>            a                  b     c</a:t>
            </a:r>
          </a:p>
        </p:txBody>
      </p:sp>
      <p:sp>
        <p:nvSpPr>
          <p:cNvPr id="352" name="TextBox 6"/>
          <p:cNvSpPr txBox="1"/>
          <p:nvPr/>
        </p:nvSpPr>
        <p:spPr>
          <a:xfrm>
            <a:off x="1846655" y="3853062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353" name="TextBox 5"/>
          <p:cNvSpPr txBox="1"/>
          <p:nvPr/>
        </p:nvSpPr>
        <p:spPr>
          <a:xfrm>
            <a:off x="1853917" y="4169733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800</a:t>
            </a:r>
          </a:p>
        </p:txBody>
      </p:sp>
      <p:sp>
        <p:nvSpPr>
          <p:cNvPr id="354" name="TextBox 7"/>
          <p:cNvSpPr txBox="1"/>
          <p:nvPr/>
        </p:nvSpPr>
        <p:spPr>
          <a:xfrm>
            <a:off x="1846655" y="4496399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600</a:t>
            </a:r>
          </a:p>
        </p:txBody>
      </p:sp>
      <p:sp>
        <p:nvSpPr>
          <p:cNvPr id="355" name="TextBox 8"/>
          <p:cNvSpPr txBox="1"/>
          <p:nvPr/>
        </p:nvSpPr>
        <p:spPr>
          <a:xfrm>
            <a:off x="304430" y="2081620"/>
            <a:ext cx="1010243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/>
            </a:pPr>
            <a:r>
              <a:t>Old Program</a:t>
            </a:r>
          </a:p>
          <a:p>
            <a:pPr algn="ctr">
              <a:defRPr sz="1400"/>
            </a:pPr>
            <a:r>
              <a:t>Counter</a:t>
            </a:r>
          </a:p>
        </p:txBody>
      </p:sp>
      <p:grpSp>
        <p:nvGrpSpPr>
          <p:cNvPr id="358" name="Rectangle 24"/>
          <p:cNvGrpSpPr/>
          <p:nvPr/>
        </p:nvGrpSpPr>
        <p:grpSpPr>
          <a:xfrm>
            <a:off x="384295" y="2628988"/>
            <a:ext cx="856787" cy="333089"/>
            <a:chOff x="0" y="0"/>
            <a:chExt cx="856785" cy="333087"/>
          </a:xfrm>
        </p:grpSpPr>
        <p:sp>
          <p:nvSpPr>
            <p:cNvPr id="356" name="Shape"/>
            <p:cNvSpPr/>
            <p:nvPr/>
          </p:nvSpPr>
          <p:spPr>
            <a:xfrm>
              <a:off x="0" y="5429"/>
              <a:ext cx="856786" cy="320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8" h="20789" fill="norm" stroke="1" extrusionOk="0">
                  <a:moveTo>
                    <a:pt x="62" y="468"/>
                  </a:moveTo>
                  <a:cubicBezTo>
                    <a:pt x="4396" y="730"/>
                    <a:pt x="7646" y="1130"/>
                    <a:pt x="10536" y="468"/>
                  </a:cubicBezTo>
                  <a:cubicBezTo>
                    <a:pt x="13427" y="-194"/>
                    <a:pt x="18140" y="-118"/>
                    <a:pt x="21438" y="468"/>
                  </a:cubicBezTo>
                  <a:cubicBezTo>
                    <a:pt x="21167" y="4501"/>
                    <a:pt x="21162" y="14670"/>
                    <a:pt x="21438" y="20409"/>
                  </a:cubicBezTo>
                  <a:cubicBezTo>
                    <a:pt x="19153" y="20087"/>
                    <a:pt x="14888" y="21406"/>
                    <a:pt x="10750" y="20409"/>
                  </a:cubicBezTo>
                  <a:cubicBezTo>
                    <a:pt x="6612" y="19413"/>
                    <a:pt x="3395" y="21240"/>
                    <a:pt x="62" y="20409"/>
                  </a:cubicBezTo>
                  <a:cubicBezTo>
                    <a:pt x="309" y="11565"/>
                    <a:pt x="-162" y="4735"/>
                    <a:pt x="62" y="468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7" name="1d"/>
            <p:cNvSpPr txBox="1"/>
            <p:nvPr/>
          </p:nvSpPr>
          <p:spPr>
            <a:xfrm>
              <a:off x="60911" y="0"/>
              <a:ext cx="737455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1d</a:t>
              </a:r>
            </a:p>
          </p:txBody>
        </p:sp>
      </p:grpSp>
      <p:sp>
        <p:nvSpPr>
          <p:cNvPr id="359" name="TextBox 9"/>
          <p:cNvSpPr txBox="1"/>
          <p:nvPr/>
        </p:nvSpPr>
        <p:spPr>
          <a:xfrm>
            <a:off x="2297185" y="1925308"/>
            <a:ext cx="4740023" cy="13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 Open Window First Instruction …</a:t>
            </a:r>
          </a:p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 Open Window Second Instruction …</a:t>
            </a:r>
          </a:p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</a:t>
            </a:r>
          </a:p>
          <a:p>
            <a:pPr>
              <a:defRPr sz="1600">
                <a:solidFill>
                  <a:srgbClr val="A6A6A6"/>
                </a:solidFill>
              </a:defRPr>
            </a:pPr>
            <a:r>
              <a:t>…</a:t>
            </a:r>
          </a:p>
          <a:p>
            <a:pPr>
              <a:defRPr sz="1600"/>
            </a:pPr>
            <a:r>
              <a:t>197.   … Open Windows Returns</a:t>
            </a:r>
          </a:p>
        </p:txBody>
      </p:sp>
      <p:sp>
        <p:nvSpPr>
          <p:cNvPr id="360" name="Rectangle 34"/>
          <p:cNvSpPr/>
          <p:nvPr/>
        </p:nvSpPr>
        <p:spPr>
          <a:xfrm>
            <a:off x="4857013" y="3238165"/>
            <a:ext cx="2656395" cy="299910"/>
          </a:xfrm>
          <a:prstGeom prst="rect">
            <a:avLst/>
          </a:prstGeom>
          <a:solidFill>
            <a:srgbClr val="FFE699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65" name="Group 3"/>
          <p:cNvGrpSpPr/>
          <p:nvPr/>
        </p:nvGrpSpPr>
        <p:grpSpPr>
          <a:xfrm>
            <a:off x="4831747" y="3192538"/>
            <a:ext cx="2687702" cy="1813135"/>
            <a:chOff x="0" y="0"/>
            <a:chExt cx="2687701" cy="1813134"/>
          </a:xfrm>
        </p:grpSpPr>
        <p:sp>
          <p:nvSpPr>
            <p:cNvPr id="361" name="Rectangle 28"/>
            <p:cNvSpPr/>
            <p:nvPr/>
          </p:nvSpPr>
          <p:spPr>
            <a:xfrm>
              <a:off x="0" y="35117"/>
              <a:ext cx="2687702" cy="1778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0" h="21224" fill="norm" stroke="1" extrusionOk="0">
                  <a:moveTo>
                    <a:pt x="68" y="200"/>
                  </a:moveTo>
                  <a:cubicBezTo>
                    <a:pt x="1358" y="547"/>
                    <a:pt x="3121" y="260"/>
                    <a:pt x="5173" y="200"/>
                  </a:cubicBezTo>
                  <a:cubicBezTo>
                    <a:pt x="7226" y="140"/>
                    <a:pt x="8752" y="321"/>
                    <a:pt x="9853" y="200"/>
                  </a:cubicBezTo>
                  <a:cubicBezTo>
                    <a:pt x="10955" y="79"/>
                    <a:pt x="14130" y="598"/>
                    <a:pt x="15597" y="200"/>
                  </a:cubicBezTo>
                  <a:cubicBezTo>
                    <a:pt x="17064" y="-198"/>
                    <a:pt x="18621" y="105"/>
                    <a:pt x="21341" y="200"/>
                  </a:cubicBezTo>
                  <a:cubicBezTo>
                    <a:pt x="21341" y="1592"/>
                    <a:pt x="21287" y="5394"/>
                    <a:pt x="21341" y="6929"/>
                  </a:cubicBezTo>
                  <a:cubicBezTo>
                    <a:pt x="21395" y="8465"/>
                    <a:pt x="21282" y="11758"/>
                    <a:pt x="21341" y="13451"/>
                  </a:cubicBezTo>
                  <a:cubicBezTo>
                    <a:pt x="21399" y="15143"/>
                    <a:pt x="21507" y="17551"/>
                    <a:pt x="21341" y="21013"/>
                  </a:cubicBezTo>
                  <a:cubicBezTo>
                    <a:pt x="19602" y="20924"/>
                    <a:pt x="18099" y="21224"/>
                    <a:pt x="16023" y="21013"/>
                  </a:cubicBezTo>
                  <a:cubicBezTo>
                    <a:pt x="13946" y="20801"/>
                    <a:pt x="12346" y="20886"/>
                    <a:pt x="11342" y="21013"/>
                  </a:cubicBezTo>
                  <a:cubicBezTo>
                    <a:pt x="10339" y="21140"/>
                    <a:pt x="8157" y="20623"/>
                    <a:pt x="6024" y="21013"/>
                  </a:cubicBezTo>
                  <a:cubicBezTo>
                    <a:pt x="3891" y="21402"/>
                    <a:pt x="2915" y="21162"/>
                    <a:pt x="68" y="21013"/>
                  </a:cubicBezTo>
                  <a:cubicBezTo>
                    <a:pt x="85" y="18728"/>
                    <a:pt x="-93" y="15779"/>
                    <a:pt x="68" y="14283"/>
                  </a:cubicBezTo>
                  <a:cubicBezTo>
                    <a:pt x="228" y="12787"/>
                    <a:pt x="-78" y="10782"/>
                    <a:pt x="68" y="7554"/>
                  </a:cubicBezTo>
                  <a:cubicBezTo>
                    <a:pt x="213" y="4326"/>
                    <a:pt x="225" y="3626"/>
                    <a:pt x="68" y="200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62" name="Straight Connector 29"/>
            <p:cNvSpPr/>
            <p:nvPr/>
          </p:nvSpPr>
          <p:spPr>
            <a:xfrm flipH="1" flipV="1">
              <a:off x="8492" y="351764"/>
              <a:ext cx="266809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3" name="TextBox 32"/>
            <p:cNvSpPr txBox="1"/>
            <p:nvPr/>
          </p:nvSpPr>
          <p:spPr>
            <a:xfrm>
              <a:off x="590887" y="0"/>
              <a:ext cx="137195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Random Color</a:t>
              </a:r>
            </a:p>
          </p:txBody>
        </p:sp>
        <p:pic>
          <p:nvPicPr>
            <p:cNvPr id="364" name="Picture 31" descr="Picture 3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93840" y="108465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66" name="Rectangle 35"/>
          <p:cNvSpPr/>
          <p:nvPr/>
        </p:nvSpPr>
        <p:spPr>
          <a:xfrm>
            <a:off x="4857013" y="3550563"/>
            <a:ext cx="2651324" cy="1437425"/>
          </a:xfrm>
          <a:prstGeom prst="rect">
            <a:avLst/>
          </a:prstGeom>
          <a:solidFill>
            <a:srgbClr val="FFFFFF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Curved Connector 26"/>
          <p:cNvSpPr/>
          <p:nvPr/>
        </p:nvSpPr>
        <p:spPr>
          <a:xfrm rot="5400000">
            <a:off x="6084153" y="3043353"/>
            <a:ext cx="392356" cy="18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372" name="Rectangle 23"/>
          <p:cNvGrpSpPr/>
          <p:nvPr/>
        </p:nvGrpSpPr>
        <p:grpSpPr>
          <a:xfrm>
            <a:off x="5354642" y="2617693"/>
            <a:ext cx="1905859" cy="248305"/>
            <a:chOff x="0" y="0"/>
            <a:chExt cx="1905857" cy="248304"/>
          </a:xfrm>
        </p:grpSpPr>
        <p:grpSp>
          <p:nvGrpSpPr>
            <p:cNvPr id="370" name="Group"/>
            <p:cNvGrpSpPr/>
            <p:nvPr/>
          </p:nvGrpSpPr>
          <p:grpSpPr>
            <a:xfrm>
              <a:off x="0" y="4211"/>
              <a:ext cx="1905858" cy="236886"/>
              <a:chOff x="0" y="0"/>
              <a:chExt cx="1905857" cy="236884"/>
            </a:xfrm>
          </p:grpSpPr>
          <p:sp>
            <p:nvSpPr>
              <p:cNvPr id="368" name="Shape"/>
              <p:cNvSpPr/>
              <p:nvPr/>
            </p:nvSpPr>
            <p:spPr>
              <a:xfrm>
                <a:off x="206" y="0"/>
                <a:ext cx="1905652" cy="236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1" h="20056" fill="norm" stroke="1" extrusionOk="0">
                    <a:moveTo>
                      <a:pt x="23" y="1053"/>
                    </a:moveTo>
                    <a:cubicBezTo>
                      <a:pt x="2197" y="1618"/>
                      <a:pt x="3883" y="129"/>
                      <a:pt x="6958" y="1053"/>
                    </a:cubicBezTo>
                    <a:cubicBezTo>
                      <a:pt x="10033" y="1976"/>
                      <a:pt x="10458" y="2329"/>
                      <a:pt x="13464" y="1053"/>
                    </a:cubicBezTo>
                    <a:cubicBezTo>
                      <a:pt x="16470" y="-224"/>
                      <a:pt x="19769" y="-473"/>
                      <a:pt x="21471" y="1053"/>
                    </a:cubicBezTo>
                    <a:cubicBezTo>
                      <a:pt x="21549" y="6738"/>
                      <a:pt x="21364" y="14286"/>
                      <a:pt x="21471" y="19257"/>
                    </a:cubicBezTo>
                    <a:cubicBezTo>
                      <a:pt x="18313" y="19559"/>
                      <a:pt x="17798" y="20894"/>
                      <a:pt x="14751" y="19257"/>
                    </a:cubicBezTo>
                    <a:cubicBezTo>
                      <a:pt x="11704" y="17620"/>
                      <a:pt x="10254" y="21127"/>
                      <a:pt x="7172" y="19257"/>
                    </a:cubicBezTo>
                    <a:cubicBezTo>
                      <a:pt x="4091" y="17387"/>
                      <a:pt x="3590" y="16797"/>
                      <a:pt x="23" y="19257"/>
                    </a:cubicBezTo>
                    <a:cubicBezTo>
                      <a:pt x="86" y="10749"/>
                      <a:pt x="-51" y="5539"/>
                      <a:pt x="23" y="1053"/>
                    </a:cubicBezTo>
                    <a:close/>
                  </a:path>
                </a:pathLst>
              </a:custGeom>
              <a:solidFill>
                <a:srgbClr val="FFD96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69" name="Shape"/>
              <p:cNvSpPr/>
              <p:nvPr/>
            </p:nvSpPr>
            <p:spPr>
              <a:xfrm>
                <a:off x="0" y="675"/>
                <a:ext cx="1904116" cy="232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6" h="19772" fill="norm" stroke="1" extrusionOk="0">
                    <a:moveTo>
                      <a:pt x="25" y="999"/>
                    </a:moveTo>
                    <a:cubicBezTo>
                      <a:pt x="3202" y="1392"/>
                      <a:pt x="5978" y="1575"/>
                      <a:pt x="7643" y="999"/>
                    </a:cubicBezTo>
                    <a:cubicBezTo>
                      <a:pt x="9308" y="424"/>
                      <a:pt x="13251" y="1567"/>
                      <a:pt x="15046" y="999"/>
                    </a:cubicBezTo>
                    <a:cubicBezTo>
                      <a:pt x="16840" y="432"/>
                      <a:pt x="19365" y="-934"/>
                      <a:pt x="21586" y="999"/>
                    </a:cubicBezTo>
                    <a:cubicBezTo>
                      <a:pt x="21526" y="7832"/>
                      <a:pt x="21568" y="10652"/>
                      <a:pt x="21586" y="19278"/>
                    </a:cubicBezTo>
                    <a:cubicBezTo>
                      <a:pt x="19622" y="20666"/>
                      <a:pt x="16762" y="18619"/>
                      <a:pt x="14830" y="19278"/>
                    </a:cubicBezTo>
                    <a:cubicBezTo>
                      <a:pt x="12898" y="19936"/>
                      <a:pt x="10810" y="18494"/>
                      <a:pt x="7643" y="19278"/>
                    </a:cubicBezTo>
                    <a:cubicBezTo>
                      <a:pt x="4476" y="20061"/>
                      <a:pt x="3602" y="17202"/>
                      <a:pt x="25" y="19278"/>
                    </a:cubicBezTo>
                    <a:cubicBezTo>
                      <a:pt x="-3" y="11481"/>
                      <a:pt x="-14" y="8095"/>
                      <a:pt x="25" y="99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371" name="A new window has opened"/>
            <p:cNvSpPr txBox="1"/>
            <p:nvPr/>
          </p:nvSpPr>
          <p:spPr>
            <a:xfrm>
              <a:off x="54278" y="0"/>
              <a:ext cx="1797768" cy="248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/>
              </a:lvl1pPr>
            </a:lstStyle>
            <a:p>
              <a:pPr/>
              <a:r>
                <a:t>A new window has opened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376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374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75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379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377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8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383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380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381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2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386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384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385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387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388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9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391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94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392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393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395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396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397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398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399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/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rgbClr val="A6A6A6"/>
                </a:solidFill>
              </a:defRPr>
            </a:pPr>
            <a:r>
              <a:t>delay(1000 * rnd(10));</a:t>
            </a:r>
          </a:p>
        </p:txBody>
      </p:sp>
      <p:sp>
        <p:nvSpPr>
          <p:cNvPr id="400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401" name="Straight Arrow Connector 55"/>
          <p:cNvSpPr/>
          <p:nvPr/>
        </p:nvSpPr>
        <p:spPr>
          <a:xfrm flipH="1" flipV="1" rot="5400000">
            <a:off x="651094" y="1763377"/>
            <a:ext cx="2475426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2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1d</a:t>
            </a:r>
          </a:p>
        </p:txBody>
      </p:sp>
      <p:sp>
        <p:nvSpPr>
          <p:cNvPr id="403" name="TextBox 52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6A6A6"/>
                </a:solidFill>
              </a:defRPr>
            </a:lvl1pPr>
          </a:lstStyle>
          <a:p>
            <a:pPr/>
            <a:r>
              <a:t>d            a                  b     c</a:t>
            </a:r>
          </a:p>
        </p:txBody>
      </p:sp>
      <p:sp>
        <p:nvSpPr>
          <p:cNvPr id="404" name="TextBox 6"/>
          <p:cNvSpPr txBox="1"/>
          <p:nvPr/>
        </p:nvSpPr>
        <p:spPr>
          <a:xfrm>
            <a:off x="1846655" y="3853062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405" name="TextBox 5"/>
          <p:cNvSpPr txBox="1"/>
          <p:nvPr/>
        </p:nvSpPr>
        <p:spPr>
          <a:xfrm>
            <a:off x="1853917" y="4169733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800</a:t>
            </a:r>
          </a:p>
        </p:txBody>
      </p:sp>
      <p:sp>
        <p:nvSpPr>
          <p:cNvPr id="406" name="TextBox 7"/>
          <p:cNvSpPr txBox="1"/>
          <p:nvPr/>
        </p:nvSpPr>
        <p:spPr>
          <a:xfrm>
            <a:off x="1846655" y="4496399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600</a:t>
            </a:r>
          </a:p>
        </p:txBody>
      </p:sp>
      <p:sp>
        <p:nvSpPr>
          <p:cNvPr id="407" name="TextBox 8"/>
          <p:cNvSpPr txBox="1"/>
          <p:nvPr/>
        </p:nvSpPr>
        <p:spPr>
          <a:xfrm>
            <a:off x="304430" y="2081620"/>
            <a:ext cx="1010243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/>
            </a:pPr>
            <a:r>
              <a:t>Old Program</a:t>
            </a:r>
          </a:p>
          <a:p>
            <a:pPr algn="ctr">
              <a:defRPr sz="1400"/>
            </a:pPr>
            <a:r>
              <a:t>Counter</a:t>
            </a:r>
          </a:p>
        </p:txBody>
      </p:sp>
      <p:grpSp>
        <p:nvGrpSpPr>
          <p:cNvPr id="410" name="Rectangle 24"/>
          <p:cNvGrpSpPr/>
          <p:nvPr/>
        </p:nvGrpSpPr>
        <p:grpSpPr>
          <a:xfrm>
            <a:off x="384295" y="2628988"/>
            <a:ext cx="856787" cy="333089"/>
            <a:chOff x="0" y="0"/>
            <a:chExt cx="856785" cy="333087"/>
          </a:xfrm>
        </p:grpSpPr>
        <p:sp>
          <p:nvSpPr>
            <p:cNvPr id="408" name="Shape"/>
            <p:cNvSpPr/>
            <p:nvPr/>
          </p:nvSpPr>
          <p:spPr>
            <a:xfrm>
              <a:off x="0" y="5429"/>
              <a:ext cx="856786" cy="320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8" h="20789" fill="norm" stroke="1" extrusionOk="0">
                  <a:moveTo>
                    <a:pt x="62" y="468"/>
                  </a:moveTo>
                  <a:cubicBezTo>
                    <a:pt x="4396" y="730"/>
                    <a:pt x="7646" y="1130"/>
                    <a:pt x="10536" y="468"/>
                  </a:cubicBezTo>
                  <a:cubicBezTo>
                    <a:pt x="13427" y="-194"/>
                    <a:pt x="18140" y="-118"/>
                    <a:pt x="21438" y="468"/>
                  </a:cubicBezTo>
                  <a:cubicBezTo>
                    <a:pt x="21167" y="4501"/>
                    <a:pt x="21162" y="14670"/>
                    <a:pt x="21438" y="20409"/>
                  </a:cubicBezTo>
                  <a:cubicBezTo>
                    <a:pt x="19153" y="20087"/>
                    <a:pt x="14888" y="21406"/>
                    <a:pt x="10750" y="20409"/>
                  </a:cubicBezTo>
                  <a:cubicBezTo>
                    <a:pt x="6612" y="19413"/>
                    <a:pt x="3395" y="21240"/>
                    <a:pt x="62" y="20409"/>
                  </a:cubicBezTo>
                  <a:cubicBezTo>
                    <a:pt x="309" y="11565"/>
                    <a:pt x="-162" y="4735"/>
                    <a:pt x="62" y="468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9" name="1d"/>
            <p:cNvSpPr txBox="1"/>
            <p:nvPr/>
          </p:nvSpPr>
          <p:spPr>
            <a:xfrm>
              <a:off x="60911" y="0"/>
              <a:ext cx="737455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1d</a:t>
              </a:r>
            </a:p>
          </p:txBody>
        </p:sp>
      </p:grpSp>
      <p:sp>
        <p:nvSpPr>
          <p:cNvPr id="411" name="TextBox 9"/>
          <p:cNvSpPr txBox="1"/>
          <p:nvPr/>
        </p:nvSpPr>
        <p:spPr>
          <a:xfrm>
            <a:off x="2297185" y="1925308"/>
            <a:ext cx="4740023" cy="13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 Open Window First Instruction …</a:t>
            </a:r>
          </a:p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 Open Window Second Instruction …</a:t>
            </a:r>
          </a:p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</a:t>
            </a:r>
          </a:p>
          <a:p>
            <a:pPr>
              <a:defRPr sz="1600">
                <a:solidFill>
                  <a:srgbClr val="A6A6A6"/>
                </a:solidFill>
              </a:defRPr>
            </a:pPr>
            <a:r>
              <a:t>…</a:t>
            </a:r>
          </a:p>
          <a:p>
            <a:pPr>
              <a:defRPr sz="1600">
                <a:solidFill>
                  <a:srgbClr val="A6A6A6"/>
                </a:solidFill>
              </a:defRPr>
            </a:pPr>
            <a:r>
              <a:t>197.   … Open Windows Returns</a:t>
            </a:r>
          </a:p>
        </p:txBody>
      </p:sp>
      <p:sp>
        <p:nvSpPr>
          <p:cNvPr id="412" name="Rectangle 34"/>
          <p:cNvSpPr/>
          <p:nvPr/>
        </p:nvSpPr>
        <p:spPr>
          <a:xfrm>
            <a:off x="4857013" y="3238165"/>
            <a:ext cx="2656395" cy="299910"/>
          </a:xfrm>
          <a:prstGeom prst="rect">
            <a:avLst/>
          </a:prstGeom>
          <a:solidFill>
            <a:srgbClr val="FFE699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17" name="Group 3"/>
          <p:cNvGrpSpPr/>
          <p:nvPr/>
        </p:nvGrpSpPr>
        <p:grpSpPr>
          <a:xfrm>
            <a:off x="4831747" y="3192538"/>
            <a:ext cx="2687702" cy="1813135"/>
            <a:chOff x="0" y="0"/>
            <a:chExt cx="2687701" cy="1813134"/>
          </a:xfrm>
        </p:grpSpPr>
        <p:sp>
          <p:nvSpPr>
            <p:cNvPr id="413" name="Rectangle 28"/>
            <p:cNvSpPr/>
            <p:nvPr/>
          </p:nvSpPr>
          <p:spPr>
            <a:xfrm>
              <a:off x="0" y="35117"/>
              <a:ext cx="2687702" cy="1778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0" h="21224" fill="norm" stroke="1" extrusionOk="0">
                  <a:moveTo>
                    <a:pt x="68" y="200"/>
                  </a:moveTo>
                  <a:cubicBezTo>
                    <a:pt x="1358" y="547"/>
                    <a:pt x="3121" y="260"/>
                    <a:pt x="5173" y="200"/>
                  </a:cubicBezTo>
                  <a:cubicBezTo>
                    <a:pt x="7226" y="140"/>
                    <a:pt x="8752" y="321"/>
                    <a:pt x="9853" y="200"/>
                  </a:cubicBezTo>
                  <a:cubicBezTo>
                    <a:pt x="10955" y="79"/>
                    <a:pt x="14130" y="598"/>
                    <a:pt x="15597" y="200"/>
                  </a:cubicBezTo>
                  <a:cubicBezTo>
                    <a:pt x="17064" y="-198"/>
                    <a:pt x="18621" y="105"/>
                    <a:pt x="21341" y="200"/>
                  </a:cubicBezTo>
                  <a:cubicBezTo>
                    <a:pt x="21341" y="1592"/>
                    <a:pt x="21287" y="5394"/>
                    <a:pt x="21341" y="6929"/>
                  </a:cubicBezTo>
                  <a:cubicBezTo>
                    <a:pt x="21395" y="8465"/>
                    <a:pt x="21282" y="11758"/>
                    <a:pt x="21341" y="13451"/>
                  </a:cubicBezTo>
                  <a:cubicBezTo>
                    <a:pt x="21399" y="15143"/>
                    <a:pt x="21507" y="17551"/>
                    <a:pt x="21341" y="21013"/>
                  </a:cubicBezTo>
                  <a:cubicBezTo>
                    <a:pt x="19602" y="20924"/>
                    <a:pt x="18099" y="21224"/>
                    <a:pt x="16023" y="21013"/>
                  </a:cubicBezTo>
                  <a:cubicBezTo>
                    <a:pt x="13946" y="20801"/>
                    <a:pt x="12346" y="20886"/>
                    <a:pt x="11342" y="21013"/>
                  </a:cubicBezTo>
                  <a:cubicBezTo>
                    <a:pt x="10339" y="21140"/>
                    <a:pt x="8157" y="20623"/>
                    <a:pt x="6024" y="21013"/>
                  </a:cubicBezTo>
                  <a:cubicBezTo>
                    <a:pt x="3891" y="21402"/>
                    <a:pt x="2915" y="21162"/>
                    <a:pt x="68" y="21013"/>
                  </a:cubicBezTo>
                  <a:cubicBezTo>
                    <a:pt x="85" y="18728"/>
                    <a:pt x="-93" y="15779"/>
                    <a:pt x="68" y="14283"/>
                  </a:cubicBezTo>
                  <a:cubicBezTo>
                    <a:pt x="228" y="12787"/>
                    <a:pt x="-78" y="10782"/>
                    <a:pt x="68" y="7554"/>
                  </a:cubicBezTo>
                  <a:cubicBezTo>
                    <a:pt x="213" y="4326"/>
                    <a:pt x="225" y="3626"/>
                    <a:pt x="68" y="200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4" name="Straight Connector 29"/>
            <p:cNvSpPr/>
            <p:nvPr/>
          </p:nvSpPr>
          <p:spPr>
            <a:xfrm flipH="1" flipV="1">
              <a:off x="8492" y="351764"/>
              <a:ext cx="266809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5" name="TextBox 32"/>
            <p:cNvSpPr txBox="1"/>
            <p:nvPr/>
          </p:nvSpPr>
          <p:spPr>
            <a:xfrm>
              <a:off x="590887" y="0"/>
              <a:ext cx="137195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Random Color</a:t>
              </a:r>
            </a:p>
          </p:txBody>
        </p:sp>
        <p:pic>
          <p:nvPicPr>
            <p:cNvPr id="416" name="Picture 31" descr="Picture 3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93840" y="108465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18" name="Rectangle 35"/>
          <p:cNvSpPr/>
          <p:nvPr/>
        </p:nvSpPr>
        <p:spPr>
          <a:xfrm>
            <a:off x="4857013" y="3550563"/>
            <a:ext cx="2651324" cy="1437425"/>
          </a:xfrm>
          <a:prstGeom prst="rect">
            <a:avLst/>
          </a:prstGeom>
          <a:solidFill>
            <a:srgbClr val="FFFFFF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Curved Connector 26"/>
          <p:cNvSpPr/>
          <p:nvPr/>
        </p:nvSpPr>
        <p:spPr>
          <a:xfrm>
            <a:off x="812688" y="2549179"/>
            <a:ext cx="2963940" cy="2463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38100">
            <a:solidFill>
              <a:srgbClr val="C55A1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roup 11"/>
          <p:cNvGrpSpPr/>
          <p:nvPr/>
        </p:nvGrpSpPr>
        <p:grpSpPr>
          <a:xfrm>
            <a:off x="219422" y="213480"/>
            <a:ext cx="7114410" cy="4671398"/>
            <a:chOff x="0" y="0"/>
            <a:chExt cx="7114409" cy="4671396"/>
          </a:xfrm>
        </p:grpSpPr>
        <p:grpSp>
          <p:nvGrpSpPr>
            <p:cNvPr id="424" name="Group 36"/>
            <p:cNvGrpSpPr/>
            <p:nvPr/>
          </p:nvGrpSpPr>
          <p:grpSpPr>
            <a:xfrm>
              <a:off x="141131" y="3833503"/>
              <a:ext cx="554962" cy="781713"/>
              <a:chOff x="0" y="0"/>
              <a:chExt cx="554960" cy="781711"/>
            </a:xfrm>
          </p:grpSpPr>
          <p:pic>
            <p:nvPicPr>
              <p:cNvPr id="422" name="Picture 12" descr="Picture 12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554961" cy="5097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23" name="TextBox 17"/>
              <p:cNvSpPr txBox="1"/>
              <p:nvPr/>
            </p:nvSpPr>
            <p:spPr>
              <a:xfrm>
                <a:off x="33660" y="455321"/>
                <a:ext cx="471502" cy="3263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CPU</a:t>
                </a:r>
              </a:p>
            </p:txBody>
          </p:sp>
        </p:grpSp>
        <p:grpSp>
          <p:nvGrpSpPr>
            <p:cNvPr id="427" name="Group 51"/>
            <p:cNvGrpSpPr/>
            <p:nvPr/>
          </p:nvGrpSpPr>
          <p:grpSpPr>
            <a:xfrm>
              <a:off x="-1" y="341569"/>
              <a:ext cx="7114410" cy="2643633"/>
              <a:chOff x="0" y="0"/>
              <a:chExt cx="7114409" cy="2643632"/>
            </a:xfrm>
          </p:grpSpPr>
          <p:sp>
            <p:nvSpPr>
              <p:cNvPr id="425" name="Straight Connector 4"/>
              <p:cNvSpPr/>
              <p:nvPr/>
            </p:nvSpPr>
            <p:spPr>
              <a:xfrm flipH="1">
                <a:off x="1986769" y="35009"/>
                <a:ext cx="1" cy="2602479"/>
              </a:xfrm>
              <a:prstGeom prst="line">
                <a:avLst/>
              </a:prstGeom>
              <a:noFill/>
              <a:ln w="15875" cap="flat">
                <a:solidFill>
                  <a:srgbClr val="808080"/>
                </a:solidFill>
                <a:prstDash val="dashDot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6" name="Rectangle 20"/>
              <p:cNvSpPr/>
              <p:nvPr/>
            </p:nvSpPr>
            <p:spPr>
              <a:xfrm>
                <a:off x="0" y="0"/>
                <a:ext cx="7114409" cy="26436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8" h="21487" fill="norm" stroke="1" extrusionOk="0">
                    <a:moveTo>
                      <a:pt x="53" y="31"/>
                    </a:moveTo>
                    <a:cubicBezTo>
                      <a:pt x="688" y="97"/>
                      <a:pt x="1302" y="95"/>
                      <a:pt x="1784" y="31"/>
                    </a:cubicBezTo>
                    <a:cubicBezTo>
                      <a:pt x="2266" y="-34"/>
                      <a:pt x="2447" y="33"/>
                      <a:pt x="3086" y="31"/>
                    </a:cubicBezTo>
                    <a:cubicBezTo>
                      <a:pt x="3726" y="29"/>
                      <a:pt x="4933" y="61"/>
                      <a:pt x="5458" y="31"/>
                    </a:cubicBezTo>
                    <a:cubicBezTo>
                      <a:pt x="5984" y="0"/>
                      <a:pt x="6833" y="45"/>
                      <a:pt x="7189" y="31"/>
                    </a:cubicBezTo>
                    <a:cubicBezTo>
                      <a:pt x="7544" y="16"/>
                      <a:pt x="8314" y="-30"/>
                      <a:pt x="8919" y="31"/>
                    </a:cubicBezTo>
                    <a:cubicBezTo>
                      <a:pt x="9524" y="92"/>
                      <a:pt x="10434" y="-58"/>
                      <a:pt x="11291" y="31"/>
                    </a:cubicBezTo>
                    <a:cubicBezTo>
                      <a:pt x="12149" y="119"/>
                      <a:pt x="12221" y="35"/>
                      <a:pt x="12808" y="31"/>
                    </a:cubicBezTo>
                    <a:cubicBezTo>
                      <a:pt x="13394" y="26"/>
                      <a:pt x="14112" y="71"/>
                      <a:pt x="15180" y="31"/>
                    </a:cubicBezTo>
                    <a:cubicBezTo>
                      <a:pt x="16248" y="-10"/>
                      <a:pt x="16841" y="20"/>
                      <a:pt x="17552" y="31"/>
                    </a:cubicBezTo>
                    <a:cubicBezTo>
                      <a:pt x="18263" y="41"/>
                      <a:pt x="19031" y="-24"/>
                      <a:pt x="19496" y="31"/>
                    </a:cubicBezTo>
                    <a:cubicBezTo>
                      <a:pt x="19962" y="85"/>
                      <a:pt x="20676" y="92"/>
                      <a:pt x="21440" y="31"/>
                    </a:cubicBezTo>
                    <a:cubicBezTo>
                      <a:pt x="21458" y="623"/>
                      <a:pt x="21354" y="1055"/>
                      <a:pt x="21440" y="1763"/>
                    </a:cubicBezTo>
                    <a:cubicBezTo>
                      <a:pt x="21527" y="2471"/>
                      <a:pt x="21434" y="2599"/>
                      <a:pt x="21440" y="3067"/>
                    </a:cubicBezTo>
                    <a:cubicBezTo>
                      <a:pt x="21447" y="3535"/>
                      <a:pt x="21411" y="4258"/>
                      <a:pt x="21440" y="5013"/>
                    </a:cubicBezTo>
                    <a:cubicBezTo>
                      <a:pt x="21470" y="5767"/>
                      <a:pt x="21385" y="6136"/>
                      <a:pt x="21440" y="6959"/>
                    </a:cubicBezTo>
                    <a:cubicBezTo>
                      <a:pt x="21496" y="7782"/>
                      <a:pt x="21469" y="8275"/>
                      <a:pt x="21440" y="8905"/>
                    </a:cubicBezTo>
                    <a:cubicBezTo>
                      <a:pt x="21412" y="9535"/>
                      <a:pt x="21397" y="10422"/>
                      <a:pt x="21440" y="11065"/>
                    </a:cubicBezTo>
                    <a:cubicBezTo>
                      <a:pt x="21484" y="11708"/>
                      <a:pt x="21503" y="12309"/>
                      <a:pt x="21440" y="13225"/>
                    </a:cubicBezTo>
                    <a:cubicBezTo>
                      <a:pt x="21378" y="14141"/>
                      <a:pt x="21334" y="14310"/>
                      <a:pt x="21440" y="15385"/>
                    </a:cubicBezTo>
                    <a:cubicBezTo>
                      <a:pt x="21547" y="16460"/>
                      <a:pt x="21441" y="16261"/>
                      <a:pt x="21440" y="16689"/>
                    </a:cubicBezTo>
                    <a:cubicBezTo>
                      <a:pt x="21440" y="17117"/>
                      <a:pt x="21399" y="17724"/>
                      <a:pt x="21440" y="18207"/>
                    </a:cubicBezTo>
                    <a:cubicBezTo>
                      <a:pt x="21482" y="18689"/>
                      <a:pt x="21521" y="19893"/>
                      <a:pt x="21440" y="21437"/>
                    </a:cubicBezTo>
                    <a:cubicBezTo>
                      <a:pt x="21059" y="21419"/>
                      <a:pt x="20529" y="21383"/>
                      <a:pt x="19710" y="21437"/>
                    </a:cubicBezTo>
                    <a:cubicBezTo>
                      <a:pt x="18891" y="21492"/>
                      <a:pt x="18254" y="21487"/>
                      <a:pt x="17766" y="21437"/>
                    </a:cubicBezTo>
                    <a:cubicBezTo>
                      <a:pt x="17277" y="21387"/>
                      <a:pt x="16821" y="21499"/>
                      <a:pt x="16463" y="21437"/>
                    </a:cubicBezTo>
                    <a:cubicBezTo>
                      <a:pt x="16105" y="21376"/>
                      <a:pt x="15599" y="21441"/>
                      <a:pt x="15160" y="21437"/>
                    </a:cubicBezTo>
                    <a:cubicBezTo>
                      <a:pt x="14722" y="21434"/>
                      <a:pt x="14040" y="21430"/>
                      <a:pt x="13216" y="21437"/>
                    </a:cubicBezTo>
                    <a:cubicBezTo>
                      <a:pt x="12392" y="21444"/>
                      <a:pt x="12035" y="21479"/>
                      <a:pt x="11700" y="21437"/>
                    </a:cubicBezTo>
                    <a:cubicBezTo>
                      <a:pt x="11364" y="21396"/>
                      <a:pt x="10480" y="21450"/>
                      <a:pt x="9541" y="21437"/>
                    </a:cubicBezTo>
                    <a:cubicBezTo>
                      <a:pt x="8602" y="21425"/>
                      <a:pt x="8447" y="21422"/>
                      <a:pt x="8025" y="21437"/>
                    </a:cubicBezTo>
                    <a:cubicBezTo>
                      <a:pt x="7602" y="21453"/>
                      <a:pt x="6619" y="21333"/>
                      <a:pt x="5867" y="21437"/>
                    </a:cubicBezTo>
                    <a:cubicBezTo>
                      <a:pt x="5115" y="21542"/>
                      <a:pt x="5089" y="21452"/>
                      <a:pt x="4564" y="21437"/>
                    </a:cubicBezTo>
                    <a:cubicBezTo>
                      <a:pt x="4039" y="21423"/>
                      <a:pt x="2859" y="21541"/>
                      <a:pt x="2406" y="21437"/>
                    </a:cubicBezTo>
                    <a:cubicBezTo>
                      <a:pt x="1953" y="21334"/>
                      <a:pt x="604" y="21432"/>
                      <a:pt x="53" y="21437"/>
                    </a:cubicBezTo>
                    <a:cubicBezTo>
                      <a:pt x="106" y="20923"/>
                      <a:pt x="112" y="20560"/>
                      <a:pt x="53" y="20134"/>
                    </a:cubicBezTo>
                    <a:cubicBezTo>
                      <a:pt x="-5" y="19707"/>
                      <a:pt x="-30" y="19043"/>
                      <a:pt x="53" y="18402"/>
                    </a:cubicBezTo>
                    <a:cubicBezTo>
                      <a:pt x="136" y="17760"/>
                      <a:pt x="157" y="16858"/>
                      <a:pt x="53" y="16027"/>
                    </a:cubicBezTo>
                    <a:cubicBezTo>
                      <a:pt x="-51" y="15196"/>
                      <a:pt x="121" y="15079"/>
                      <a:pt x="53" y="14509"/>
                    </a:cubicBezTo>
                    <a:cubicBezTo>
                      <a:pt x="-14" y="13940"/>
                      <a:pt x="25" y="13783"/>
                      <a:pt x="53" y="13206"/>
                    </a:cubicBezTo>
                    <a:cubicBezTo>
                      <a:pt x="81" y="12628"/>
                      <a:pt x="90" y="12222"/>
                      <a:pt x="53" y="11902"/>
                    </a:cubicBezTo>
                    <a:cubicBezTo>
                      <a:pt x="17" y="11581"/>
                      <a:pt x="47" y="10240"/>
                      <a:pt x="53" y="9742"/>
                    </a:cubicBezTo>
                    <a:cubicBezTo>
                      <a:pt x="60" y="9243"/>
                      <a:pt x="36" y="8963"/>
                      <a:pt x="53" y="8438"/>
                    </a:cubicBezTo>
                    <a:cubicBezTo>
                      <a:pt x="70" y="7912"/>
                      <a:pt x="-34" y="6906"/>
                      <a:pt x="53" y="6492"/>
                    </a:cubicBezTo>
                    <a:cubicBezTo>
                      <a:pt x="140" y="6077"/>
                      <a:pt x="46" y="5326"/>
                      <a:pt x="53" y="4974"/>
                    </a:cubicBezTo>
                    <a:cubicBezTo>
                      <a:pt x="61" y="4621"/>
                      <a:pt x="38" y="3703"/>
                      <a:pt x="53" y="3028"/>
                    </a:cubicBezTo>
                    <a:cubicBezTo>
                      <a:pt x="69" y="2352"/>
                      <a:pt x="-53" y="922"/>
                      <a:pt x="53" y="31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431" name="Group 43"/>
            <p:cNvGrpSpPr/>
            <p:nvPr/>
          </p:nvGrpSpPr>
          <p:grpSpPr>
            <a:xfrm>
              <a:off x="3105342" y="3070717"/>
              <a:ext cx="4005866" cy="1594540"/>
              <a:chOff x="0" y="0"/>
              <a:chExt cx="4005864" cy="1594539"/>
            </a:xfrm>
          </p:grpSpPr>
          <p:sp>
            <p:nvSpPr>
              <p:cNvPr id="428" name="Rectangle 2"/>
              <p:cNvSpPr/>
              <p:nvPr/>
            </p:nvSpPr>
            <p:spPr>
              <a:xfrm>
                <a:off x="0" y="40382"/>
                <a:ext cx="4003023" cy="15541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9" h="21324" fill="norm" stroke="1" extrusionOk="0">
                    <a:moveTo>
                      <a:pt x="52" y="128"/>
                    </a:moveTo>
                    <a:cubicBezTo>
                      <a:pt x="686" y="189"/>
                      <a:pt x="1311" y="-176"/>
                      <a:pt x="1981" y="128"/>
                    </a:cubicBezTo>
                    <a:cubicBezTo>
                      <a:pt x="2651" y="433"/>
                      <a:pt x="3152" y="353"/>
                      <a:pt x="3481" y="128"/>
                    </a:cubicBezTo>
                    <a:cubicBezTo>
                      <a:pt x="3809" y="-96"/>
                      <a:pt x="4799" y="423"/>
                      <a:pt x="6052" y="128"/>
                    </a:cubicBezTo>
                    <a:cubicBezTo>
                      <a:pt x="7305" y="-166"/>
                      <a:pt x="7346" y="239"/>
                      <a:pt x="7981" y="128"/>
                    </a:cubicBezTo>
                    <a:cubicBezTo>
                      <a:pt x="8615" y="18"/>
                      <a:pt x="9153" y="-11"/>
                      <a:pt x="9909" y="128"/>
                    </a:cubicBezTo>
                    <a:cubicBezTo>
                      <a:pt x="10665" y="268"/>
                      <a:pt x="11479" y="282"/>
                      <a:pt x="12480" y="128"/>
                    </a:cubicBezTo>
                    <a:cubicBezTo>
                      <a:pt x="13482" y="-25"/>
                      <a:pt x="13747" y="362"/>
                      <a:pt x="14195" y="128"/>
                    </a:cubicBezTo>
                    <a:cubicBezTo>
                      <a:pt x="14642" y="-105"/>
                      <a:pt x="16007" y="281"/>
                      <a:pt x="16766" y="128"/>
                    </a:cubicBezTo>
                    <a:cubicBezTo>
                      <a:pt x="17525" y="-24"/>
                      <a:pt x="18070" y="197"/>
                      <a:pt x="19337" y="128"/>
                    </a:cubicBezTo>
                    <a:cubicBezTo>
                      <a:pt x="20605" y="60"/>
                      <a:pt x="20463" y="-123"/>
                      <a:pt x="21480" y="128"/>
                    </a:cubicBezTo>
                    <a:cubicBezTo>
                      <a:pt x="21519" y="3504"/>
                      <a:pt x="21520" y="5518"/>
                      <a:pt x="21480" y="7574"/>
                    </a:cubicBezTo>
                    <a:cubicBezTo>
                      <a:pt x="21441" y="9630"/>
                      <a:pt x="21394" y="12321"/>
                      <a:pt x="21480" y="14809"/>
                    </a:cubicBezTo>
                    <a:cubicBezTo>
                      <a:pt x="21566" y="17297"/>
                      <a:pt x="21523" y="19895"/>
                      <a:pt x="21480" y="21201"/>
                    </a:cubicBezTo>
                    <a:cubicBezTo>
                      <a:pt x="20987" y="21326"/>
                      <a:pt x="20111" y="21320"/>
                      <a:pt x="19337" y="21201"/>
                    </a:cubicBezTo>
                    <a:cubicBezTo>
                      <a:pt x="18564" y="21081"/>
                      <a:pt x="18116" y="21123"/>
                      <a:pt x="17623" y="21201"/>
                    </a:cubicBezTo>
                    <a:cubicBezTo>
                      <a:pt x="17131" y="21278"/>
                      <a:pt x="15980" y="21008"/>
                      <a:pt x="15480" y="21201"/>
                    </a:cubicBezTo>
                    <a:cubicBezTo>
                      <a:pt x="14980" y="21393"/>
                      <a:pt x="13762" y="21002"/>
                      <a:pt x="12909" y="21201"/>
                    </a:cubicBezTo>
                    <a:cubicBezTo>
                      <a:pt x="12056" y="21399"/>
                      <a:pt x="11283" y="21014"/>
                      <a:pt x="10766" y="21201"/>
                    </a:cubicBezTo>
                    <a:cubicBezTo>
                      <a:pt x="10250" y="21387"/>
                      <a:pt x="9963" y="21074"/>
                      <a:pt x="9266" y="21201"/>
                    </a:cubicBezTo>
                    <a:cubicBezTo>
                      <a:pt x="8569" y="21327"/>
                      <a:pt x="8233" y="21144"/>
                      <a:pt x="7552" y="21201"/>
                    </a:cubicBezTo>
                    <a:cubicBezTo>
                      <a:pt x="6871" y="21258"/>
                      <a:pt x="5903" y="21109"/>
                      <a:pt x="4981" y="21201"/>
                    </a:cubicBezTo>
                    <a:cubicBezTo>
                      <a:pt x="4058" y="21292"/>
                      <a:pt x="3537" y="21424"/>
                      <a:pt x="2838" y="21201"/>
                    </a:cubicBezTo>
                    <a:cubicBezTo>
                      <a:pt x="2139" y="20978"/>
                      <a:pt x="890" y="21294"/>
                      <a:pt x="52" y="21201"/>
                    </a:cubicBezTo>
                    <a:cubicBezTo>
                      <a:pt x="-34" y="19084"/>
                      <a:pt x="2" y="16536"/>
                      <a:pt x="52" y="14177"/>
                    </a:cubicBezTo>
                    <a:cubicBezTo>
                      <a:pt x="102" y="11817"/>
                      <a:pt x="70" y="10520"/>
                      <a:pt x="52" y="7785"/>
                    </a:cubicBezTo>
                    <a:cubicBezTo>
                      <a:pt x="35" y="5049"/>
                      <a:pt x="120" y="2341"/>
                      <a:pt x="52" y="12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200">
                    <a:solidFill>
                      <a:srgbClr val="A6A6A6"/>
                    </a:solidFill>
                  </a:defRPr>
                </a:pPr>
              </a:p>
            </p:txBody>
          </p:sp>
          <p:sp>
            <p:nvSpPr>
              <p:cNvPr id="429" name="Straight Connector 25"/>
              <p:cNvSpPr/>
              <p:nvPr/>
            </p:nvSpPr>
            <p:spPr>
              <a:xfrm flipH="1">
                <a:off x="9646" y="302250"/>
                <a:ext cx="3996219" cy="144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30" name="TextBox 30"/>
              <p:cNvSpPr txBox="1"/>
              <p:nvPr/>
            </p:nvSpPr>
            <p:spPr>
              <a:xfrm>
                <a:off x="554187" y="0"/>
                <a:ext cx="919557" cy="326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Terminal</a:t>
                </a:r>
              </a:p>
            </p:txBody>
          </p:sp>
        </p:grpSp>
        <p:grpSp>
          <p:nvGrpSpPr>
            <p:cNvPr id="434" name="Group 13"/>
            <p:cNvGrpSpPr/>
            <p:nvPr/>
          </p:nvGrpSpPr>
          <p:grpSpPr>
            <a:xfrm>
              <a:off x="77173" y="3138708"/>
              <a:ext cx="1579883" cy="509400"/>
              <a:chOff x="0" y="0"/>
              <a:chExt cx="1579881" cy="509398"/>
            </a:xfrm>
          </p:grpSpPr>
          <p:sp>
            <p:nvSpPr>
              <p:cNvPr id="432" name="TextBox 14"/>
              <p:cNvSpPr txBox="1"/>
              <p:nvPr/>
            </p:nvSpPr>
            <p:spPr>
              <a:xfrm>
                <a:off x="0" y="0"/>
                <a:ext cx="718106" cy="509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400"/>
                </a:pPr>
                <a:r>
                  <a:t>Program</a:t>
                </a:r>
              </a:p>
              <a:p>
                <a:pPr>
                  <a:defRPr sz="1400"/>
                </a:pPr>
                <a:r>
                  <a:t>Counter</a:t>
                </a:r>
              </a:p>
            </p:txBody>
          </p:sp>
          <p:sp>
            <p:nvSpPr>
              <p:cNvPr id="433" name="Rectangle 16"/>
              <p:cNvSpPr/>
              <p:nvPr/>
            </p:nvSpPr>
            <p:spPr>
              <a:xfrm>
                <a:off x="723096" y="103760"/>
                <a:ext cx="856786" cy="320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435" name="Rectangle 37"/>
            <p:cNvSpPr/>
            <p:nvPr/>
          </p:nvSpPr>
          <p:spPr>
            <a:xfrm>
              <a:off x="8521" y="3131236"/>
              <a:ext cx="3025643" cy="154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29" fill="norm" stroke="1" extrusionOk="0">
                  <a:moveTo>
                    <a:pt x="93" y="147"/>
                  </a:moveTo>
                  <a:cubicBezTo>
                    <a:pt x="1527" y="156"/>
                    <a:pt x="2742" y="-188"/>
                    <a:pt x="4144" y="147"/>
                  </a:cubicBezTo>
                  <a:cubicBezTo>
                    <a:pt x="5546" y="482"/>
                    <a:pt x="6786" y="220"/>
                    <a:pt x="7768" y="147"/>
                  </a:cubicBezTo>
                  <a:cubicBezTo>
                    <a:pt x="8751" y="75"/>
                    <a:pt x="11208" y="173"/>
                    <a:pt x="12459" y="147"/>
                  </a:cubicBezTo>
                  <a:cubicBezTo>
                    <a:pt x="13710" y="121"/>
                    <a:pt x="14966" y="-109"/>
                    <a:pt x="16510" y="147"/>
                  </a:cubicBezTo>
                  <a:cubicBezTo>
                    <a:pt x="18054" y="403"/>
                    <a:pt x="19766" y="-280"/>
                    <a:pt x="21414" y="147"/>
                  </a:cubicBezTo>
                  <a:cubicBezTo>
                    <a:pt x="21354" y="3318"/>
                    <a:pt x="21384" y="4316"/>
                    <a:pt x="21414" y="7523"/>
                  </a:cubicBezTo>
                  <a:cubicBezTo>
                    <a:pt x="21444" y="10729"/>
                    <a:pt x="21419" y="12620"/>
                    <a:pt x="21414" y="14481"/>
                  </a:cubicBezTo>
                  <a:cubicBezTo>
                    <a:pt x="21409" y="16341"/>
                    <a:pt x="21522" y="17780"/>
                    <a:pt x="21414" y="21021"/>
                  </a:cubicBezTo>
                  <a:cubicBezTo>
                    <a:pt x="20240" y="21193"/>
                    <a:pt x="18564" y="21099"/>
                    <a:pt x="17576" y="21021"/>
                  </a:cubicBezTo>
                  <a:cubicBezTo>
                    <a:pt x="16588" y="20944"/>
                    <a:pt x="14967" y="20968"/>
                    <a:pt x="13312" y="21021"/>
                  </a:cubicBezTo>
                  <a:cubicBezTo>
                    <a:pt x="11657" y="21075"/>
                    <a:pt x="10619" y="20797"/>
                    <a:pt x="9048" y="21021"/>
                  </a:cubicBezTo>
                  <a:cubicBezTo>
                    <a:pt x="7477" y="21246"/>
                    <a:pt x="6607" y="20723"/>
                    <a:pt x="4997" y="21021"/>
                  </a:cubicBezTo>
                  <a:cubicBezTo>
                    <a:pt x="3387" y="21320"/>
                    <a:pt x="2263" y="21277"/>
                    <a:pt x="93" y="21021"/>
                  </a:cubicBezTo>
                  <a:cubicBezTo>
                    <a:pt x="19" y="19440"/>
                    <a:pt x="-73" y="16863"/>
                    <a:pt x="93" y="13646"/>
                  </a:cubicBezTo>
                  <a:cubicBezTo>
                    <a:pt x="259" y="10429"/>
                    <a:pt x="264" y="7833"/>
                    <a:pt x="93" y="6270"/>
                  </a:cubicBezTo>
                  <a:cubicBezTo>
                    <a:pt x="-78" y="4708"/>
                    <a:pt x="221" y="3023"/>
                    <a:pt x="93" y="147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436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0455" y="3184682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7" name="TextBox 10"/>
            <p:cNvSpPr txBox="1"/>
            <p:nvPr/>
          </p:nvSpPr>
          <p:spPr>
            <a:xfrm>
              <a:off x="6144951" y="0"/>
              <a:ext cx="83474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Memory</a:t>
              </a:r>
            </a:p>
          </p:txBody>
        </p:sp>
      </p:grpSp>
      <p:sp>
        <p:nvSpPr>
          <p:cNvPr id="439" name="Straight Connector 40"/>
          <p:cNvSpPr/>
          <p:nvPr/>
        </p:nvSpPr>
        <p:spPr>
          <a:xfrm flipV="1">
            <a:off x="3409307" y="3929007"/>
            <a:ext cx="1" cy="190858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42" name="Group 19"/>
          <p:cNvGrpSpPr/>
          <p:nvPr/>
        </p:nvGrpSpPr>
        <p:grpSpPr>
          <a:xfrm>
            <a:off x="945026" y="3857168"/>
            <a:ext cx="2235076" cy="280800"/>
            <a:chOff x="0" y="0"/>
            <a:chExt cx="2235074" cy="280798"/>
          </a:xfrm>
        </p:grpSpPr>
        <p:sp>
          <p:nvSpPr>
            <p:cNvPr id="440" name="TextBox 21"/>
            <p:cNvSpPr txBox="1"/>
            <p:nvPr/>
          </p:nvSpPr>
          <p:spPr>
            <a:xfrm>
              <a:off x="0" y="0"/>
              <a:ext cx="816469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/>
              </a:lvl1pPr>
            </a:lstStyle>
            <a:p>
              <a:pPr/>
              <a:r>
                <a:t>Register 0</a:t>
              </a:r>
            </a:p>
          </p:txBody>
        </p:sp>
        <p:sp>
          <p:nvSpPr>
            <p:cNvPr id="441" name="Rectangle 22"/>
            <p:cNvSpPr/>
            <p:nvPr/>
          </p:nvSpPr>
          <p:spPr>
            <a:xfrm>
              <a:off x="861767" y="26628"/>
              <a:ext cx="1373308" cy="24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0332" fill="norm" stroke="1" extrusionOk="0">
                  <a:moveTo>
                    <a:pt x="31" y="364"/>
                  </a:moveTo>
                  <a:cubicBezTo>
                    <a:pt x="2762" y="1659"/>
                    <a:pt x="4299" y="-408"/>
                    <a:pt x="6965" y="364"/>
                  </a:cubicBezTo>
                  <a:cubicBezTo>
                    <a:pt x="9630" y="1136"/>
                    <a:pt x="11326" y="-756"/>
                    <a:pt x="13470" y="364"/>
                  </a:cubicBezTo>
                  <a:cubicBezTo>
                    <a:pt x="15613" y="1484"/>
                    <a:pt x="19369" y="1304"/>
                    <a:pt x="21476" y="364"/>
                  </a:cubicBezTo>
                  <a:cubicBezTo>
                    <a:pt x="21549" y="8786"/>
                    <a:pt x="21420" y="12756"/>
                    <a:pt x="21476" y="19711"/>
                  </a:cubicBezTo>
                  <a:cubicBezTo>
                    <a:pt x="19782" y="20844"/>
                    <a:pt x="16772" y="20167"/>
                    <a:pt x="14757" y="19711"/>
                  </a:cubicBezTo>
                  <a:cubicBezTo>
                    <a:pt x="12742" y="19256"/>
                    <a:pt x="10818" y="20654"/>
                    <a:pt x="7179" y="19711"/>
                  </a:cubicBezTo>
                  <a:cubicBezTo>
                    <a:pt x="3541" y="18768"/>
                    <a:pt x="2819" y="20729"/>
                    <a:pt x="31" y="19711"/>
                  </a:cubicBezTo>
                  <a:cubicBezTo>
                    <a:pt x="-51" y="11606"/>
                    <a:pt x="57" y="5355"/>
                    <a:pt x="31" y="36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443" name="TextBox 33"/>
          <p:cNvSpPr txBox="1"/>
          <p:nvPr/>
        </p:nvSpPr>
        <p:spPr>
          <a:xfrm>
            <a:off x="953735" y="4167485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1</a:t>
            </a:r>
          </a:p>
        </p:txBody>
      </p:sp>
      <p:sp>
        <p:nvSpPr>
          <p:cNvPr id="444" name="Rectangle 38"/>
          <p:cNvSpPr/>
          <p:nvPr/>
        </p:nvSpPr>
        <p:spPr>
          <a:xfrm>
            <a:off x="1808011" y="4196793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445" name="TextBox 39"/>
          <p:cNvSpPr txBox="1"/>
          <p:nvPr/>
        </p:nvSpPr>
        <p:spPr>
          <a:xfrm>
            <a:off x="950384" y="4497118"/>
            <a:ext cx="81647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Register 2</a:t>
            </a:r>
          </a:p>
        </p:txBody>
      </p:sp>
      <p:sp>
        <p:nvSpPr>
          <p:cNvPr id="446" name="Rectangle 42"/>
          <p:cNvSpPr/>
          <p:nvPr/>
        </p:nvSpPr>
        <p:spPr>
          <a:xfrm>
            <a:off x="1795951" y="4517718"/>
            <a:ext cx="1370761" cy="265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0012" fill="norm" stroke="1" extrusionOk="0">
                <a:moveTo>
                  <a:pt x="12" y="791"/>
                </a:moveTo>
                <a:cubicBezTo>
                  <a:pt x="3241" y="407"/>
                  <a:pt x="7659" y="781"/>
                  <a:pt x="10557" y="791"/>
                </a:cubicBezTo>
                <a:cubicBezTo>
                  <a:pt x="13455" y="800"/>
                  <a:pt x="16772" y="-994"/>
                  <a:pt x="21533" y="791"/>
                </a:cubicBezTo>
                <a:cubicBezTo>
                  <a:pt x="21557" y="8082"/>
                  <a:pt x="21370" y="11661"/>
                  <a:pt x="21533" y="18637"/>
                </a:cubicBezTo>
                <a:cubicBezTo>
                  <a:pt x="16322" y="19573"/>
                  <a:pt x="13444" y="16668"/>
                  <a:pt x="10772" y="18637"/>
                </a:cubicBezTo>
                <a:cubicBezTo>
                  <a:pt x="8100" y="20606"/>
                  <a:pt x="3639" y="20327"/>
                  <a:pt x="12" y="18637"/>
                </a:cubicBezTo>
                <a:cubicBezTo>
                  <a:pt x="-43" y="13404"/>
                  <a:pt x="111" y="8672"/>
                  <a:pt x="12" y="791"/>
                </a:cubicBezTo>
                <a:close/>
              </a:path>
            </a:pathLst>
          </a:custGeom>
          <a:ln w="254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447" name="TextBox 45"/>
          <p:cNvSpPr txBox="1"/>
          <p:nvPr/>
        </p:nvSpPr>
        <p:spPr>
          <a:xfrm>
            <a:off x="2301484" y="788966"/>
            <a:ext cx="4567398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1600">
                <a:solidFill>
                  <a:schemeClr val="accent3"/>
                </a:solidFill>
              </a:defRPr>
            </a:pPr>
            <a:r>
              <a:t>open_window(“Random Color", 800, 600);</a:t>
            </a:r>
          </a:p>
          <a:p>
            <a:pPr marL="342900" indent="-342900">
              <a:buSzPct val="100000"/>
              <a:buAutoNum type="arabicPeriod" startAt="1"/>
              <a:defRPr sz="1600"/>
            </a:pPr>
            <a:r>
              <a:t>clear_screen(random_color());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chemeClr val="accent3"/>
                </a:solidFill>
              </a:defRPr>
            </a:pPr>
            <a:r>
              <a:t>refresh_screen();</a:t>
            </a:r>
          </a:p>
          <a:p>
            <a:pPr marL="342900" indent="-342900">
              <a:buSzPct val="100000"/>
              <a:buAutoNum type="arabicPeriod" startAt="1"/>
              <a:defRPr sz="1600">
                <a:solidFill>
                  <a:schemeClr val="accent3"/>
                </a:solidFill>
              </a:defRPr>
            </a:pPr>
            <a:r>
              <a:t>delay(1000 * rnd(10));</a:t>
            </a:r>
          </a:p>
        </p:txBody>
      </p:sp>
      <p:sp>
        <p:nvSpPr>
          <p:cNvPr id="448" name="TextBox 46"/>
          <p:cNvSpPr txBox="1"/>
          <p:nvPr/>
        </p:nvSpPr>
        <p:spPr>
          <a:xfrm>
            <a:off x="3336228" y="3571576"/>
            <a:ext cx="127739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./screen-test</a:t>
            </a:r>
          </a:p>
        </p:txBody>
      </p:sp>
      <p:sp>
        <p:nvSpPr>
          <p:cNvPr id="449" name="Straight Arrow Connector 55"/>
          <p:cNvSpPr/>
          <p:nvPr/>
        </p:nvSpPr>
        <p:spPr>
          <a:xfrm flipH="1" flipV="1" rot="5400000">
            <a:off x="762260" y="1894397"/>
            <a:ext cx="2253095" cy="891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462" y="21600"/>
                </a:lnTo>
              </a:path>
            </a:pathLst>
          </a:custGeom>
          <a:ln w="19050" cap="rnd">
            <a:solidFill>
              <a:srgbClr val="000000"/>
            </a:solidFill>
            <a:prstDash val="dash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50" name="TextBox 50"/>
          <p:cNvSpPr txBox="1"/>
          <p:nvPr/>
        </p:nvSpPr>
        <p:spPr>
          <a:xfrm>
            <a:off x="1073516" y="3427238"/>
            <a:ext cx="7451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51" name="TextBox 52"/>
          <p:cNvSpPr txBox="1"/>
          <p:nvPr/>
        </p:nvSpPr>
        <p:spPr>
          <a:xfrm>
            <a:off x="3575604" y="571761"/>
            <a:ext cx="30264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A6A6A6"/>
                </a:solidFill>
              </a:defRPr>
            </a:lvl1pPr>
          </a:lstStyle>
          <a:p>
            <a:pPr/>
            <a:r>
              <a:t>d            a                  b     c</a:t>
            </a:r>
          </a:p>
        </p:txBody>
      </p:sp>
      <p:sp>
        <p:nvSpPr>
          <p:cNvPr id="452" name="TextBox 6"/>
          <p:cNvSpPr txBox="1"/>
          <p:nvPr/>
        </p:nvSpPr>
        <p:spPr>
          <a:xfrm>
            <a:off x="1846655" y="3853062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"Random Color"</a:t>
            </a:r>
          </a:p>
        </p:txBody>
      </p:sp>
      <p:sp>
        <p:nvSpPr>
          <p:cNvPr id="453" name="TextBox 5"/>
          <p:cNvSpPr txBox="1"/>
          <p:nvPr/>
        </p:nvSpPr>
        <p:spPr>
          <a:xfrm>
            <a:off x="1853917" y="4169733"/>
            <a:ext cx="128625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800</a:t>
            </a:r>
          </a:p>
        </p:txBody>
      </p:sp>
      <p:sp>
        <p:nvSpPr>
          <p:cNvPr id="454" name="TextBox 7"/>
          <p:cNvSpPr txBox="1"/>
          <p:nvPr/>
        </p:nvSpPr>
        <p:spPr>
          <a:xfrm>
            <a:off x="1846655" y="4496399"/>
            <a:ext cx="1286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600</a:t>
            </a:r>
          </a:p>
        </p:txBody>
      </p:sp>
      <p:sp>
        <p:nvSpPr>
          <p:cNvPr id="455" name="TextBox 9"/>
          <p:cNvSpPr txBox="1"/>
          <p:nvPr/>
        </p:nvSpPr>
        <p:spPr>
          <a:xfrm>
            <a:off x="2297185" y="1925308"/>
            <a:ext cx="4740023" cy="13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 Open Window First Instruction …</a:t>
            </a:r>
          </a:p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 Open Window Second Instruction …</a:t>
            </a:r>
          </a:p>
          <a:p>
            <a:pPr marL="342900" indent="-342900">
              <a:buSzPct val="100000"/>
              <a:buAutoNum type="arabicPeriod" startAt="127"/>
              <a:defRPr sz="1600">
                <a:solidFill>
                  <a:srgbClr val="A6A6A6"/>
                </a:solidFill>
              </a:defRPr>
            </a:pPr>
            <a:r>
              <a:t> …</a:t>
            </a:r>
          </a:p>
          <a:p>
            <a:pPr>
              <a:defRPr sz="1600">
                <a:solidFill>
                  <a:srgbClr val="A6A6A6"/>
                </a:solidFill>
              </a:defRPr>
            </a:pPr>
            <a:r>
              <a:t>…</a:t>
            </a:r>
          </a:p>
          <a:p>
            <a:pPr>
              <a:defRPr sz="1600">
                <a:solidFill>
                  <a:srgbClr val="A6A6A6"/>
                </a:solidFill>
              </a:defRPr>
            </a:pPr>
            <a:r>
              <a:t>197.   … Open Windows Returns</a:t>
            </a:r>
          </a:p>
        </p:txBody>
      </p:sp>
      <p:sp>
        <p:nvSpPr>
          <p:cNvPr id="456" name="Rectangle 34"/>
          <p:cNvSpPr/>
          <p:nvPr/>
        </p:nvSpPr>
        <p:spPr>
          <a:xfrm>
            <a:off x="4857013" y="3238165"/>
            <a:ext cx="2656395" cy="299910"/>
          </a:xfrm>
          <a:prstGeom prst="rect">
            <a:avLst/>
          </a:prstGeom>
          <a:solidFill>
            <a:srgbClr val="FFE699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61" name="Group 3"/>
          <p:cNvGrpSpPr/>
          <p:nvPr/>
        </p:nvGrpSpPr>
        <p:grpSpPr>
          <a:xfrm>
            <a:off x="4831747" y="3192538"/>
            <a:ext cx="2687702" cy="1813135"/>
            <a:chOff x="0" y="0"/>
            <a:chExt cx="2687701" cy="1813134"/>
          </a:xfrm>
        </p:grpSpPr>
        <p:sp>
          <p:nvSpPr>
            <p:cNvPr id="457" name="Rectangle 28"/>
            <p:cNvSpPr/>
            <p:nvPr/>
          </p:nvSpPr>
          <p:spPr>
            <a:xfrm>
              <a:off x="0" y="35117"/>
              <a:ext cx="2687702" cy="1778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0" h="21224" fill="norm" stroke="1" extrusionOk="0">
                  <a:moveTo>
                    <a:pt x="68" y="200"/>
                  </a:moveTo>
                  <a:cubicBezTo>
                    <a:pt x="1358" y="547"/>
                    <a:pt x="3121" y="260"/>
                    <a:pt x="5173" y="200"/>
                  </a:cubicBezTo>
                  <a:cubicBezTo>
                    <a:pt x="7226" y="140"/>
                    <a:pt x="8752" y="321"/>
                    <a:pt x="9853" y="200"/>
                  </a:cubicBezTo>
                  <a:cubicBezTo>
                    <a:pt x="10955" y="79"/>
                    <a:pt x="14130" y="598"/>
                    <a:pt x="15597" y="200"/>
                  </a:cubicBezTo>
                  <a:cubicBezTo>
                    <a:pt x="17064" y="-198"/>
                    <a:pt x="18621" y="105"/>
                    <a:pt x="21341" y="200"/>
                  </a:cubicBezTo>
                  <a:cubicBezTo>
                    <a:pt x="21341" y="1592"/>
                    <a:pt x="21287" y="5394"/>
                    <a:pt x="21341" y="6929"/>
                  </a:cubicBezTo>
                  <a:cubicBezTo>
                    <a:pt x="21395" y="8465"/>
                    <a:pt x="21282" y="11758"/>
                    <a:pt x="21341" y="13451"/>
                  </a:cubicBezTo>
                  <a:cubicBezTo>
                    <a:pt x="21399" y="15143"/>
                    <a:pt x="21507" y="17551"/>
                    <a:pt x="21341" y="21013"/>
                  </a:cubicBezTo>
                  <a:cubicBezTo>
                    <a:pt x="19602" y="20924"/>
                    <a:pt x="18099" y="21224"/>
                    <a:pt x="16023" y="21013"/>
                  </a:cubicBezTo>
                  <a:cubicBezTo>
                    <a:pt x="13946" y="20801"/>
                    <a:pt x="12346" y="20886"/>
                    <a:pt x="11342" y="21013"/>
                  </a:cubicBezTo>
                  <a:cubicBezTo>
                    <a:pt x="10339" y="21140"/>
                    <a:pt x="8157" y="20623"/>
                    <a:pt x="6024" y="21013"/>
                  </a:cubicBezTo>
                  <a:cubicBezTo>
                    <a:pt x="3891" y="21402"/>
                    <a:pt x="2915" y="21162"/>
                    <a:pt x="68" y="21013"/>
                  </a:cubicBezTo>
                  <a:cubicBezTo>
                    <a:pt x="85" y="18728"/>
                    <a:pt x="-93" y="15779"/>
                    <a:pt x="68" y="14283"/>
                  </a:cubicBezTo>
                  <a:cubicBezTo>
                    <a:pt x="228" y="12787"/>
                    <a:pt x="-78" y="10782"/>
                    <a:pt x="68" y="7554"/>
                  </a:cubicBezTo>
                  <a:cubicBezTo>
                    <a:pt x="213" y="4326"/>
                    <a:pt x="225" y="3626"/>
                    <a:pt x="68" y="200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58" name="Straight Connector 29"/>
            <p:cNvSpPr/>
            <p:nvPr/>
          </p:nvSpPr>
          <p:spPr>
            <a:xfrm flipH="1" flipV="1">
              <a:off x="8492" y="351764"/>
              <a:ext cx="266809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9" name="TextBox 32"/>
            <p:cNvSpPr txBox="1"/>
            <p:nvPr/>
          </p:nvSpPr>
          <p:spPr>
            <a:xfrm>
              <a:off x="590887" y="0"/>
              <a:ext cx="1371956" cy="326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Gaegu Regular"/>
                  <a:ea typeface="Gaegu Regular"/>
                  <a:cs typeface="Gaegu Regular"/>
                  <a:sym typeface="Gaegu Regular"/>
                </a:defRPr>
              </a:lvl1pPr>
            </a:lstStyle>
            <a:p>
              <a:pPr/>
              <a:r>
                <a:t>Random Color</a:t>
              </a:r>
            </a:p>
          </p:txBody>
        </p:sp>
        <p:pic>
          <p:nvPicPr>
            <p:cNvPr id="460" name="Picture 31" descr="Picture 3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93840" y="108465"/>
              <a:ext cx="426017" cy="152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62" name="Rectangle 8"/>
          <p:cNvSpPr/>
          <p:nvPr/>
        </p:nvSpPr>
        <p:spPr>
          <a:xfrm>
            <a:off x="4857013" y="3550563"/>
            <a:ext cx="2651324" cy="1437425"/>
          </a:xfrm>
          <a:prstGeom prst="rect">
            <a:avLst/>
          </a:prstGeom>
          <a:solidFill>
            <a:srgbClr val="FFFFFF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2013 - 2022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2013 - 2022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